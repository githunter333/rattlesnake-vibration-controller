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Twelve runs on one linear plant with every other setting held fixed and machine-verified across 23 settings. Six laws, each with the drive-coherence cap on (0.95) and off (1.0). Runs 01-08 are the four closed-loop laws; runs 09-12 added pseudoinverse_control and buzz_control, the two original upstream open-loop laws.
Three findings drive the deck: the coherence cap means opposite things to feedback and open-loop laws; a law with no error feedback finishes within 0.7 dB of the best feedback law; and the plant is rank 5, not 6, which makes part of the specification unreachable by construction.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Lightly damped structure — median zeta 0.83 %, minimum 0.70 % — which is the harder case for control. A better-damped twin exists (sdynpy_frame6x12_system_higherz.npz, identical mass and stiffness, zeta raised to a 3.34 % median); its reachability floor is 4.05 dB against this plant's 4.09, so damping does not change what is reachable — it halves the conditioning.
Left panel: modal damping histogram. Centre: reachability floor per run at the rcond the laws use, against unrestricted over the real rank-5 subspace — they agree, which is the point. Right: median cond(H) per run, scattering by a factor of ten across identical identifications of a deterministic plant. See slide 3 for why that scatter is an artefact.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Computed exactly from the model mass, stiffness and damping matrices. Validated against the measured FRF: magnitude agrees to a median 0.21 dB and sigma1..sigma5 reproduce to a few tenths of a dB. Sigma6 is ~1e-16 analytically — machine round-off on a 36-DOF solve — and 2.4e-3 measured, which is identification noise, not a sixth direction. Numeric rank is 5 in all twelve runs.
Two consequences. First, rcond = 1e-3 is doing the right thing by truncating that direction; an earlier draft of the report claimed 1.6 dB of headroom was being lost to the truncation, which was wrong and has been withdrawn. Second, the sixth drive direction produces no response at these eight locations — worth checking whether that is by construction, because on a real rig it would mean a shaker doing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run used the same plant, sample rate, averaging and system-ID configuration. The MUST_MATCH provenance check exists because of a real failure: an earlier sixteen-run set was scored as one comparison and turned out to span linear, shifted and nonlinear plants with differing update_tf_during_control.
Cap on means max_drive_coherence = 0.95; cap off means 1.0, which is a no-op. Note the cap sits in parameter position 2 for four of the laws but position 5 for the two optimal-diagonal laws — an easy thing to get wrong when reading profiles.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acceptance criteria and they now mostly agree. congruence leads on rms (5.23), opt diag fast on lines-out (10.7 %), opt diagonal on error-against-floor (3.99, with congruence at 3.48 actually lowest — check the bold).
Key rows to point at: 09 versus 10 (pseudoinverse, cap on versus off — 10.47 to 7.01 dB) and 11 versus 12 (buzz, 7.90 to 5.91). Those are slide 6. And run 12 at 5.91 dB sits 0.68 dB behind the best run in the whole matrix despite having no error feedback at all — that is slide 8.
Caveat on run 01: its optimal single rescale is +3.37 dB, which suggests it was saved short of convergence. It is the weakest number in the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operational consequence: for pseudoinverse_control and buzz_control, cap off (1.0) is the CORRECT setting, not the reckless one. This is the reverse of the feedback-law intuition and nothing in the parameter name or the docstring warns of it.
The level offsets tell the same story more starkly than rms: run 09 sat +13.55 dB above spec with the cap on and −1.28 with it off; run 11 went +9.38 to −0.30.
match_trace is the one feedback law that loses a full 1.01 dB to the cap — but removing it costs 50x the drive power (0.12 to 6.02 V^2), so cap on is still the right call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_cap_drive_coherence shrinks each off-diagonal term whose coherence exceeds the cap, preserving every diagonal value, then re-projects onto the PSD cone by clipping negative eigenvalues. Because the diagonal is preserved the drive trace is nearly unchanged — 14.54 V^2 either way in the offline reconstruction — yet the predicted response level jumps 21 dB.
The "shape not level" point is worth making: the optimal single rescale of run 09's entire drive improves it only from 10.47 to 10.17 dB. No gain correction rescues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buzz_control at 5.91 dB / 13.6 % finishes 0.68 dB behind the best run in the matrix and ahead of both match_trace runs — with no error feedback whatsoever.
The reading this supports: on this plant the 5.2-5.9 dB cluster is set by reachability and identification quality, not by loop design.
Cheap experiment worth running: buzz_control with update_tf_during_control = N. That makes the law fully static after cycle one, so the difference against run 12 measures exactly what plant-model adaptation is worth with nothing else varying.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bar is error against what this plant can actually deliver — the law's own contribution. The diamond is total error against the flat specification. These are separate rms figures and do NOT subtract; an earlier analysis in this campaign treated their difference as the reachability limit and was wrong.
Ranked against the floor the ordering changes from the flat-spec ordering: congruence 3.48-3.51, optimal-diagonal family a flat 3.99, buzz 4.20, pseudoinverse 5.48, match_trace 5.78. congruence sits +2.8 dB high in level, which costs it against the specification but not against what was reachable.
The floor itself: for each line, solve over every X &gt;= 0 for the drive whose predicted response diagonal comes closest to the spec, then take the rms of the per-line per-channel dB error over 901 lines x 8 channels.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two directions six shakers cannot independently command. The laws differ mainly in how much drive they are willing to waste trying — congruence gives up soonest and scores best; pseudoinverse spends the most and does worst.
The floor itself has the same shape: its per-channel means are +0.22, +2.14, +0.39, +0.37, +0.24 and +0.39 dB on 7X+ through 12X+, and -1.79 / -2.20 on 13X+ / 14X+. So three channels carry the floor — 8X+ overshooting and this pair undershooting.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flat spec is diagonal — every off-diagonal term zero. Every one of these laws matches the DIAGONAL and lets the cross-structure fall out. It does not fall out small: off-diagonal magnitudes sit within a few dB of the 1e-3 diagonal.
Zero cross-terms is unreachable, not merely hard: H X H^H has rank at most 5 in an 8-dimensional space, while a genuinely diagonal 8x8 CPSD has rank 8. This is a second, independent way the spec sits outside the achievable set.
Run 10 is the control experiment: the only run with substantially independent responses (median 0.245, participation 4.46), bought with 5.38 V^2 — seventy times the optimal-diagonal family — to finish 1.4 dB worse. Decorrelating costs a lot and buys nothing, because nothing in the acceptance criterion looks at it.
If cross-terms matter for a real article, none of these laws gives control over them and no parameter setting changes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open-loop laws are expensive. buzz uncapped uses 1.47 V^2, about twenty times the optimal-diagonal family, for a 0.3 dB worse score.
If drive headroom is the binding constraint rather than control accuracy, match_diagonal_congruence with the cap on wins outright at 0.047 V^2 — and that is the one case where keeping the cap on is clearly right, since it costs congruence only 0.08 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more worth mentioning if asked. Run 01 may have been saved short of convergence — its optimal rescale is +3.37 dB, the only large one-sided offset under an integrating law. And an offline predictor used during the campaign called every ordering correctly and no magnitude within 2 dB, because it freezes the FRF the live laws keep updating.
Also: the profiles carry no warning or abort levels, so the +/-6 dB bands are synthesized from the specification. Putting real tolerances in the profile would make these numbers contractual rather than nominal.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Items 1 and 2 are the ones to argue about. The rank question is not a modelling curiosity: if the sixth shaker is redundant by construction then the rig has a drive channel doing nothing and the problem has always been 8x5.
Set expectations correctly on the higher-damping campaign: it will NOT move the floor. It tests only whether the law spread narrows because identification improves — conditioning over the live directions halves, 68 to 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3740"/>
        </a:solidFill>
      </p:bgPr>
    </p:bg>
    <p:spTree>
      <p:nvGrpSpPr>
        <p:cNvPr id="1" name=""/>
        <p:cNvGrpSpPr/>
        <p:nvPr/>
      </p:nvGrpSpPr>
      <p:grpSpPr>
        <a:xfrm>
          <a:off x="0" y="0"/>
          <a:ext cx="0" cy="0"/>
          <a:chOff x="0" y="0"/>
          <a:chExt cx="0" cy="0"/>
        </a:xfrm>
      </p:grpSpPr>
      <p:sp>
        <p:nvSpPr>
          <p:cNvPr id="2" name="Text 0"/>
          <p:cNvSpPr txBox="1"/>
          <p:nvPr/>
        </p:nvSpPr>
        <p:spPr>
          <a:xfrm>
            <a:off x="548640" y="1828800"/>
            <a:ext cx="11064240" cy="7315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Control-law comparison</a:t>
            </a:r>
            <a:endParaRPr lang="en-US" sz="4400" dirty="0"/>
          </a:p>
        </p:txBody>
      </p:sp>
      <p:sp>
        <p:nvSpPr>
          <p:cNvPr id="3" name="Text 1"/>
          <p:cNvSpPr txBox="1"/>
          <p:nvPr/>
        </p:nvSpPr>
        <p:spPr>
          <a:xfrm>
            <a:off x="548640" y="2578608"/>
            <a:ext cx="11064240" cy="640080"/>
          </a:xfrm>
          <a:prstGeom prst="rect">
            <a:avLst/>
          </a:prstGeom>
          <a:noFill/>
          <a:ln/>
        </p:spPr>
        <p:txBody>
          <a:bodyPr wrap="square" lIns="0" tIns="0" rIns="0" bIns="0" rtlCol="0" anchor="ctr"/>
          <a:lstStyle/>
          <a:p>
            <a:pPr indent="0" marL="0">
              <a:buNone/>
            </a:pPr>
            <a:r>
              <a:rPr lang="en-US" sz="3400" dirty="0">
                <a:solidFill>
                  <a:srgbClr val="EB6834"/>
                </a:solidFill>
                <a:latin typeface="Cambria" pitchFamily="34" charset="0"/>
                <a:ea typeface="Cambria" pitchFamily="34" charset="-122"/>
                <a:cs typeface="Cambria" pitchFamily="34" charset="-120"/>
              </a:rPr>
              <a:t>on the 6-12-8 system</a:t>
            </a:r>
            <a:endParaRPr lang="en-US" sz="3400" dirty="0"/>
          </a:p>
        </p:txBody>
      </p:sp>
      <p:sp>
        <p:nvSpPr>
          <p:cNvPr id="4" name="Text 2"/>
          <p:cNvSpPr txBox="1"/>
          <p:nvPr/>
        </p:nvSpPr>
        <p:spPr>
          <a:xfrm>
            <a:off x="548640" y="3529584"/>
            <a:ext cx="11064240" cy="365760"/>
          </a:xfrm>
          <a:prstGeom prst="rect">
            <a:avLst/>
          </a:prstGeom>
          <a:noFill/>
          <a:ln/>
        </p:spPr>
        <p:txBody>
          <a:bodyPr wrap="square" lIns="0" tIns="0" rIns="0" bIns="0" rtlCol="0" anchor="ctr"/>
          <a:lstStyle/>
          <a:p>
            <a:pPr indent="0" marL="0">
              <a:buNone/>
            </a:pPr>
            <a:r>
              <a:rPr lang="en-US" sz="1600" dirty="0">
                <a:solidFill>
                  <a:srgbClr val="D6DDE2"/>
                </a:solidFill>
                <a:latin typeface="Calibri" pitchFamily="34" charset="0"/>
                <a:ea typeface="Calibri" pitchFamily="34" charset="-122"/>
                <a:cs typeface="Calibri" pitchFamily="34" charset="-120"/>
              </a:rPr>
              <a:t>Twelve runs  ·  six laws  ·  drive-coherence cap on and off  ·  linear plant</a:t>
            </a:r>
            <a:endParaRPr lang="en-US" sz="1600" dirty="0"/>
          </a:p>
        </p:txBody>
      </p:sp>
      <p:sp>
        <p:nvSpPr>
          <p:cNvPr id="5" name="Text 3"/>
          <p:cNvSpPr txBox="1"/>
          <p:nvPr/>
        </p:nvSpPr>
        <p:spPr>
          <a:xfrm>
            <a:off x="548640" y="5120640"/>
            <a:ext cx="11064240" cy="731520"/>
          </a:xfrm>
          <a:prstGeom prst="rect">
            <a:avLst/>
          </a:prstGeom>
          <a:noFill/>
          <a:ln/>
        </p:spPr>
        <p:txBody>
          <a:bodyPr wrap="square" lIns="0" tIns="0" rIns="0" bIns="0" rtlCol="0" anchor="ctr"/>
          <a:lstStyle/>
          <a:p>
            <a:pPr indent="0" marL="0">
              <a:buNone/>
            </a:pPr>
            <a:r>
              <a:rPr lang="en-US" sz="1200" dirty="0">
                <a:solidFill>
                  <a:srgbClr val="9FAEB8"/>
                </a:solidFill>
                <a:latin typeface="Calibri" pitchFamily="34" charset="0"/>
                <a:ea typeface="Calibri" pitchFamily="34" charset="-122"/>
                <a:cs typeface="Calibri" pitchFamily="34" charset="-120"/>
              </a:rPr>
              <a:t>rattlesnake-vibration-controller</a:t>
            </a:r>
            <a:endParaRPr lang="en-US" sz="1200" dirty="0"/>
          </a:p>
          <a:p>
            <a:pPr indent="0" marL="0">
              <a:buNone/>
            </a:pPr>
            <a:r>
              <a:rPr lang="en-US" sz="1200" dirty="0">
                <a:solidFill>
                  <a:srgbClr val="9FAEB8"/>
                </a:solidFill>
                <a:latin typeface="Calibri" pitchFamily="34" charset="0"/>
                <a:ea typeface="Calibri" pitchFamily="34" charset="-122"/>
                <a:cs typeface="Calibri" pitchFamily="34" charset="-120"/>
              </a:rPr>
              <a:t>branch control-law-development-2026-09  ·  15 September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10896"/>
            <a:ext cx="10332720" cy="658368"/>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The system under test</a:t>
            </a:r>
            <a:endParaRPr lang="en-US" sz="3000" dirty="0"/>
          </a:p>
        </p:txBody>
      </p:sp>
      <p:sp>
        <p:nvSpPr>
          <p:cNvPr id="3" name="Text 1"/>
          <p:cNvSpPr txBox="1"/>
          <p:nvPr/>
        </p:nvSpPr>
        <p:spPr>
          <a:xfrm>
            <a:off x="548640" y="969264"/>
            <a:ext cx="10332720" cy="384048"/>
          </a:xfrm>
          <a:prstGeom prst="rect">
            <a:avLst/>
          </a:prstGeom>
          <a:noFill/>
          <a:ln/>
        </p:spPr>
        <p:txBody>
          <a:bodyPr wrap="square" lIns="0" tIns="0" rIns="0" bIns="0" rtlCol="0" anchor="ctr"/>
          <a:lstStyle/>
          <a:p>
            <a:pPr indent="0" marL="0">
              <a:buNone/>
            </a:pPr>
            <a:r>
              <a:rPr lang="en-US" sz="1500" dirty="0">
                <a:solidFill>
                  <a:srgbClr val="5E6B73"/>
                </a:solidFill>
                <a:latin typeface="Calibri" pitchFamily="34" charset="0"/>
                <a:ea typeface="Calibri" pitchFamily="34" charset="-122"/>
                <a:cs typeface="Calibri" pitchFamily="34" charset="-120"/>
              </a:rPr>
              <a:t>Six drives, twelve responses, eight control channels, 100–1000 Hz</a:t>
            </a:r>
            <a:endParaRPr lang="en-US" sz="1500" dirty="0"/>
          </a:p>
        </p:txBody>
      </p:sp>
      <p:sp>
        <p:nvSpPr>
          <p:cNvPr id="4" name="Shape 2"/>
          <p:cNvSpPr/>
          <p:nvPr/>
        </p:nvSpPr>
        <p:spPr>
          <a:xfrm>
            <a:off x="11192256" y="347472"/>
            <a:ext cx="420624" cy="420624"/>
          </a:xfrm>
          <a:prstGeom prst="ellipse">
            <a:avLst/>
          </a:prstGeom>
          <a:solidFill>
            <a:srgbClr val="F2F2F2"/>
          </a:solidFill>
          <a:ln/>
        </p:spPr>
      </p:sp>
      <p:sp>
        <p:nvSpPr>
          <p:cNvPr id="5" name="Text 3"/>
          <p:cNvSpPr txBox="1"/>
          <p:nvPr/>
        </p:nvSpPr>
        <p:spPr>
          <a:xfrm>
            <a:off x="11192256" y="347472"/>
            <a:ext cx="420624" cy="420624"/>
          </a:xfrm>
          <a:prstGeom prst="rect">
            <a:avLst/>
          </a:prstGeom>
          <a:noFill/>
          <a:ln/>
        </p:spPr>
        <p:txBody>
          <a:bodyPr wrap="square" lIns="0" tIns="0" rIns="0" bIns="0" rtlCol="0" anchor="ctr"/>
          <a:lstStyle/>
          <a:p>
            <a:pPr algn="ctr" indent="0" marL="0">
              <a:buNone/>
            </a:pPr>
            <a:r>
              <a:rPr lang="en-US" sz="1300" b="1" dirty="0">
                <a:solidFill>
                  <a:srgbClr val="5E6B73"/>
                </a:solidFill>
                <a:latin typeface="Calibri" pitchFamily="34" charset="0"/>
                <a:ea typeface="Calibri" pitchFamily="34" charset="-122"/>
                <a:cs typeface="Calibri" pitchFamily="34" charset="-120"/>
              </a:rPr>
              <a:t>2</a:t>
            </a:r>
            <a:endParaRPr lang="en-US" sz="1300" dirty="0"/>
          </a:p>
        </p:txBody>
      </p:sp>
      <p:pic>
        <p:nvPicPr>
          <p:cNvPr id="6" name="Image 0" descr="figs/deck_system.png">    </p:cNvPr>
          <p:cNvPicPr>
            <a:picLocks noChangeAspect="1"/>
          </p:cNvPicPr>
          <p:nvPr/>
        </p:nvPicPr>
        <p:blipFill>
          <a:blip r:embed="rId1"/>
          <a:stretch>
            <a:fillRect/>
          </a:stretch>
        </p:blipFill>
        <p:spPr>
          <a:xfrm>
            <a:off x="548640" y="1389888"/>
            <a:ext cx="6204625" cy="2724912"/>
          </a:xfrm>
          <a:prstGeom prst="rect">
            <a:avLst/>
          </a:prstGeom>
        </p:spPr>
      </p:pic>
      <p:sp>
        <p:nvSpPr>
          <p:cNvPr id="7" name="Shape 4"/>
          <p:cNvSpPr/>
          <p:nvPr/>
        </p:nvSpPr>
        <p:spPr>
          <a:xfrm>
            <a:off x="7040880" y="1389888"/>
            <a:ext cx="4572000" cy="2724912"/>
          </a:xfrm>
          <a:prstGeom prst="roundRect">
            <a:avLst>
              <a:gd name="adj" fmla="val 2013"/>
            </a:avLst>
          </a:prstGeom>
          <a:solidFill>
            <a:srgbClr val="F2F2F2"/>
          </a:solidFill>
          <a:ln/>
        </p:spPr>
      </p:sp>
      <p:sp>
        <p:nvSpPr>
          <p:cNvPr id="8" name="Text 5"/>
          <p:cNvSpPr txBox="1"/>
          <p:nvPr/>
        </p:nvSpPr>
        <p:spPr>
          <a:xfrm>
            <a:off x="7223760" y="1554480"/>
            <a:ext cx="4206240" cy="2432304"/>
          </a:xfrm>
          <a:prstGeom prst="rect">
            <a:avLst/>
          </a:prstGeom>
          <a:noFill/>
          <a:ln/>
        </p:spPr>
        <p:txBody>
          <a:bodyPr wrap="square" lIns="0" tIns="0" rIns="0" bIns="0" rtlCol="0" anchor="t"/>
          <a:lstStyle/>
          <a:p>
            <a:pPr indent="0" marL="0">
              <a:buNone/>
            </a:pPr>
            <a:r>
              <a:rPr lang="en-US" sz="1600" b="1" dirty="0">
                <a:solidFill>
                  <a:srgbClr val="36454F"/>
                </a:solidFill>
                <a:latin typeface="Calibri" pitchFamily="34" charset="0"/>
                <a:ea typeface="Calibri" pitchFamily="34" charset="-122"/>
                <a:cs typeface="Calibri" pitchFamily="34" charset="-120"/>
              </a:rPr>
              <a:t>Six drives in, eight channels controlled
</a:t>
            </a:r>
            <a:endParaRPr lang="en-US" sz="1600" dirty="0"/>
          </a:p>
          <a:p>
            <a:pPr indent="0" marL="0">
              <a:buNone/>
            </a:pPr>
            <a:r>
              <a:rPr lang="en-US" sz="1300" dirty="0">
                <a:solidFill>
                  <a:srgbClr val="5E6B73"/>
                </a:solidFill>
                <a:latin typeface="Calibri" pitchFamily="34" charset="0"/>
                <a:ea typeface="Calibri" pitchFamily="34" charset="-122"/>
                <a:cs typeface="Calibri" pitchFamily="34" charset="-120"/>
              </a:rPr>
              <a:t>Twelve responses are measured; the first eight are the control set (nodes 7–14, X direction). All six shakers drive.
</a:t>
            </a:r>
            <a:endParaRPr lang="en-US" sz="1600" dirty="0"/>
          </a:p>
          <a:p>
            <a:pPr indent="0" marL="0">
              <a:buNone/>
            </a:pPr>
            <a:r>
              <a:rPr lang="en-US" sz="1600" b="1" dirty="0">
                <a:solidFill>
                  <a:srgbClr val="EB6834"/>
                </a:solidFill>
                <a:latin typeface="Calibri" pitchFamily="34" charset="0"/>
                <a:ea typeface="Calibri" pitchFamily="34" charset="-122"/>
                <a:cs typeface="Calibri" pitchFamily="34" charset="-120"/>
              </a:rPr>
              <a:t>But only five directions exist
</a:t>
            </a:r>
            <a:endParaRPr lang="en-US" sz="1600" dirty="0"/>
          </a:p>
          <a:p>
            <a:pPr indent="0" marL="0">
              <a:buNone/>
            </a:pPr>
            <a:r>
              <a:rPr lang="en-US" sz="1300" dirty="0">
                <a:solidFill>
                  <a:srgbClr val="5E6B73"/>
                </a:solidFill>
                <a:latin typeface="Calibri" pitchFamily="34" charset="0"/>
                <a:ea typeface="Calibri" pitchFamily="34" charset="-122"/>
                <a:cs typeface="Calibri" pitchFamily="34" charset="-120"/>
              </a:rPr>
              <a:t>The FRF is rank 5, so part of the flat specification is unreachable by any law — before control design enters the picture at all. Slide 3 has the evidence.</a:t>
            </a:r>
            <a:endParaRPr lang="en-US" sz="1600" dirty="0"/>
          </a:p>
        </p:txBody>
      </p:sp>
      <p:sp>
        <p:nvSpPr>
          <p:cNvPr id="9" name="Shape 6"/>
          <p:cNvSpPr/>
          <p:nvPr/>
        </p:nvSpPr>
        <p:spPr>
          <a:xfrm>
            <a:off x="548640" y="4507992"/>
            <a:ext cx="2487168" cy="1371600"/>
          </a:xfrm>
          <a:prstGeom prst="roundRect">
            <a:avLst>
              <a:gd name="adj" fmla="val 4000"/>
            </a:avLst>
          </a:prstGeom>
          <a:solidFill>
            <a:srgbClr val="F2F2F2"/>
          </a:solidFill>
          <a:ln/>
        </p:spPr>
      </p:sp>
      <p:sp>
        <p:nvSpPr>
          <p:cNvPr id="10" name="Text 7"/>
          <p:cNvSpPr txBox="1"/>
          <p:nvPr/>
        </p:nvSpPr>
        <p:spPr>
          <a:xfrm>
            <a:off x="694944" y="4654296"/>
            <a:ext cx="2194560" cy="621792"/>
          </a:xfrm>
          <a:prstGeom prst="rect">
            <a:avLst/>
          </a:prstGeom>
          <a:noFill/>
          <a:ln/>
        </p:spPr>
        <p:txBody>
          <a:bodyPr wrap="square" lIns="0" tIns="0" rIns="0" bIns="0" rtlCol="0" anchor="ctr"/>
          <a:lstStyle/>
          <a:p>
            <a:pPr algn="ctr" indent="0" marL="0">
              <a:buNone/>
            </a:pPr>
            <a:r>
              <a:rPr lang="en-US" sz="3000" b="1" dirty="0">
                <a:solidFill>
                  <a:srgbClr val="36454F"/>
                </a:solidFill>
                <a:latin typeface="Cambria" pitchFamily="34" charset="0"/>
                <a:ea typeface="Cambria" pitchFamily="34" charset="-122"/>
                <a:cs typeface="Cambria" pitchFamily="34" charset="-120"/>
              </a:rPr>
              <a:t>33</a:t>
            </a:r>
            <a:endParaRPr lang="en-US" sz="3000" dirty="0"/>
          </a:p>
        </p:txBody>
      </p:sp>
      <p:sp>
        <p:nvSpPr>
          <p:cNvPr id="11" name="Text 8"/>
          <p:cNvSpPr txBox="1"/>
          <p:nvPr/>
        </p:nvSpPr>
        <p:spPr>
          <a:xfrm>
            <a:off x="694944" y="5276088"/>
            <a:ext cx="2194560" cy="493776"/>
          </a:xfrm>
          <a:prstGeom prst="rect">
            <a:avLst/>
          </a:prstGeom>
          <a:noFill/>
          <a:ln/>
        </p:spPr>
        <p:txBody>
          <a:bodyPr wrap="square" lIns="0" tIns="0" rIns="0" bIns="0" rtlCol="0" anchor="t"/>
          <a:lstStyle/>
          <a:p>
            <a:pPr algn="ctr" indent="0" marL="0">
              <a:buNone/>
            </a:pPr>
            <a:r>
              <a:rPr lang="en-US" sz="1100" dirty="0">
                <a:solidFill>
                  <a:srgbClr val="5E6B73"/>
                </a:solidFill>
                <a:latin typeface="Calibri" pitchFamily="34" charset="0"/>
                <a:ea typeface="Calibri" pitchFamily="34" charset="-122"/>
                <a:cs typeface="Calibri" pitchFamily="34" charset="-120"/>
              </a:rPr>
              <a:t>modes in the control band</a:t>
            </a:r>
            <a:endParaRPr lang="en-US" sz="1100" dirty="0"/>
          </a:p>
        </p:txBody>
      </p:sp>
      <p:sp>
        <p:nvSpPr>
          <p:cNvPr id="12" name="Shape 9"/>
          <p:cNvSpPr/>
          <p:nvPr/>
        </p:nvSpPr>
        <p:spPr>
          <a:xfrm>
            <a:off x="3218688" y="4507992"/>
            <a:ext cx="2487168" cy="1371600"/>
          </a:xfrm>
          <a:prstGeom prst="roundRect">
            <a:avLst>
              <a:gd name="adj" fmla="val 4000"/>
            </a:avLst>
          </a:prstGeom>
          <a:solidFill>
            <a:srgbClr val="F2F2F2"/>
          </a:solidFill>
          <a:ln/>
        </p:spPr>
      </p:sp>
      <p:sp>
        <p:nvSpPr>
          <p:cNvPr id="13" name="Text 10"/>
          <p:cNvSpPr txBox="1"/>
          <p:nvPr/>
        </p:nvSpPr>
        <p:spPr>
          <a:xfrm>
            <a:off x="3364992" y="4654296"/>
            <a:ext cx="2194560" cy="621792"/>
          </a:xfrm>
          <a:prstGeom prst="rect">
            <a:avLst/>
          </a:prstGeom>
          <a:noFill/>
          <a:ln/>
        </p:spPr>
        <p:txBody>
          <a:bodyPr wrap="square" lIns="0" tIns="0" rIns="0" bIns="0" rtlCol="0" anchor="ctr"/>
          <a:lstStyle/>
          <a:p>
            <a:pPr algn="ctr" indent="0" marL="0">
              <a:buNone/>
            </a:pPr>
            <a:r>
              <a:rPr lang="en-US" sz="3000" b="1" dirty="0">
                <a:solidFill>
                  <a:srgbClr val="36454F"/>
                </a:solidFill>
                <a:latin typeface="Cambria" pitchFamily="34" charset="0"/>
                <a:ea typeface="Cambria" pitchFamily="34" charset="-122"/>
                <a:cs typeface="Cambria" pitchFamily="34" charset="-120"/>
              </a:rPr>
              <a:t>0.83 %</a:t>
            </a:r>
            <a:endParaRPr lang="en-US" sz="3000" dirty="0"/>
          </a:p>
        </p:txBody>
      </p:sp>
      <p:sp>
        <p:nvSpPr>
          <p:cNvPr id="14" name="Text 11"/>
          <p:cNvSpPr txBox="1"/>
          <p:nvPr/>
        </p:nvSpPr>
        <p:spPr>
          <a:xfrm>
            <a:off x="3364992" y="5276088"/>
            <a:ext cx="2194560" cy="493776"/>
          </a:xfrm>
          <a:prstGeom prst="rect">
            <a:avLst/>
          </a:prstGeom>
          <a:noFill/>
          <a:ln/>
        </p:spPr>
        <p:txBody>
          <a:bodyPr wrap="square" lIns="0" tIns="0" rIns="0" bIns="0" rtlCol="0" anchor="t"/>
          <a:lstStyle/>
          <a:p>
            <a:pPr algn="ctr" indent="0" marL="0">
              <a:buNone/>
            </a:pPr>
            <a:r>
              <a:rPr lang="en-US" sz="1100" dirty="0">
                <a:solidFill>
                  <a:srgbClr val="5E6B73"/>
                </a:solidFill>
                <a:latin typeface="Calibri" pitchFamily="34" charset="0"/>
                <a:ea typeface="Calibri" pitchFamily="34" charset="-122"/>
                <a:cs typeface="Calibri" pitchFamily="34" charset="-120"/>
              </a:rPr>
              <a:t>median modal damping</a:t>
            </a:r>
            <a:endParaRPr lang="en-US" sz="1100" dirty="0"/>
          </a:p>
          <a:p>
            <a:pPr algn="ctr" indent="0" marL="0">
              <a:buNone/>
            </a:pPr>
            <a:r>
              <a:rPr lang="en-US" sz="1100" dirty="0">
                <a:solidFill>
                  <a:srgbClr val="5E6B73"/>
                </a:solidFill>
                <a:latin typeface="Calibri" pitchFamily="34" charset="0"/>
                <a:ea typeface="Calibri" pitchFamily="34" charset="-122"/>
                <a:cs typeface="Calibri" pitchFamily="34" charset="-120"/>
              </a:rPr>
              <a:t>(0.70–1.19 %)</a:t>
            </a:r>
            <a:endParaRPr lang="en-US" sz="1100" dirty="0"/>
          </a:p>
        </p:txBody>
      </p:sp>
      <p:sp>
        <p:nvSpPr>
          <p:cNvPr id="15" name="Shape 12"/>
          <p:cNvSpPr/>
          <p:nvPr/>
        </p:nvSpPr>
        <p:spPr>
          <a:xfrm>
            <a:off x="5888736" y="4507992"/>
            <a:ext cx="2487168" cy="1371600"/>
          </a:xfrm>
          <a:prstGeom prst="roundRect">
            <a:avLst>
              <a:gd name="adj" fmla="val 4000"/>
            </a:avLst>
          </a:prstGeom>
          <a:solidFill>
            <a:srgbClr val="F2F2F2"/>
          </a:solidFill>
          <a:ln/>
        </p:spPr>
      </p:sp>
      <p:sp>
        <p:nvSpPr>
          <p:cNvPr id="16" name="Text 13"/>
          <p:cNvSpPr txBox="1"/>
          <p:nvPr/>
        </p:nvSpPr>
        <p:spPr>
          <a:xfrm>
            <a:off x="6035040" y="4654296"/>
            <a:ext cx="2194560" cy="621792"/>
          </a:xfrm>
          <a:prstGeom prst="rect">
            <a:avLst/>
          </a:prstGeom>
          <a:noFill/>
          <a:ln/>
        </p:spPr>
        <p:txBody>
          <a:bodyPr wrap="square" lIns="0" tIns="0" rIns="0" bIns="0" rtlCol="0" anchor="ctr"/>
          <a:lstStyle/>
          <a:p>
            <a:pPr algn="ctr" indent="0" marL="0">
              <a:buNone/>
            </a:pPr>
            <a:r>
              <a:rPr lang="en-US" sz="3000" b="1" dirty="0">
                <a:solidFill>
                  <a:srgbClr val="36454F"/>
                </a:solidFill>
                <a:latin typeface="Cambria" pitchFamily="34" charset="0"/>
                <a:ea typeface="Cambria" pitchFamily="34" charset="-122"/>
                <a:cs typeface="Cambria" pitchFamily="34" charset="-120"/>
              </a:rPr>
              <a:t>4096 Hz</a:t>
            </a:r>
            <a:endParaRPr lang="en-US" sz="3000" dirty="0"/>
          </a:p>
        </p:txBody>
      </p:sp>
      <p:sp>
        <p:nvSpPr>
          <p:cNvPr id="17" name="Text 14"/>
          <p:cNvSpPr txBox="1"/>
          <p:nvPr/>
        </p:nvSpPr>
        <p:spPr>
          <a:xfrm>
            <a:off x="6035040" y="5276088"/>
            <a:ext cx="2194560" cy="493776"/>
          </a:xfrm>
          <a:prstGeom prst="rect">
            <a:avLst/>
          </a:prstGeom>
          <a:noFill/>
          <a:ln/>
        </p:spPr>
        <p:txBody>
          <a:bodyPr wrap="square" lIns="0" tIns="0" rIns="0" bIns="0" rtlCol="0" anchor="t"/>
          <a:lstStyle/>
          <a:p>
            <a:pPr algn="ctr" indent="0" marL="0">
              <a:buNone/>
            </a:pPr>
            <a:r>
              <a:rPr lang="en-US" sz="1100" dirty="0">
                <a:solidFill>
                  <a:srgbClr val="5E6B73"/>
                </a:solidFill>
                <a:latin typeface="Calibri" pitchFamily="34" charset="0"/>
                <a:ea typeface="Calibri" pitchFamily="34" charset="-122"/>
                <a:cs typeface="Calibri" pitchFamily="34" charset="-120"/>
              </a:rPr>
              <a:t>sample rate, virtual</a:t>
            </a:r>
            <a:endParaRPr lang="en-US" sz="1100" dirty="0"/>
          </a:p>
          <a:p>
            <a:pPr algn="ctr" indent="0" marL="0">
              <a:buNone/>
            </a:pPr>
            <a:r>
              <a:rPr lang="en-US" sz="1100" dirty="0">
                <a:solidFill>
                  <a:srgbClr val="5E6B73"/>
                </a:solidFill>
                <a:latin typeface="Calibri" pitchFamily="34" charset="0"/>
                <a:ea typeface="Calibri" pitchFamily="34" charset="-122"/>
                <a:cs typeface="Calibri" pitchFamily="34" charset="-120"/>
              </a:rPr>
              <a:t>hardware (type 6)</a:t>
            </a:r>
            <a:endParaRPr lang="en-US" sz="1100" dirty="0"/>
          </a:p>
        </p:txBody>
      </p:sp>
      <p:sp>
        <p:nvSpPr>
          <p:cNvPr id="18" name="Shape 15"/>
          <p:cNvSpPr/>
          <p:nvPr/>
        </p:nvSpPr>
        <p:spPr>
          <a:xfrm>
            <a:off x="8558784" y="4507992"/>
            <a:ext cx="2487168" cy="1371600"/>
          </a:xfrm>
          <a:prstGeom prst="roundRect">
            <a:avLst>
              <a:gd name="adj" fmla="val 4000"/>
            </a:avLst>
          </a:prstGeom>
          <a:solidFill>
            <a:srgbClr val="F2F2F2"/>
          </a:solidFill>
          <a:ln/>
        </p:spPr>
      </p:sp>
      <p:sp>
        <p:nvSpPr>
          <p:cNvPr id="19" name="Text 16"/>
          <p:cNvSpPr txBox="1"/>
          <p:nvPr/>
        </p:nvSpPr>
        <p:spPr>
          <a:xfrm>
            <a:off x="8705088" y="4654296"/>
            <a:ext cx="2194560" cy="621792"/>
          </a:xfrm>
          <a:prstGeom prst="rect">
            <a:avLst/>
          </a:prstGeom>
          <a:noFill/>
          <a:ln/>
        </p:spPr>
        <p:txBody>
          <a:bodyPr wrap="square" lIns="0" tIns="0" rIns="0" bIns="0" rtlCol="0" anchor="ctr"/>
          <a:lstStyle/>
          <a:p>
            <a:pPr algn="ctr" indent="0" marL="0">
              <a:buNone/>
            </a:pPr>
            <a:r>
              <a:rPr lang="en-US" sz="3000" b="1" dirty="0">
                <a:solidFill>
                  <a:srgbClr val="EB6834"/>
                </a:solidFill>
                <a:latin typeface="Cambria" pitchFamily="34" charset="0"/>
                <a:ea typeface="Cambria" pitchFamily="34" charset="-122"/>
                <a:cs typeface="Cambria" pitchFamily="34" charset="-120"/>
              </a:rPr>
              <a:t>1×10⁻³</a:t>
            </a:r>
            <a:endParaRPr lang="en-US" sz="3000" dirty="0"/>
          </a:p>
        </p:txBody>
      </p:sp>
      <p:sp>
        <p:nvSpPr>
          <p:cNvPr id="20" name="Text 17"/>
          <p:cNvSpPr txBox="1"/>
          <p:nvPr/>
        </p:nvSpPr>
        <p:spPr>
          <a:xfrm>
            <a:off x="8705088" y="5276088"/>
            <a:ext cx="2194560" cy="493776"/>
          </a:xfrm>
          <a:prstGeom prst="rect">
            <a:avLst/>
          </a:prstGeom>
          <a:noFill/>
          <a:ln/>
        </p:spPr>
        <p:txBody>
          <a:bodyPr wrap="square" lIns="0" tIns="0" rIns="0" bIns="0" rtlCol="0" anchor="t"/>
          <a:lstStyle/>
          <a:p>
            <a:pPr algn="ctr" indent="0" marL="0">
              <a:buNone/>
            </a:pPr>
            <a:r>
              <a:rPr lang="en-US" sz="1100" dirty="0">
                <a:solidFill>
                  <a:srgbClr val="5E6B73"/>
                </a:solidFill>
                <a:latin typeface="Calibri" pitchFamily="34" charset="0"/>
                <a:ea typeface="Calibri" pitchFamily="34" charset="-122"/>
                <a:cs typeface="Calibri" pitchFamily="34" charset="-120"/>
              </a:rPr>
              <a:t>flat spec, zero</a:t>
            </a:r>
            <a:endParaRPr lang="en-US" sz="1100" dirty="0"/>
          </a:p>
          <a:p>
            <a:pPr algn="ctr" indent="0" marL="0">
              <a:buNone/>
            </a:pPr>
            <a:r>
              <a:rPr lang="en-US" sz="1100" dirty="0">
                <a:solidFill>
                  <a:srgbClr val="5E6B73"/>
                </a:solidFill>
                <a:latin typeface="Calibri" pitchFamily="34" charset="0"/>
                <a:ea typeface="Calibri" pitchFamily="34" charset="-122"/>
                <a:cs typeface="Calibri" pitchFamily="34" charset="-120"/>
              </a:rPr>
              <a:t>cross-terms</a:t>
            </a:r>
            <a:endParaRPr lang="en-US" sz="1100" dirty="0"/>
          </a:p>
        </p:txBody>
      </p:sp>
      <p:sp>
        <p:nvSpPr>
          <p:cNvPr id="21" name="Text 18"/>
          <p:cNvSpPr txBox="1"/>
          <p:nvPr/>
        </p:nvSpPr>
        <p:spPr>
          <a:xfrm>
            <a:off x="548640" y="6053328"/>
            <a:ext cx="11064240" cy="457200"/>
          </a:xfrm>
          <a:prstGeom prst="rect">
            <a:avLst/>
          </a:prstGeom>
          <a:noFill/>
          <a:ln/>
        </p:spPr>
        <p:txBody>
          <a:bodyPr wrap="square" lIns="0" tIns="0" rIns="0" bIns="0" rtlCol="0" anchor="ctr"/>
          <a:lstStyle/>
          <a:p>
            <a:pPr indent="0" marL="0">
              <a:buNone/>
            </a:pPr>
            <a:r>
              <a:rPr lang="en-US" sz="1150" dirty="0">
                <a:solidFill>
                  <a:srgbClr val="8A959B"/>
                </a:solidFill>
                <a:latin typeface="Calibri" pitchFamily="34" charset="0"/>
                <a:ea typeface="Calibri" pitchFamily="34" charset="-122"/>
                <a:cs typeface="Calibri" pitchFamily="34" charset="-120"/>
              </a:rPr>
              <a:t>Linear SDynPy frame model sdynpy_frame6x12_system.npz, 36 DOF, run as virtual hardware.</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10896"/>
            <a:ext cx="10332720" cy="658368"/>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The plant is rank 5, not 6</a:t>
            </a:r>
            <a:endParaRPr lang="en-US" sz="3000" dirty="0"/>
          </a:p>
        </p:txBody>
      </p:sp>
      <p:sp>
        <p:nvSpPr>
          <p:cNvPr id="3" name="Text 1"/>
          <p:cNvSpPr txBox="1"/>
          <p:nvPr/>
        </p:nvSpPr>
        <p:spPr>
          <a:xfrm>
            <a:off x="548640" y="969264"/>
            <a:ext cx="10332720" cy="384048"/>
          </a:xfrm>
          <a:prstGeom prst="rect">
            <a:avLst/>
          </a:prstGeom>
          <a:noFill/>
          <a:ln/>
        </p:spPr>
        <p:txBody>
          <a:bodyPr wrap="square" lIns="0" tIns="0" rIns="0" bIns="0" rtlCol="0" anchor="ctr"/>
          <a:lstStyle/>
          <a:p>
            <a:pPr indent="0" marL="0">
              <a:buNone/>
            </a:pPr>
            <a:r>
              <a:rPr lang="en-US" sz="1500" dirty="0">
                <a:solidFill>
                  <a:srgbClr val="5E6B73"/>
                </a:solidFill>
                <a:latin typeface="Calibri" pitchFamily="34" charset="0"/>
                <a:ea typeface="Calibri" pitchFamily="34" charset="-122"/>
                <a:cs typeface="Calibri" pitchFamily="34" charset="-120"/>
              </a:rPr>
              <a:t>Six shakers span a five-dimensional response subspace at these eight locations</a:t>
            </a:r>
            <a:endParaRPr lang="en-US" sz="1500" dirty="0"/>
          </a:p>
        </p:txBody>
      </p:sp>
      <p:sp>
        <p:nvSpPr>
          <p:cNvPr id="4" name="Shape 2"/>
          <p:cNvSpPr/>
          <p:nvPr/>
        </p:nvSpPr>
        <p:spPr>
          <a:xfrm>
            <a:off x="11192256" y="347472"/>
            <a:ext cx="420624" cy="420624"/>
          </a:xfrm>
          <a:prstGeom prst="ellipse">
            <a:avLst/>
          </a:prstGeom>
          <a:solidFill>
            <a:srgbClr val="F2F2F2"/>
          </a:solidFill>
          <a:ln/>
        </p:spPr>
      </p:sp>
      <p:sp>
        <p:nvSpPr>
          <p:cNvPr id="5" name="Text 3"/>
          <p:cNvSpPr txBox="1"/>
          <p:nvPr/>
        </p:nvSpPr>
        <p:spPr>
          <a:xfrm>
            <a:off x="11192256" y="347472"/>
            <a:ext cx="420624" cy="420624"/>
          </a:xfrm>
          <a:prstGeom prst="rect">
            <a:avLst/>
          </a:prstGeom>
          <a:noFill/>
          <a:ln/>
        </p:spPr>
        <p:txBody>
          <a:bodyPr wrap="square" lIns="0" tIns="0" rIns="0" bIns="0" rtlCol="0" anchor="ctr"/>
          <a:lstStyle/>
          <a:p>
            <a:pPr algn="ctr" indent="0" marL="0">
              <a:buNone/>
            </a:pPr>
            <a:r>
              <a:rPr lang="en-US" sz="1300" b="1" dirty="0">
                <a:solidFill>
                  <a:srgbClr val="5E6B73"/>
                </a:solidFill>
                <a:latin typeface="Calibri" pitchFamily="34" charset="0"/>
                <a:ea typeface="Calibri" pitchFamily="34" charset="-122"/>
                <a:cs typeface="Calibri" pitchFamily="34" charset="-120"/>
              </a:rPr>
              <a:t>3</a:t>
            </a:r>
            <a:endParaRPr lang="en-US" sz="1300" dirty="0"/>
          </a:p>
        </p:txBody>
      </p:sp>
      <p:pic>
        <p:nvPicPr>
          <p:cNvPr id="6" name="Image 0" descr="figs/deck_singular_values.png">    </p:cNvPr>
          <p:cNvPicPr>
            <a:picLocks noChangeAspect="1"/>
          </p:cNvPicPr>
          <p:nvPr/>
        </p:nvPicPr>
        <p:blipFill>
          <a:blip r:embed="rId1"/>
          <a:stretch>
            <a:fillRect/>
          </a:stretch>
        </p:blipFill>
        <p:spPr>
          <a:xfrm>
            <a:off x="548640" y="1353312"/>
            <a:ext cx="7293181" cy="3054096"/>
          </a:xfrm>
          <a:prstGeom prst="rect">
            <a:avLst/>
          </a:prstGeom>
        </p:spPr>
      </p:pic>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4626864"/>
          <a:ext cx="7040880" cy="914400"/>
        </p:xfrm>
        <a:graphic>
          <a:graphicData uri="http://schemas.openxmlformats.org/drawingml/2006/table">
            <a:tbl>
              <a:tblPr/>
              <a:tblGrid>
                <a:gridCol w="1737360"/>
                <a:gridCol w="883310"/>
                <a:gridCol w="883310"/>
                <a:gridCol w="883310"/>
                <a:gridCol w="883310"/>
                <a:gridCol w="883310"/>
                <a:gridCol w="883310"/>
              </a:tblGrid>
              <a:tr h="274320">
                <a:tc>
                  <a:txBody>
                    <a:bodyPr/>
                    <a:lstStyle/>
                    <a:p>
                      <a:pPr indent="0" marL="0">
                        <a:buNone/>
                      </a:pP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solidFill>
                      <a:srgbClr val="F2F2F2"/>
                    </a:solidFill>
                  </a:tcPr>
                </a:tc>
                <a:tc>
                  <a:txBody>
                    <a:bodyPr/>
                    <a:lstStyle/>
                    <a:p>
                      <a:pPr algn="ctr" indent="0" marL="0">
                        <a:buNone/>
                      </a:pPr>
                      <a:r>
                        <a:rPr lang="en-US" sz="1150" b="1" dirty="0">
                          <a:solidFill>
                            <a:srgbClr val="36454F"/>
                          </a:solidFill>
                          <a:latin typeface="Calibri" pitchFamily="34" charset="0"/>
                          <a:ea typeface="Calibri" pitchFamily="34" charset="-122"/>
                          <a:cs typeface="Calibri" pitchFamily="34" charset="-120"/>
                        </a:rPr>
                        <a:t>σ1</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solidFill>
                      <a:srgbClr val="F2F2F2"/>
                    </a:solidFill>
                  </a:tcPr>
                </a:tc>
                <a:tc>
                  <a:txBody>
                    <a:bodyPr/>
                    <a:lstStyle/>
                    <a:p>
                      <a:pPr algn="ctr" indent="0" marL="0">
                        <a:buNone/>
                      </a:pPr>
                      <a:r>
                        <a:rPr lang="en-US" sz="1150" b="1" dirty="0">
                          <a:solidFill>
                            <a:srgbClr val="36454F"/>
                          </a:solidFill>
                          <a:latin typeface="Calibri" pitchFamily="34" charset="0"/>
                          <a:ea typeface="Calibri" pitchFamily="34" charset="-122"/>
                          <a:cs typeface="Calibri" pitchFamily="34" charset="-120"/>
                        </a:rPr>
                        <a:t>σ2</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solidFill>
                      <a:srgbClr val="F2F2F2"/>
                    </a:solidFill>
                  </a:tcPr>
                </a:tc>
                <a:tc>
                  <a:txBody>
                    <a:bodyPr/>
                    <a:lstStyle/>
                    <a:p>
                      <a:pPr algn="ctr" indent="0" marL="0">
                        <a:buNone/>
                      </a:pPr>
                      <a:r>
                        <a:rPr lang="en-US" sz="1150" b="1" dirty="0">
                          <a:solidFill>
                            <a:srgbClr val="36454F"/>
                          </a:solidFill>
                          <a:latin typeface="Calibri" pitchFamily="34" charset="0"/>
                          <a:ea typeface="Calibri" pitchFamily="34" charset="-122"/>
                          <a:cs typeface="Calibri" pitchFamily="34" charset="-120"/>
                        </a:rPr>
                        <a:t>σ3</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solidFill>
                      <a:srgbClr val="F2F2F2"/>
                    </a:solidFill>
                  </a:tcPr>
                </a:tc>
                <a:tc>
                  <a:txBody>
                    <a:bodyPr/>
                    <a:lstStyle/>
                    <a:p>
                      <a:pPr algn="ctr" indent="0" marL="0">
                        <a:buNone/>
                      </a:pPr>
                      <a:r>
                        <a:rPr lang="en-US" sz="1150" b="1" dirty="0">
                          <a:solidFill>
                            <a:srgbClr val="36454F"/>
                          </a:solidFill>
                          <a:latin typeface="Calibri" pitchFamily="34" charset="0"/>
                          <a:ea typeface="Calibri" pitchFamily="34" charset="-122"/>
                          <a:cs typeface="Calibri" pitchFamily="34" charset="-120"/>
                        </a:rPr>
                        <a:t>σ4</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solidFill>
                      <a:srgbClr val="F2F2F2"/>
                    </a:solidFill>
                  </a:tcPr>
                </a:tc>
                <a:tc>
                  <a:txBody>
                    <a:bodyPr/>
                    <a:lstStyle/>
                    <a:p>
                      <a:pPr algn="ctr" indent="0" marL="0">
                        <a:buNone/>
                      </a:pPr>
                      <a:r>
                        <a:rPr lang="en-US" sz="1150" b="1" dirty="0">
                          <a:solidFill>
                            <a:srgbClr val="36454F"/>
                          </a:solidFill>
                          <a:latin typeface="Calibri" pitchFamily="34" charset="0"/>
                          <a:ea typeface="Calibri" pitchFamily="34" charset="-122"/>
                          <a:cs typeface="Calibri" pitchFamily="34" charset="-120"/>
                        </a:rPr>
                        <a:t>σ5</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solidFill>
                      <a:srgbClr val="F2F2F2"/>
                    </a:solidFill>
                  </a:tcPr>
                </a:tc>
                <a:tc>
                  <a:txBody>
                    <a:bodyPr/>
                    <a:lstStyle/>
                    <a:p>
                      <a:pPr algn="ctr" indent="0" marL="0">
                        <a:buNone/>
                      </a:pPr>
                      <a:r>
                        <a:rPr lang="en-US" sz="1150" b="1" dirty="0">
                          <a:solidFill>
                            <a:srgbClr val="36454F"/>
                          </a:solidFill>
                          <a:latin typeface="Calibri" pitchFamily="34" charset="0"/>
                          <a:ea typeface="Calibri" pitchFamily="34" charset="-122"/>
                          <a:cs typeface="Calibri" pitchFamily="34" charset="-120"/>
                        </a:rPr>
                        <a:t>σ6</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solidFill>
                      <a:srgbClr val="F2F2F2"/>
                    </a:solidFill>
                  </a:tcPr>
                </a:tc>
              </a:tr>
              <a:tr h="274320">
                <a:tc>
                  <a:txBody>
                    <a:bodyPr/>
                    <a:lstStyle/>
                    <a:p>
                      <a:pPr indent="0" marL="0">
                        <a:buNone/>
                      </a:pPr>
                      <a:r>
                        <a:rPr lang="en-US" sz="1150" dirty="0">
                          <a:solidFill>
                            <a:srgbClr val="5E6B73"/>
                          </a:solidFill>
                          <a:latin typeface="Calibri" pitchFamily="34" charset="0"/>
                          <a:ea typeface="Calibri" pitchFamily="34" charset="-122"/>
                          <a:cs typeface="Calibri" pitchFamily="34" charset="-120"/>
                        </a:rPr>
                        <a:t>analytic, dB re σ1</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ctr" indent="0" marL="0">
                        <a:buNone/>
                      </a:pPr>
                      <a:r>
                        <a:rPr lang="en-US" sz="1150" dirty="0">
                          <a:solidFill>
                            <a:srgbClr val="36454F"/>
                          </a:solidFill>
                          <a:latin typeface="Calibri" pitchFamily="34" charset="0"/>
                          <a:ea typeface="Calibri" pitchFamily="34" charset="-122"/>
                          <a:cs typeface="Calibri" pitchFamily="34" charset="-120"/>
                        </a:rPr>
                        <a:t>0.0</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ctr" indent="0" marL="0">
                        <a:buNone/>
                      </a:pPr>
                      <a:r>
                        <a:rPr lang="en-US" sz="1150" dirty="0">
                          <a:solidFill>
                            <a:srgbClr val="36454F"/>
                          </a:solidFill>
                          <a:latin typeface="Calibri" pitchFamily="34" charset="0"/>
                          <a:ea typeface="Calibri" pitchFamily="34" charset="-122"/>
                          <a:cs typeface="Calibri" pitchFamily="34" charset="-120"/>
                        </a:rPr>
                        <a:t>-9.9</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ctr" indent="0" marL="0">
                        <a:buNone/>
                      </a:pPr>
                      <a:r>
                        <a:rPr lang="en-US" sz="1150" dirty="0">
                          <a:solidFill>
                            <a:srgbClr val="36454F"/>
                          </a:solidFill>
                          <a:latin typeface="Calibri" pitchFamily="34" charset="0"/>
                          <a:ea typeface="Calibri" pitchFamily="34" charset="-122"/>
                          <a:cs typeface="Calibri" pitchFamily="34" charset="-120"/>
                        </a:rPr>
                        <a:t>-21.5</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ctr" indent="0" marL="0">
                        <a:buNone/>
                      </a:pPr>
                      <a:r>
                        <a:rPr lang="en-US" sz="1150" dirty="0">
                          <a:solidFill>
                            <a:srgbClr val="36454F"/>
                          </a:solidFill>
                          <a:latin typeface="Calibri" pitchFamily="34" charset="0"/>
                          <a:ea typeface="Calibri" pitchFamily="34" charset="-122"/>
                          <a:cs typeface="Calibri" pitchFamily="34" charset="-120"/>
                        </a:rPr>
                        <a:t>-29.9</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ctr" indent="0" marL="0">
                        <a:buNone/>
                      </a:pPr>
                      <a:r>
                        <a:rPr lang="en-US" sz="1150" dirty="0">
                          <a:solidFill>
                            <a:srgbClr val="36454F"/>
                          </a:solidFill>
                          <a:latin typeface="Calibri" pitchFamily="34" charset="0"/>
                          <a:ea typeface="Calibri" pitchFamily="34" charset="-122"/>
                          <a:cs typeface="Calibri" pitchFamily="34" charset="-120"/>
                        </a:rPr>
                        <a:t>-36.7</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ctr" indent="0" marL="0">
                        <a:buNone/>
                      </a:pPr>
                      <a:r>
                        <a:rPr lang="en-US" sz="1150" b="1" dirty="0">
                          <a:solidFill>
                            <a:srgbClr val="EB6834"/>
                          </a:solidFill>
                          <a:latin typeface="Calibri" pitchFamily="34" charset="0"/>
                          <a:ea typeface="Calibri" pitchFamily="34" charset="-122"/>
                          <a:cs typeface="Calibri" pitchFamily="34" charset="-120"/>
                        </a:rPr>
                        <a:t>−327</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r>
              <a:tr h="274320">
                <a:tc>
                  <a:txBody>
                    <a:bodyPr/>
                    <a:lstStyle/>
                    <a:p>
                      <a:pPr indent="0" marL="0">
                        <a:buNone/>
                      </a:pPr>
                      <a:r>
                        <a:rPr lang="en-US" sz="1150" dirty="0">
                          <a:solidFill>
                            <a:srgbClr val="5E6B73"/>
                          </a:solidFill>
                          <a:latin typeface="Calibri" pitchFamily="34" charset="0"/>
                          <a:ea typeface="Calibri" pitchFamily="34" charset="-122"/>
                          <a:cs typeface="Calibri" pitchFamily="34" charset="-120"/>
                        </a:rPr>
                        <a:t>measured, dB re σ1</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ctr" indent="0" marL="0">
                        <a:buNone/>
                      </a:pPr>
                      <a:r>
                        <a:rPr lang="en-US" sz="1150" dirty="0">
                          <a:solidFill>
                            <a:srgbClr val="36454F"/>
                          </a:solidFill>
                          <a:latin typeface="Calibri" pitchFamily="34" charset="0"/>
                          <a:ea typeface="Calibri" pitchFamily="34" charset="-122"/>
                          <a:cs typeface="Calibri" pitchFamily="34" charset="-120"/>
                        </a:rPr>
                        <a:t>0.0</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ctr" indent="0" marL="0">
                        <a:buNone/>
                      </a:pPr>
                      <a:r>
                        <a:rPr lang="en-US" sz="1150" dirty="0">
                          <a:solidFill>
                            <a:srgbClr val="36454F"/>
                          </a:solidFill>
                          <a:latin typeface="Calibri" pitchFamily="34" charset="0"/>
                          <a:ea typeface="Calibri" pitchFamily="34" charset="-122"/>
                          <a:cs typeface="Calibri" pitchFamily="34" charset="-120"/>
                        </a:rPr>
                        <a:t>-10.1</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ctr" indent="0" marL="0">
                        <a:buNone/>
                      </a:pPr>
                      <a:r>
                        <a:rPr lang="en-US" sz="1150" dirty="0">
                          <a:solidFill>
                            <a:srgbClr val="36454F"/>
                          </a:solidFill>
                          <a:latin typeface="Calibri" pitchFamily="34" charset="0"/>
                          <a:ea typeface="Calibri" pitchFamily="34" charset="-122"/>
                          <a:cs typeface="Calibri" pitchFamily="34" charset="-120"/>
                        </a:rPr>
                        <a:t>-21.2</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ctr" indent="0" marL="0">
                        <a:buNone/>
                      </a:pPr>
                      <a:r>
                        <a:rPr lang="en-US" sz="1150" dirty="0">
                          <a:solidFill>
                            <a:srgbClr val="36454F"/>
                          </a:solidFill>
                          <a:latin typeface="Calibri" pitchFamily="34" charset="0"/>
                          <a:ea typeface="Calibri" pitchFamily="34" charset="-122"/>
                          <a:cs typeface="Calibri" pitchFamily="34" charset="-120"/>
                        </a:rPr>
                        <a:t>-29.4</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ctr" indent="0" marL="0">
                        <a:buNone/>
                      </a:pPr>
                      <a:r>
                        <a:rPr lang="en-US" sz="1150" dirty="0">
                          <a:solidFill>
                            <a:srgbClr val="36454F"/>
                          </a:solidFill>
                          <a:latin typeface="Calibri" pitchFamily="34" charset="0"/>
                          <a:ea typeface="Calibri" pitchFamily="34" charset="-122"/>
                          <a:cs typeface="Calibri" pitchFamily="34" charset="-120"/>
                        </a:rPr>
                        <a:t>-36.1</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ctr" indent="0" marL="0">
                        <a:buNone/>
                      </a:pPr>
                      <a:r>
                        <a:rPr lang="en-US" sz="1150" b="1" dirty="0">
                          <a:solidFill>
                            <a:srgbClr val="EB6834"/>
                          </a:solidFill>
                          <a:latin typeface="Calibri" pitchFamily="34" charset="0"/>
                          <a:ea typeface="Calibri" pitchFamily="34" charset="-122"/>
                          <a:cs typeface="Calibri" pitchFamily="34" charset="-120"/>
                        </a:rPr>
                        <a:t>-71.0</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r>
            </a:tbl>
          </a:graphicData>
        </a:graphic>
      </p:graphicFrame>
      <p:sp>
        <p:nvSpPr>
          <p:cNvPr id="8" name="Shape 4"/>
          <p:cNvSpPr/>
          <p:nvPr/>
        </p:nvSpPr>
        <p:spPr>
          <a:xfrm>
            <a:off x="7863840" y="4626864"/>
            <a:ext cx="3749040" cy="1389888"/>
          </a:xfrm>
          <a:prstGeom prst="roundRect">
            <a:avLst>
              <a:gd name="adj" fmla="val 3947"/>
            </a:avLst>
          </a:prstGeom>
          <a:solidFill>
            <a:srgbClr val="F2F2F2"/>
          </a:solidFill>
          <a:ln/>
        </p:spPr>
      </p:sp>
      <p:sp>
        <p:nvSpPr>
          <p:cNvPr id="9" name="Text 5"/>
          <p:cNvSpPr txBox="1"/>
          <p:nvPr/>
        </p:nvSpPr>
        <p:spPr>
          <a:xfrm>
            <a:off x="8046720" y="4754880"/>
            <a:ext cx="3383280" cy="1152144"/>
          </a:xfrm>
          <a:prstGeom prst="rect">
            <a:avLst/>
          </a:prstGeom>
          <a:noFill/>
          <a:ln/>
        </p:spPr>
        <p:txBody>
          <a:bodyPr wrap="square" lIns="0" tIns="0" rIns="0" bIns="0" rtlCol="0" anchor="t"/>
          <a:lstStyle/>
          <a:p>
            <a:pPr indent="0" marL="0">
              <a:buNone/>
            </a:pPr>
            <a:r>
              <a:rPr lang="en-US" sz="1300" b="1" dirty="0">
                <a:solidFill>
                  <a:srgbClr val="36454F"/>
                </a:solidFill>
                <a:latin typeface="Calibri" pitchFamily="34" charset="0"/>
                <a:ea typeface="Calibri" pitchFamily="34" charset="-122"/>
                <a:cs typeface="Calibri" pitchFamily="34" charset="-120"/>
              </a:rPr>
              <a:t>Quote σ1/σ5, not σ1/σ6
</a:t>
            </a:r>
            <a:pPr indent="0" marL="0">
              <a:buNone/>
            </a:pPr>
            <a:r>
              <a:rPr lang="en-US" sz="1150" dirty="0">
                <a:solidFill>
                  <a:srgbClr val="5E6B73"/>
                </a:solidFill>
                <a:latin typeface="Calibri" pitchFamily="34" charset="0"/>
                <a:ea typeface="Calibri" pitchFamily="34" charset="-122"/>
                <a:cs typeface="Calibri" pitchFamily="34" charset="-120"/>
              </a:rPr>
              <a:t>Real conditioning is 68 (analytic), 64 (measured). The cond(H) column in the report is σ1/σ6 ≈ 3567 — that is the identification noise floor, which is why it scatters ten-fold.</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10896"/>
            <a:ext cx="10332720" cy="658368"/>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What was run</a:t>
            </a:r>
            <a:endParaRPr lang="en-US" sz="3000" dirty="0"/>
          </a:p>
        </p:txBody>
      </p:sp>
      <p:sp>
        <p:nvSpPr>
          <p:cNvPr id="3" name="Text 1"/>
          <p:cNvSpPr txBox="1"/>
          <p:nvPr/>
        </p:nvSpPr>
        <p:spPr>
          <a:xfrm>
            <a:off x="548640" y="969264"/>
            <a:ext cx="10332720" cy="384048"/>
          </a:xfrm>
          <a:prstGeom prst="rect">
            <a:avLst/>
          </a:prstGeom>
          <a:noFill/>
          <a:ln/>
        </p:spPr>
        <p:txBody>
          <a:bodyPr wrap="square" lIns="0" tIns="0" rIns="0" bIns="0" rtlCol="0" anchor="ctr"/>
          <a:lstStyle/>
          <a:p>
            <a:pPr indent="0" marL="0">
              <a:buNone/>
            </a:pPr>
            <a:r>
              <a:rPr lang="en-US" sz="1500" dirty="0">
                <a:solidFill>
                  <a:srgbClr val="5E6B73"/>
                </a:solidFill>
                <a:latin typeface="Calibri" pitchFamily="34" charset="0"/>
                <a:ea typeface="Calibri" pitchFamily="34" charset="-122"/>
                <a:cs typeface="Calibri" pitchFamily="34" charset="-120"/>
              </a:rPr>
              <a:t>One plant, one configuration, twelve runs — comparability checked by machine</a:t>
            </a:r>
            <a:endParaRPr lang="en-US" sz="1500" dirty="0"/>
          </a:p>
        </p:txBody>
      </p:sp>
      <p:sp>
        <p:nvSpPr>
          <p:cNvPr id="4" name="Shape 2"/>
          <p:cNvSpPr/>
          <p:nvPr/>
        </p:nvSpPr>
        <p:spPr>
          <a:xfrm>
            <a:off x="11192256" y="347472"/>
            <a:ext cx="420624" cy="420624"/>
          </a:xfrm>
          <a:prstGeom prst="ellipse">
            <a:avLst/>
          </a:prstGeom>
          <a:solidFill>
            <a:srgbClr val="F2F2F2"/>
          </a:solidFill>
          <a:ln/>
        </p:spPr>
      </p:sp>
      <p:sp>
        <p:nvSpPr>
          <p:cNvPr id="5" name="Text 3"/>
          <p:cNvSpPr txBox="1"/>
          <p:nvPr/>
        </p:nvSpPr>
        <p:spPr>
          <a:xfrm>
            <a:off x="11192256" y="347472"/>
            <a:ext cx="420624" cy="420624"/>
          </a:xfrm>
          <a:prstGeom prst="rect">
            <a:avLst/>
          </a:prstGeom>
          <a:noFill/>
          <a:ln/>
        </p:spPr>
        <p:txBody>
          <a:bodyPr wrap="square" lIns="0" tIns="0" rIns="0" bIns="0" rtlCol="0" anchor="ctr"/>
          <a:lstStyle/>
          <a:p>
            <a:pPr algn="ctr" indent="0" marL="0">
              <a:buNone/>
            </a:pPr>
            <a:r>
              <a:rPr lang="en-US" sz="1300" b="1" dirty="0">
                <a:solidFill>
                  <a:srgbClr val="5E6B73"/>
                </a:solidFill>
                <a:latin typeface="Calibri" pitchFamily="34" charset="0"/>
                <a:ea typeface="Calibri" pitchFamily="34" charset="-122"/>
                <a:cs typeface="Calibri" pitchFamily="34" charset="-120"/>
              </a:rPr>
              <a:t>4</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572768"/>
          <a:ext cx="6583680" cy="914400"/>
        </p:xfrm>
        <a:graphic>
          <a:graphicData uri="http://schemas.openxmlformats.org/drawingml/2006/table">
            <a:tbl>
              <a:tblPr/>
              <a:tblGrid>
                <a:gridCol w="3657600"/>
                <a:gridCol w="1371600"/>
                <a:gridCol w="1554480"/>
              </a:tblGrid>
              <a:tr h="329184">
                <a:tc>
                  <a:txBody>
                    <a:bodyPr/>
                    <a:lstStyle/>
                    <a:p>
                      <a:pPr indent="0" marL="0">
                        <a:buNone/>
                      </a:pPr>
                      <a:r>
                        <a:rPr lang="en-US" sz="1200" b="1" dirty="0">
                          <a:solidFill>
                            <a:srgbClr val="36454F"/>
                          </a:solidFill>
                          <a:latin typeface="Calibri" pitchFamily="34" charset="0"/>
                          <a:ea typeface="Calibri" pitchFamily="34" charset="-122"/>
                          <a:cs typeface="Calibri" pitchFamily="34" charset="-120"/>
                        </a:rPr>
                        <a:t>Control law</a:t>
                      </a:r>
                      <a:endParaRPr lang="en-US" sz="120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solidFill>
                      <a:srgbClr val="F2F2F2"/>
                    </a:solidFill>
                  </a:tcPr>
                </a:tc>
                <a:tc>
                  <a:txBody>
                    <a:bodyPr/>
                    <a:lstStyle/>
                    <a:p>
                      <a:pPr indent="0" marL="0">
                        <a:buNone/>
                      </a:pPr>
                      <a:r>
                        <a:rPr lang="en-US" sz="1200" b="1" dirty="0">
                          <a:solidFill>
                            <a:srgbClr val="36454F"/>
                          </a:solidFill>
                          <a:latin typeface="Calibri" pitchFamily="34" charset="0"/>
                          <a:ea typeface="Calibri" pitchFamily="34" charset="-122"/>
                          <a:cs typeface="Calibri" pitchFamily="34" charset="-120"/>
                        </a:rPr>
                        <a:t>Loop</a:t>
                      </a:r>
                      <a:endParaRPr lang="en-US" sz="120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solidFill>
                      <a:srgbClr val="F2F2F2"/>
                    </a:solidFill>
                  </a:tcPr>
                </a:tc>
                <a:tc>
                  <a:txBody>
                    <a:bodyPr/>
                    <a:lstStyle/>
                    <a:p>
                      <a:pPr indent="0" marL="0">
                        <a:buNone/>
                      </a:pPr>
                      <a:r>
                        <a:rPr lang="en-US" sz="1200" b="1" dirty="0">
                          <a:solidFill>
                            <a:srgbClr val="36454F"/>
                          </a:solidFill>
                          <a:latin typeface="Calibri" pitchFamily="34" charset="0"/>
                          <a:ea typeface="Calibri" pitchFamily="34" charset="-122"/>
                          <a:cs typeface="Calibri" pitchFamily="34" charset="-120"/>
                        </a:rPr>
                        <a:t>Runs (cap on / off)</a:t>
                      </a:r>
                      <a:endParaRPr lang="en-US" sz="120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solidFill>
                      <a:srgbClr val="F2F2F2"/>
                    </a:solidFill>
                  </a:tcPr>
                </a:tc>
              </a:tr>
              <a:tr h="329184">
                <a:tc>
                  <a:txBody>
                    <a:bodyPr/>
                    <a:lstStyle/>
                    <a:p>
                      <a:pPr indent="0" marL="0">
                        <a:buNone/>
                      </a:pPr>
                      <a:r>
                        <a:rPr lang="en-US" sz="1100" dirty="0">
                          <a:solidFill>
                            <a:srgbClr val="36454F"/>
                          </a:solidFill>
                          <a:latin typeface="Courier New" pitchFamily="34" charset="0"/>
                          <a:ea typeface="Courier New" pitchFamily="34" charset="-122"/>
                          <a:cs typeface="Courier New" pitchFamily="34" charset="-120"/>
                        </a:rPr>
                        <a:t>match_trace_pseudoinverse</a:t>
                      </a:r>
                      <a:endParaRPr lang="en-US" sz="1100" dirty="0">
                        <a:latin typeface="Courier New" charset="0"/>
                        <a:ea typeface="Courier New" charset="0"/>
                        <a:cs typeface="Courier New"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1200" b="1" dirty="0">
                          <a:solidFill>
                            <a:srgbClr val="2A78D6"/>
                          </a:solidFill>
                          <a:latin typeface="Calibri" pitchFamily="34" charset="0"/>
                          <a:ea typeface="Calibri" pitchFamily="34" charset="-122"/>
                          <a:cs typeface="Calibri" pitchFamily="34" charset="-120"/>
                        </a:rPr>
                        <a:t>feedback</a:t>
                      </a:r>
                      <a:endParaRPr lang="en-US" sz="120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1200" dirty="0">
                          <a:solidFill>
                            <a:srgbClr val="5E6B73"/>
                          </a:solidFill>
                          <a:latin typeface="Calibri" pitchFamily="34" charset="0"/>
                          <a:ea typeface="Calibri" pitchFamily="34" charset="-122"/>
                          <a:cs typeface="Calibri" pitchFamily="34" charset="-120"/>
                        </a:rPr>
                        <a:t>01 / 02</a:t>
                      </a:r>
                      <a:endParaRPr lang="en-US" sz="120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r>
              <a:tr h="329184">
                <a:tc>
                  <a:txBody>
                    <a:bodyPr/>
                    <a:lstStyle/>
                    <a:p>
                      <a:pPr indent="0" marL="0">
                        <a:buNone/>
                      </a:pPr>
                      <a:r>
                        <a:rPr lang="en-US" sz="1100" dirty="0">
                          <a:solidFill>
                            <a:srgbClr val="36454F"/>
                          </a:solidFill>
                          <a:latin typeface="Courier New" pitchFamily="34" charset="0"/>
                          <a:ea typeface="Courier New" pitchFamily="34" charset="-122"/>
                          <a:cs typeface="Courier New" pitchFamily="34" charset="-120"/>
                        </a:rPr>
                        <a:t>optimal_diagonal_control</a:t>
                      </a:r>
                      <a:endParaRPr lang="en-US" sz="1100" dirty="0">
                        <a:latin typeface="Courier New" charset="0"/>
                        <a:ea typeface="Courier New" charset="0"/>
                        <a:cs typeface="Courier New"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1200" b="1" dirty="0">
                          <a:solidFill>
                            <a:srgbClr val="2A78D6"/>
                          </a:solidFill>
                          <a:latin typeface="Calibri" pitchFamily="34" charset="0"/>
                          <a:ea typeface="Calibri" pitchFamily="34" charset="-122"/>
                          <a:cs typeface="Calibri" pitchFamily="34" charset="-120"/>
                        </a:rPr>
                        <a:t>feedback</a:t>
                      </a:r>
                      <a:endParaRPr lang="en-US" sz="120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1200" dirty="0">
                          <a:solidFill>
                            <a:srgbClr val="5E6B73"/>
                          </a:solidFill>
                          <a:latin typeface="Calibri" pitchFamily="34" charset="0"/>
                          <a:ea typeface="Calibri" pitchFamily="34" charset="-122"/>
                          <a:cs typeface="Calibri" pitchFamily="34" charset="-120"/>
                        </a:rPr>
                        <a:t>03 / 04</a:t>
                      </a:r>
                      <a:endParaRPr lang="en-US" sz="120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r>
              <a:tr h="329184">
                <a:tc>
                  <a:txBody>
                    <a:bodyPr/>
                    <a:lstStyle/>
                    <a:p>
                      <a:pPr indent="0" marL="0">
                        <a:buNone/>
                      </a:pPr>
                      <a:r>
                        <a:rPr lang="en-US" sz="1100" dirty="0">
                          <a:solidFill>
                            <a:srgbClr val="36454F"/>
                          </a:solidFill>
                          <a:latin typeface="Courier New" pitchFamily="34" charset="0"/>
                          <a:ea typeface="Courier New" pitchFamily="34" charset="-122"/>
                          <a:cs typeface="Courier New" pitchFamily="34" charset="-120"/>
                        </a:rPr>
                        <a:t>optimal_diagonal_control_fast</a:t>
                      </a:r>
                      <a:endParaRPr lang="en-US" sz="1100" dirty="0">
                        <a:latin typeface="Courier New" charset="0"/>
                        <a:ea typeface="Courier New" charset="0"/>
                        <a:cs typeface="Courier New"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1200" b="1" dirty="0">
                          <a:solidFill>
                            <a:srgbClr val="2A78D6"/>
                          </a:solidFill>
                          <a:latin typeface="Calibri" pitchFamily="34" charset="0"/>
                          <a:ea typeface="Calibri" pitchFamily="34" charset="-122"/>
                          <a:cs typeface="Calibri" pitchFamily="34" charset="-120"/>
                        </a:rPr>
                        <a:t>feedback</a:t>
                      </a:r>
                      <a:endParaRPr lang="en-US" sz="120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1200" dirty="0">
                          <a:solidFill>
                            <a:srgbClr val="5E6B73"/>
                          </a:solidFill>
                          <a:latin typeface="Calibri" pitchFamily="34" charset="0"/>
                          <a:ea typeface="Calibri" pitchFamily="34" charset="-122"/>
                          <a:cs typeface="Calibri" pitchFamily="34" charset="-120"/>
                        </a:rPr>
                        <a:t>05 / 06</a:t>
                      </a:r>
                      <a:endParaRPr lang="en-US" sz="120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r>
              <a:tr h="329184">
                <a:tc>
                  <a:txBody>
                    <a:bodyPr/>
                    <a:lstStyle/>
                    <a:p>
                      <a:pPr indent="0" marL="0">
                        <a:buNone/>
                      </a:pPr>
                      <a:r>
                        <a:rPr lang="en-US" sz="1100" dirty="0">
                          <a:solidFill>
                            <a:srgbClr val="36454F"/>
                          </a:solidFill>
                          <a:latin typeface="Courier New" pitchFamily="34" charset="0"/>
                          <a:ea typeface="Courier New" pitchFamily="34" charset="-122"/>
                          <a:cs typeface="Courier New" pitchFamily="34" charset="-120"/>
                        </a:rPr>
                        <a:t>match_diagonal_congruence</a:t>
                      </a:r>
                      <a:endParaRPr lang="en-US" sz="1100" dirty="0">
                        <a:latin typeface="Courier New" charset="0"/>
                        <a:ea typeface="Courier New" charset="0"/>
                        <a:cs typeface="Courier New"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1200" b="1" dirty="0">
                          <a:solidFill>
                            <a:srgbClr val="2A78D6"/>
                          </a:solidFill>
                          <a:latin typeface="Calibri" pitchFamily="34" charset="0"/>
                          <a:ea typeface="Calibri" pitchFamily="34" charset="-122"/>
                          <a:cs typeface="Calibri" pitchFamily="34" charset="-120"/>
                        </a:rPr>
                        <a:t>feedback</a:t>
                      </a:r>
                      <a:endParaRPr lang="en-US" sz="120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1200" dirty="0">
                          <a:solidFill>
                            <a:srgbClr val="5E6B73"/>
                          </a:solidFill>
                          <a:latin typeface="Calibri" pitchFamily="34" charset="0"/>
                          <a:ea typeface="Calibri" pitchFamily="34" charset="-122"/>
                          <a:cs typeface="Calibri" pitchFamily="34" charset="-120"/>
                        </a:rPr>
                        <a:t>07 / 08</a:t>
                      </a:r>
                      <a:endParaRPr lang="en-US" sz="120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r>
              <a:tr h="329184">
                <a:tc>
                  <a:txBody>
                    <a:bodyPr/>
                    <a:lstStyle/>
                    <a:p>
                      <a:pPr indent="0" marL="0">
                        <a:buNone/>
                      </a:pPr>
                      <a:r>
                        <a:rPr lang="en-US" sz="1100" dirty="0">
                          <a:solidFill>
                            <a:srgbClr val="36454F"/>
                          </a:solidFill>
                          <a:latin typeface="Courier New" pitchFamily="34" charset="0"/>
                          <a:ea typeface="Courier New" pitchFamily="34" charset="-122"/>
                          <a:cs typeface="Courier New" pitchFamily="34" charset="-120"/>
                        </a:rPr>
                        <a:t>pseudoinverse_control</a:t>
                      </a:r>
                      <a:endParaRPr lang="en-US" sz="1100" dirty="0">
                        <a:latin typeface="Courier New" charset="0"/>
                        <a:ea typeface="Courier New" charset="0"/>
                        <a:cs typeface="Courier New"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1200" b="1" dirty="0">
                          <a:solidFill>
                            <a:srgbClr val="EB6834"/>
                          </a:solidFill>
                          <a:latin typeface="Calibri" pitchFamily="34" charset="0"/>
                          <a:ea typeface="Calibri" pitchFamily="34" charset="-122"/>
                          <a:cs typeface="Calibri" pitchFamily="34" charset="-120"/>
                        </a:rPr>
                        <a:t>open-loop</a:t>
                      </a:r>
                      <a:endParaRPr lang="en-US" sz="120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1200" dirty="0">
                          <a:solidFill>
                            <a:srgbClr val="5E6B73"/>
                          </a:solidFill>
                          <a:latin typeface="Calibri" pitchFamily="34" charset="0"/>
                          <a:ea typeface="Calibri" pitchFamily="34" charset="-122"/>
                          <a:cs typeface="Calibri" pitchFamily="34" charset="-120"/>
                        </a:rPr>
                        <a:t>09 / 10</a:t>
                      </a:r>
                      <a:endParaRPr lang="en-US" sz="120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r>
              <a:tr h="329184">
                <a:tc>
                  <a:txBody>
                    <a:bodyPr/>
                    <a:lstStyle/>
                    <a:p>
                      <a:pPr indent="0" marL="0">
                        <a:buNone/>
                      </a:pPr>
                      <a:r>
                        <a:rPr lang="en-US" sz="1100" dirty="0">
                          <a:solidFill>
                            <a:srgbClr val="36454F"/>
                          </a:solidFill>
                          <a:latin typeface="Courier New" pitchFamily="34" charset="0"/>
                          <a:ea typeface="Courier New" pitchFamily="34" charset="-122"/>
                          <a:cs typeface="Courier New" pitchFamily="34" charset="-120"/>
                        </a:rPr>
                        <a:t>buzz_control</a:t>
                      </a:r>
                      <a:endParaRPr lang="en-US" sz="1100" dirty="0">
                        <a:latin typeface="Courier New" charset="0"/>
                        <a:ea typeface="Courier New" charset="0"/>
                        <a:cs typeface="Courier New"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1200" b="1" dirty="0">
                          <a:solidFill>
                            <a:srgbClr val="EB6834"/>
                          </a:solidFill>
                          <a:latin typeface="Calibri" pitchFamily="34" charset="0"/>
                          <a:ea typeface="Calibri" pitchFamily="34" charset="-122"/>
                          <a:cs typeface="Calibri" pitchFamily="34" charset="-120"/>
                        </a:rPr>
                        <a:t>open-loop</a:t>
                      </a:r>
                      <a:endParaRPr lang="en-US" sz="120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1200" dirty="0">
                          <a:solidFill>
                            <a:srgbClr val="5E6B73"/>
                          </a:solidFill>
                          <a:latin typeface="Calibri" pitchFamily="34" charset="0"/>
                          <a:ea typeface="Calibri" pitchFamily="34" charset="-122"/>
                          <a:cs typeface="Calibri" pitchFamily="34" charset="-120"/>
                        </a:rPr>
                        <a:t>11 / 12</a:t>
                      </a:r>
                      <a:endParaRPr lang="en-US" sz="120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r>
            </a:tbl>
          </a:graphicData>
        </a:graphic>
      </p:graphicFrame>
      <p:sp>
        <p:nvSpPr>
          <p:cNvPr id="7" name="Shape 4"/>
          <p:cNvSpPr/>
          <p:nvPr/>
        </p:nvSpPr>
        <p:spPr>
          <a:xfrm>
            <a:off x="7498080" y="1572768"/>
            <a:ext cx="4114800" cy="2212848"/>
          </a:xfrm>
          <a:prstGeom prst="roundRect">
            <a:avLst>
              <a:gd name="adj" fmla="val 2479"/>
            </a:avLst>
          </a:prstGeom>
          <a:solidFill>
            <a:srgbClr val="F2F2F2"/>
          </a:solidFill>
          <a:ln/>
        </p:spPr>
      </p:sp>
      <p:sp>
        <p:nvSpPr>
          <p:cNvPr id="8" name="Text 5"/>
          <p:cNvSpPr txBox="1"/>
          <p:nvPr/>
        </p:nvSpPr>
        <p:spPr>
          <a:xfrm>
            <a:off x="7680960" y="1719072"/>
            <a:ext cx="3749040" cy="2377440"/>
          </a:xfrm>
          <a:prstGeom prst="rect">
            <a:avLst/>
          </a:prstGeom>
          <a:noFill/>
          <a:ln/>
        </p:spPr>
        <p:txBody>
          <a:bodyPr wrap="square" lIns="0" tIns="0" rIns="0" bIns="0" rtlCol="0" anchor="t"/>
          <a:lstStyle/>
          <a:p>
            <a:pPr indent="0" marL="0">
              <a:buNone/>
            </a:pPr>
            <a:r>
              <a:rPr lang="en-US" sz="1300" b="1" dirty="0">
                <a:solidFill>
                  <a:srgbClr val="36454F"/>
                </a:solidFill>
                <a:latin typeface="Calibri" pitchFamily="34" charset="0"/>
                <a:ea typeface="Calibri" pitchFamily="34" charset="-122"/>
                <a:cs typeface="Calibri" pitchFamily="34" charset="-120"/>
              </a:rPr>
              <a:t>Held fixed across all twelve
</a:t>
            </a:r>
            <a:endParaRPr lang="en-US" sz="1300" dirty="0"/>
          </a:p>
          <a:p>
            <a:pPr indent="0" marL="0">
              <a:buNone/>
            </a:pPr>
            <a:r>
              <a:rPr lang="en-US" sz="1100" dirty="0">
                <a:solidFill>
                  <a:srgbClr val="5E6B73"/>
                </a:solidFill>
                <a:latin typeface="Courier New" pitchFamily="34" charset="0"/>
                <a:ea typeface="Courier New" pitchFamily="34" charset="-122"/>
                <a:cs typeface="Courier New" pitchFamily="34" charset="-120"/>
              </a:rPr>
              <a:t>samples per frame    4096</a:t>
            </a:r>
            <a:endParaRPr lang="en-US" sz="1300" dirty="0"/>
          </a:p>
          <a:p>
            <a:pPr indent="0" marL="0">
              <a:buNone/>
            </a:pPr>
            <a:r>
              <a:rPr lang="en-US" sz="1100" dirty="0">
                <a:solidFill>
                  <a:srgbClr val="5E6B73"/>
                </a:solidFill>
                <a:latin typeface="Courier New" pitchFamily="34" charset="0"/>
                <a:ea typeface="Courier New" pitchFamily="34" charset="-122"/>
                <a:cs typeface="Courier New" pitchFamily="34" charset="-120"/>
              </a:rPr>
              <a:t>sample rate          4096 Hz</a:t>
            </a:r>
            <a:endParaRPr lang="en-US" sz="1300" dirty="0"/>
          </a:p>
          <a:p>
            <a:pPr indent="0" marL="0">
              <a:buNone/>
            </a:pPr>
            <a:r>
              <a:rPr lang="en-US" sz="1100" dirty="0">
                <a:solidFill>
                  <a:srgbClr val="5E6B73"/>
                </a:solidFill>
                <a:latin typeface="Courier New" pitchFamily="34" charset="0"/>
                <a:ea typeface="Courier New" pitchFamily="34" charset="-122"/>
                <a:cs typeface="Courier New" pitchFamily="34" charset="-120"/>
              </a:rPr>
              <a:t>frames in CPSD       20</a:t>
            </a:r>
            <a:endParaRPr lang="en-US" sz="1300" dirty="0"/>
          </a:p>
          <a:p>
            <a:pPr indent="0" marL="0">
              <a:buNone/>
            </a:pPr>
            <a:r>
              <a:rPr lang="en-US" sz="1100" dirty="0">
                <a:solidFill>
                  <a:srgbClr val="5E6B73"/>
                </a:solidFill>
                <a:latin typeface="Courier New" pitchFamily="34" charset="0"/>
                <a:ea typeface="Courier New" pitchFamily="34" charset="-122"/>
                <a:cs typeface="Courier New" pitchFamily="34" charset="-120"/>
              </a:rPr>
              <a:t>control averaging    Exponential 0.04</a:t>
            </a:r>
            <a:endParaRPr lang="en-US" sz="1300" dirty="0"/>
          </a:p>
          <a:p>
            <a:pPr indent="0" marL="0">
              <a:buNone/>
            </a:pPr>
            <a:r>
              <a:rPr lang="en-US" sz="1100" dirty="0">
                <a:solidFill>
                  <a:srgbClr val="5E6B73"/>
                </a:solidFill>
                <a:latin typeface="Courier New" pitchFamily="34" charset="0"/>
                <a:ea typeface="Courier New" pitchFamily="34" charset="-122"/>
                <a:cs typeface="Courier New" pitchFamily="34" charset="-120"/>
              </a:rPr>
              <a:t>update sys ID        Y</a:t>
            </a:r>
            <a:endParaRPr lang="en-US" sz="1300" dirty="0"/>
          </a:p>
          <a:p>
            <a:pPr indent="0" marL="0">
              <a:buNone/>
            </a:pPr>
            <a:r>
              <a:rPr lang="en-US" sz="1100" dirty="0">
                <a:solidFill>
                  <a:srgbClr val="5E6B73"/>
                </a:solidFill>
                <a:latin typeface="Courier New" pitchFamily="34" charset="0"/>
                <a:ea typeface="Courier New" pitchFamily="34" charset="-122"/>
                <a:cs typeface="Courier New" pitchFamily="34" charset="-120"/>
              </a:rPr>
              <a:t>sys ID averages      20</a:t>
            </a:r>
            <a:endParaRPr lang="en-US" sz="1300" dirty="0"/>
          </a:p>
          <a:p>
            <a:pPr indent="0" marL="0">
              <a:buNone/>
            </a:pPr>
            <a:r>
              <a:rPr lang="en-US" sz="1100" dirty="0">
                <a:solidFill>
                  <a:srgbClr val="5E6B73"/>
                </a:solidFill>
                <a:latin typeface="Courier New" pitchFamily="34" charset="0"/>
                <a:ea typeface="Courier New" pitchFamily="34" charset="-122"/>
                <a:cs typeface="Courier New" pitchFamily="34" charset="-120"/>
              </a:rPr>
              <a:t>sys ID level         1.0 V rms</a:t>
            </a:r>
            <a:endParaRPr lang="en-US" sz="1300" dirty="0"/>
          </a:p>
          <a:p>
            <a:pPr indent="0" marL="0">
              <a:buNone/>
            </a:pPr>
            <a:r>
              <a:rPr lang="en-US" sz="1100" dirty="0">
                <a:solidFill>
                  <a:srgbClr val="5E6B73"/>
                </a:solidFill>
                <a:latin typeface="Courier New" pitchFamily="34" charset="0"/>
                <a:ea typeface="Courier New" pitchFamily="34" charset="-122"/>
                <a:cs typeface="Courier New" pitchFamily="34" charset="-120"/>
              </a:rPr>
              <a:t>rcond                1e-3</a:t>
            </a:r>
            <a:endParaRPr lang="en-US" sz="1300" dirty="0"/>
          </a:p>
        </p:txBody>
      </p:sp>
      <p:sp>
        <p:nvSpPr>
          <p:cNvPr id="9" name="Text 6"/>
          <p:cNvSpPr txBox="1"/>
          <p:nvPr/>
        </p:nvSpPr>
        <p:spPr>
          <a:xfrm>
            <a:off x="548640" y="4498848"/>
            <a:ext cx="11064240" cy="822960"/>
          </a:xfrm>
          <a:prstGeom prst="rect">
            <a:avLst/>
          </a:prstGeom>
          <a:noFill/>
          <a:ln/>
        </p:spPr>
        <p:txBody>
          <a:bodyPr wrap="square" lIns="0" tIns="0" rIns="0" bIns="0" rtlCol="0" anchor="ctr"/>
          <a:lstStyle/>
          <a:p>
            <a:pPr indent="0" marL="0">
              <a:buNone/>
            </a:pPr>
            <a:r>
              <a:rPr lang="en-US" sz="1300" dirty="0">
                <a:solidFill>
                  <a:srgbClr val="5E6B73"/>
                </a:solidFill>
                <a:latin typeface="Calibri" pitchFamily="34" charset="0"/>
                <a:ea typeface="Calibri" pitchFamily="34" charset="-122"/>
                <a:cs typeface="Calibri" pitchFamily="34" charset="-120"/>
              </a:rPr>
              <a:t>23 settings are compared across runs by </a:t>
            </a:r>
            <a:pPr indent="0" marL="0">
              <a:buNone/>
            </a:pPr>
            <a:r>
              <a:rPr lang="en-US" sz="1300" dirty="0">
                <a:solidFill>
                  <a:srgbClr val="36454F"/>
                </a:solidFill>
                <a:latin typeface="Courier New" pitchFamily="34" charset="0"/>
                <a:ea typeface="Courier New" pitchFamily="34" charset="-122"/>
                <a:cs typeface="Courier New" pitchFamily="34" charset="-120"/>
              </a:rPr>
              <a:t>score_runs_sdynpy.py</a:t>
            </a:r>
            <a:pPr indent="0" marL="0">
              <a:buNone/>
            </a:pPr>
            <a:r>
              <a:rPr lang="en-US" sz="1300" dirty="0">
                <a:solidFill>
                  <a:srgbClr val="5E6B73"/>
                </a:solidFill>
                <a:latin typeface="Calibri" pitchFamily="34" charset="0"/>
                <a:ea typeface="Calibri" pitchFamily="34" charset="-122"/>
                <a:cs typeface="Calibri" pitchFamily="34" charset="-120"/>
              </a:rPr>
              <a:t>’s MUST_MATCH list. A mismatch raises a NOT-COMPARABLE warning rather than being scored silently — a response to an earlier campaign where sixteen runs turned out to span three different plants.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10896"/>
            <a:ext cx="10332720" cy="658368"/>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Results</a:t>
            </a:r>
            <a:endParaRPr lang="en-US" sz="3000" dirty="0"/>
          </a:p>
        </p:txBody>
      </p:sp>
      <p:sp>
        <p:nvSpPr>
          <p:cNvPr id="3" name="Text 1"/>
          <p:cNvSpPr txBox="1"/>
          <p:nvPr/>
        </p:nvSpPr>
        <p:spPr>
          <a:xfrm>
            <a:off x="548640" y="969264"/>
            <a:ext cx="10332720" cy="384048"/>
          </a:xfrm>
          <a:prstGeom prst="rect">
            <a:avLst/>
          </a:prstGeom>
          <a:noFill/>
          <a:ln/>
        </p:spPr>
        <p:txBody>
          <a:bodyPr wrap="square" lIns="0" tIns="0" rIns="0" bIns="0" rtlCol="0" anchor="ctr"/>
          <a:lstStyle/>
          <a:p>
            <a:pPr indent="0" marL="0">
              <a:buNone/>
            </a:pPr>
            <a:r>
              <a:rPr lang="en-US" sz="1500" dirty="0">
                <a:solidFill>
                  <a:srgbClr val="5E6B73"/>
                </a:solidFill>
                <a:latin typeface="Calibri" pitchFamily="34" charset="0"/>
                <a:ea typeface="Calibri" pitchFamily="34" charset="-122"/>
                <a:cs typeface="Calibri" pitchFamily="34" charset="-120"/>
              </a:rPr>
              <a:t>Scored against the flat specification, and against what the plant can deliver</a:t>
            </a:r>
            <a:endParaRPr lang="en-US" sz="1500" dirty="0"/>
          </a:p>
        </p:txBody>
      </p:sp>
      <p:sp>
        <p:nvSpPr>
          <p:cNvPr id="4" name="Shape 2"/>
          <p:cNvSpPr/>
          <p:nvPr/>
        </p:nvSpPr>
        <p:spPr>
          <a:xfrm>
            <a:off x="11192256" y="347472"/>
            <a:ext cx="420624" cy="420624"/>
          </a:xfrm>
          <a:prstGeom prst="ellipse">
            <a:avLst/>
          </a:prstGeom>
          <a:solidFill>
            <a:srgbClr val="F2F2F2"/>
          </a:solidFill>
          <a:ln/>
        </p:spPr>
      </p:sp>
      <p:sp>
        <p:nvSpPr>
          <p:cNvPr id="5" name="Text 3"/>
          <p:cNvSpPr txBox="1"/>
          <p:nvPr/>
        </p:nvSpPr>
        <p:spPr>
          <a:xfrm>
            <a:off x="11192256" y="347472"/>
            <a:ext cx="420624" cy="420624"/>
          </a:xfrm>
          <a:prstGeom prst="rect">
            <a:avLst/>
          </a:prstGeom>
          <a:noFill/>
          <a:ln/>
        </p:spPr>
        <p:txBody>
          <a:bodyPr wrap="square" lIns="0" tIns="0" rIns="0" bIns="0" rtlCol="0" anchor="ctr"/>
          <a:lstStyle/>
          <a:p>
            <a:pPr algn="ctr" indent="0" marL="0">
              <a:buNone/>
            </a:pPr>
            <a:r>
              <a:rPr lang="en-US" sz="1300" b="1" dirty="0">
                <a:solidFill>
                  <a:srgbClr val="5E6B73"/>
                </a:solidFill>
                <a:latin typeface="Calibri" pitchFamily="34" charset="0"/>
                <a:ea typeface="Calibri" pitchFamily="34" charset="-122"/>
                <a:cs typeface="Calibri" pitchFamily="34" charset="-120"/>
              </a:rPr>
              <a:t>5</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517904"/>
          <a:ext cx="11064240" cy="914400"/>
        </p:xfrm>
        <a:graphic>
          <a:graphicData uri="http://schemas.openxmlformats.org/drawingml/2006/table">
            <a:tbl>
              <a:tblPr/>
              <a:tblGrid>
                <a:gridCol w="658368"/>
                <a:gridCol w="2761488"/>
                <a:gridCol w="658368"/>
                <a:gridCol w="566928"/>
                <a:gridCol w="932688"/>
                <a:gridCol w="841248"/>
                <a:gridCol w="1024128"/>
                <a:gridCol w="1207008"/>
                <a:gridCol w="932688"/>
              </a:tblGrid>
              <a:tr h="269748">
                <a:tc>
                  <a:txBody>
                    <a:bodyPr/>
                    <a:lstStyle/>
                    <a:p>
                      <a:pPr algn="l" indent="0" marL="0">
                        <a:buNone/>
                      </a:pPr>
                      <a:r>
                        <a:rPr lang="en-US" sz="1050" b="1" dirty="0">
                          <a:solidFill>
                            <a:srgbClr val="36454F"/>
                          </a:solidFill>
                          <a:latin typeface="Calibri" pitchFamily="34" charset="0"/>
                          <a:ea typeface="Calibri" pitchFamily="34" charset="-122"/>
                          <a:cs typeface="Calibri" pitchFamily="34" charset="-120"/>
                        </a:rPr>
                        <a:t>Run</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solidFill>
                      <a:srgbClr val="F2F2F2"/>
                    </a:solidFill>
                  </a:tcPr>
                </a:tc>
                <a:tc>
                  <a:txBody>
                    <a:bodyPr/>
                    <a:lstStyle/>
                    <a:p>
                      <a:pPr algn="l" indent="0" marL="0">
                        <a:buNone/>
                      </a:pPr>
                      <a:r>
                        <a:rPr lang="en-US" sz="1050" b="1" dirty="0">
                          <a:solidFill>
                            <a:srgbClr val="36454F"/>
                          </a:solidFill>
                          <a:latin typeface="Calibri" pitchFamily="34" charset="0"/>
                          <a:ea typeface="Calibri" pitchFamily="34" charset="-122"/>
                          <a:cs typeface="Calibri" pitchFamily="34" charset="-120"/>
                        </a:rPr>
                        <a:t>Law</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solidFill>
                      <a:srgbClr val="F2F2F2"/>
                    </a:solidFill>
                  </a:tcPr>
                </a:tc>
                <a:tc>
                  <a:txBody>
                    <a:bodyPr/>
                    <a:lstStyle/>
                    <a:p>
                      <a:pPr algn="l" indent="0" marL="0">
                        <a:buNone/>
                      </a:pPr>
                      <a:r>
                        <a:rPr lang="en-US" sz="1050" b="1" dirty="0">
                          <a:solidFill>
                            <a:srgbClr val="36454F"/>
                          </a:solidFill>
                          <a:latin typeface="Calibri" pitchFamily="34" charset="0"/>
                          <a:ea typeface="Calibri" pitchFamily="34" charset="-122"/>
                          <a:cs typeface="Calibri" pitchFamily="34" charset="-120"/>
                        </a:rPr>
                        <a:t>Loop</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solidFill>
                      <a:srgbClr val="F2F2F2"/>
                    </a:solidFill>
                  </a:tcPr>
                </a:tc>
                <a:tc>
                  <a:txBody>
                    <a:bodyPr/>
                    <a:lstStyle/>
                    <a:p>
                      <a:pPr algn="l" indent="0" marL="0">
                        <a:buNone/>
                      </a:pPr>
                      <a:r>
                        <a:rPr lang="en-US" sz="1050" b="1" dirty="0">
                          <a:solidFill>
                            <a:srgbClr val="36454F"/>
                          </a:solidFill>
                          <a:latin typeface="Calibri" pitchFamily="34" charset="0"/>
                          <a:ea typeface="Calibri" pitchFamily="34" charset="-122"/>
                          <a:cs typeface="Calibri" pitchFamily="34" charset="-120"/>
                        </a:rPr>
                        <a:t>Cap</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solidFill>
                      <a:srgbClr val="F2F2F2"/>
                    </a:solidFill>
                  </a:tcPr>
                </a:tc>
                <a:tc>
                  <a:txBody>
                    <a:bodyPr/>
                    <a:lstStyle/>
                    <a:p>
                      <a:pPr algn="r" indent="0" marL="0">
                        <a:buNone/>
                      </a:pPr>
                      <a:r>
                        <a:rPr lang="en-US" sz="1050" b="1" dirty="0">
                          <a:solidFill>
                            <a:srgbClr val="36454F"/>
                          </a:solidFill>
                          <a:latin typeface="Calibri" pitchFamily="34" charset="0"/>
                          <a:ea typeface="Calibri" pitchFamily="34" charset="-122"/>
                          <a:cs typeface="Calibri" pitchFamily="34" charset="-120"/>
                        </a:rPr>
                        <a:t>rms dB</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solidFill>
                      <a:srgbClr val="F2F2F2"/>
                    </a:solidFill>
                  </a:tcPr>
                </a:tc>
                <a:tc>
                  <a:txBody>
                    <a:bodyPr/>
                    <a:lstStyle/>
                    <a:p>
                      <a:pPr algn="r" indent="0" marL="0">
                        <a:buNone/>
                      </a:pPr>
                      <a:r>
                        <a:rPr lang="en-US" sz="1050" b="1" dirty="0">
                          <a:solidFill>
                            <a:srgbClr val="36454F"/>
                          </a:solidFill>
                          <a:latin typeface="Calibri" pitchFamily="34" charset="0"/>
                          <a:ea typeface="Calibri" pitchFamily="34" charset="-122"/>
                          <a:cs typeface="Calibri" pitchFamily="34" charset="-120"/>
                        </a:rPr>
                        <a:t>% out</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solidFill>
                      <a:srgbClr val="F2F2F2"/>
                    </a:solidFill>
                  </a:tcPr>
                </a:tc>
                <a:tc>
                  <a:txBody>
                    <a:bodyPr/>
                    <a:lstStyle/>
                    <a:p>
                      <a:pPr algn="r" indent="0" marL="0">
                        <a:buNone/>
                      </a:pPr>
                      <a:r>
                        <a:rPr lang="en-US" sz="1050" b="1" dirty="0">
                          <a:solidFill>
                            <a:srgbClr val="36454F"/>
                          </a:solidFill>
                          <a:latin typeface="Calibri" pitchFamily="34" charset="0"/>
                          <a:ea typeface="Calibri" pitchFamily="34" charset="-122"/>
                          <a:cs typeface="Calibri" pitchFamily="34" charset="-120"/>
                        </a:rPr>
                        <a:t>vs floor</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solidFill>
                      <a:srgbClr val="F2F2F2"/>
                    </a:solidFill>
                  </a:tcPr>
                </a:tc>
                <a:tc>
                  <a:txBody>
                    <a:bodyPr/>
                    <a:lstStyle/>
                    <a:p>
                      <a:pPr algn="r" indent="0" marL="0">
                        <a:buNone/>
                      </a:pPr>
                      <a:r>
                        <a:rPr lang="en-US" sz="1050" b="1" dirty="0">
                          <a:solidFill>
                            <a:srgbClr val="36454F"/>
                          </a:solidFill>
                          <a:latin typeface="Calibri" pitchFamily="34" charset="0"/>
                          <a:ea typeface="Calibri" pitchFamily="34" charset="-122"/>
                          <a:cs typeface="Calibri" pitchFamily="34" charset="-120"/>
                        </a:rPr>
                        <a:t>drive V²</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solidFill>
                      <a:srgbClr val="F2F2F2"/>
                    </a:solidFill>
                  </a:tcPr>
                </a:tc>
                <a:tc>
                  <a:txBody>
                    <a:bodyPr/>
                    <a:lstStyle/>
                    <a:p>
                      <a:pPr algn="r" indent="0" marL="0">
                        <a:buNone/>
                      </a:pPr>
                      <a:r>
                        <a:rPr lang="en-US" sz="1050" b="1" dirty="0">
                          <a:solidFill>
                            <a:srgbClr val="36454F"/>
                          </a:solidFill>
                          <a:latin typeface="Calibri" pitchFamily="34" charset="0"/>
                          <a:ea typeface="Calibri" pitchFamily="34" charset="-122"/>
                          <a:cs typeface="Calibri" pitchFamily="34" charset="-120"/>
                        </a:rPr>
                        <a:t>level dB</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solidFill>
                      <a:srgbClr val="F2F2F2"/>
                    </a:solidFill>
                  </a:tcPr>
                </a:tc>
              </a:tr>
              <a:tr h="269748">
                <a:tc>
                  <a:txBody>
                    <a:bodyPr/>
                    <a:lstStyle/>
                    <a:p>
                      <a:pPr indent="0" marL="0">
                        <a:buNone/>
                      </a:pPr>
                      <a:r>
                        <a:rPr lang="en-US" sz="1000" dirty="0">
                          <a:solidFill>
                            <a:srgbClr val="36454F"/>
                          </a:solidFill>
                          <a:latin typeface="Courier New" pitchFamily="34" charset="0"/>
                          <a:ea typeface="Courier New" pitchFamily="34" charset="-122"/>
                          <a:cs typeface="Courier New" pitchFamily="34" charset="-120"/>
                        </a:rPr>
                        <a:t>run01</a:t>
                      </a:r>
                      <a:endParaRPr lang="en-US" sz="1000" dirty="0">
                        <a:latin typeface="Courier New" charset="0"/>
                        <a:ea typeface="Courier New" charset="0"/>
                        <a:cs typeface="Courier New"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950" dirty="0">
                          <a:solidFill>
                            <a:srgbClr val="36454F"/>
                          </a:solidFill>
                          <a:latin typeface="Courier New" pitchFamily="34" charset="0"/>
                          <a:ea typeface="Courier New" pitchFamily="34" charset="-122"/>
                          <a:cs typeface="Courier New" pitchFamily="34" charset="-120"/>
                        </a:rPr>
                        <a:t>match_trace_pseudoinverse</a:t>
                      </a:r>
                      <a:endParaRPr lang="en-US" sz="950" dirty="0">
                        <a:latin typeface="Courier New" charset="0"/>
                        <a:ea typeface="Courier New" charset="0"/>
                        <a:cs typeface="Courier New"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1050" b="1" dirty="0">
                          <a:solidFill>
                            <a:srgbClr val="2A78D6"/>
                          </a:solidFill>
                          <a:latin typeface="Calibri" pitchFamily="34" charset="0"/>
                          <a:ea typeface="Calibri" pitchFamily="34" charset="-122"/>
                          <a:cs typeface="Calibri" pitchFamily="34" charset="-120"/>
                        </a:rPr>
                        <a:t>fbk</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1050" dirty="0">
                          <a:solidFill>
                            <a:srgbClr val="36454F"/>
                          </a:solidFill>
                          <a:latin typeface="Calibri" pitchFamily="34" charset="0"/>
                          <a:ea typeface="Calibri" pitchFamily="34" charset="-122"/>
                          <a:cs typeface="Calibri" pitchFamily="34" charset="-120"/>
                        </a:rPr>
                        <a:t>0.95</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8.22</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27.5</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7.16</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0.120</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+0.09</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r>
              <a:tr h="269748">
                <a:tc>
                  <a:txBody>
                    <a:bodyPr/>
                    <a:lstStyle/>
                    <a:p>
                      <a:pPr indent="0" marL="0">
                        <a:buNone/>
                      </a:pPr>
                      <a:r>
                        <a:rPr lang="en-US" sz="1000" dirty="0">
                          <a:solidFill>
                            <a:srgbClr val="36454F"/>
                          </a:solidFill>
                          <a:latin typeface="Courier New" pitchFamily="34" charset="0"/>
                          <a:ea typeface="Courier New" pitchFamily="34" charset="-122"/>
                          <a:cs typeface="Courier New" pitchFamily="34" charset="-120"/>
                        </a:rPr>
                        <a:t>run02</a:t>
                      </a:r>
                      <a:endParaRPr lang="en-US" sz="1000" dirty="0">
                        <a:latin typeface="Courier New" charset="0"/>
                        <a:ea typeface="Courier New" charset="0"/>
                        <a:cs typeface="Courier New"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950" dirty="0">
                          <a:solidFill>
                            <a:srgbClr val="36454F"/>
                          </a:solidFill>
                          <a:latin typeface="Courier New" pitchFamily="34" charset="0"/>
                          <a:ea typeface="Courier New" pitchFamily="34" charset="-122"/>
                          <a:cs typeface="Courier New" pitchFamily="34" charset="-120"/>
                        </a:rPr>
                        <a:t>match_trace_pseudoinverse</a:t>
                      </a:r>
                      <a:endParaRPr lang="en-US" sz="950" dirty="0">
                        <a:latin typeface="Courier New" charset="0"/>
                        <a:ea typeface="Courier New" charset="0"/>
                        <a:cs typeface="Courier New"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1050" b="1" dirty="0">
                          <a:solidFill>
                            <a:srgbClr val="2A78D6"/>
                          </a:solidFill>
                          <a:latin typeface="Calibri" pitchFamily="34" charset="0"/>
                          <a:ea typeface="Calibri" pitchFamily="34" charset="-122"/>
                          <a:cs typeface="Calibri" pitchFamily="34" charset="-120"/>
                        </a:rPr>
                        <a:t>fbk</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1050" dirty="0">
                          <a:solidFill>
                            <a:srgbClr val="36454F"/>
                          </a:solidFill>
                          <a:latin typeface="Calibri" pitchFamily="34" charset="0"/>
                          <a:ea typeface="Calibri" pitchFamily="34" charset="-122"/>
                          <a:cs typeface="Calibri" pitchFamily="34" charset="-120"/>
                        </a:rPr>
                        <a:t>off</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7.21</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21.1</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5.78</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6.02</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+0.05</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r>
              <a:tr h="269748">
                <a:tc>
                  <a:txBody>
                    <a:bodyPr/>
                    <a:lstStyle/>
                    <a:p>
                      <a:pPr indent="0" marL="0">
                        <a:buNone/>
                      </a:pPr>
                      <a:r>
                        <a:rPr lang="en-US" sz="1000" dirty="0">
                          <a:solidFill>
                            <a:srgbClr val="36454F"/>
                          </a:solidFill>
                          <a:latin typeface="Courier New" pitchFamily="34" charset="0"/>
                          <a:ea typeface="Courier New" pitchFamily="34" charset="-122"/>
                          <a:cs typeface="Courier New" pitchFamily="34" charset="-120"/>
                        </a:rPr>
                        <a:t>run03</a:t>
                      </a:r>
                      <a:endParaRPr lang="en-US" sz="1000" dirty="0">
                        <a:latin typeface="Courier New" charset="0"/>
                        <a:ea typeface="Courier New" charset="0"/>
                        <a:cs typeface="Courier New"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950" dirty="0">
                          <a:solidFill>
                            <a:srgbClr val="36454F"/>
                          </a:solidFill>
                          <a:latin typeface="Courier New" pitchFamily="34" charset="0"/>
                          <a:ea typeface="Courier New" pitchFamily="34" charset="-122"/>
                          <a:cs typeface="Courier New" pitchFamily="34" charset="-120"/>
                        </a:rPr>
                        <a:t>optimal_diagonal_control</a:t>
                      </a:r>
                      <a:endParaRPr lang="en-US" sz="950" dirty="0">
                        <a:latin typeface="Courier New" charset="0"/>
                        <a:ea typeface="Courier New" charset="0"/>
                        <a:cs typeface="Courier New"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1050" b="1" dirty="0">
                          <a:solidFill>
                            <a:srgbClr val="2A78D6"/>
                          </a:solidFill>
                          <a:latin typeface="Calibri" pitchFamily="34" charset="0"/>
                          <a:ea typeface="Calibri" pitchFamily="34" charset="-122"/>
                          <a:cs typeface="Calibri" pitchFamily="34" charset="-120"/>
                        </a:rPr>
                        <a:t>fbk</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1050" dirty="0">
                          <a:solidFill>
                            <a:srgbClr val="36454F"/>
                          </a:solidFill>
                          <a:latin typeface="Calibri" pitchFamily="34" charset="0"/>
                          <a:ea typeface="Calibri" pitchFamily="34" charset="-122"/>
                          <a:cs typeface="Calibri" pitchFamily="34" charset="-120"/>
                        </a:rPr>
                        <a:t>0.95</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5.62</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11.2</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3.99</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0.0747</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+0.08</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r>
              <a:tr h="269748">
                <a:tc>
                  <a:txBody>
                    <a:bodyPr/>
                    <a:lstStyle/>
                    <a:p>
                      <a:pPr indent="0" marL="0">
                        <a:buNone/>
                      </a:pPr>
                      <a:r>
                        <a:rPr lang="en-US" sz="1000" dirty="0">
                          <a:solidFill>
                            <a:srgbClr val="36454F"/>
                          </a:solidFill>
                          <a:latin typeface="Courier New" pitchFamily="34" charset="0"/>
                          <a:ea typeface="Courier New" pitchFamily="34" charset="-122"/>
                          <a:cs typeface="Courier New" pitchFamily="34" charset="-120"/>
                        </a:rPr>
                        <a:t>run04</a:t>
                      </a:r>
                      <a:endParaRPr lang="en-US" sz="1000" dirty="0">
                        <a:latin typeface="Courier New" charset="0"/>
                        <a:ea typeface="Courier New" charset="0"/>
                        <a:cs typeface="Courier New"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950" dirty="0">
                          <a:solidFill>
                            <a:srgbClr val="36454F"/>
                          </a:solidFill>
                          <a:latin typeface="Courier New" pitchFamily="34" charset="0"/>
                          <a:ea typeface="Courier New" pitchFamily="34" charset="-122"/>
                          <a:cs typeface="Courier New" pitchFamily="34" charset="-120"/>
                        </a:rPr>
                        <a:t>optimal_diagonal_control</a:t>
                      </a:r>
                      <a:endParaRPr lang="en-US" sz="950" dirty="0">
                        <a:latin typeface="Courier New" charset="0"/>
                        <a:ea typeface="Courier New" charset="0"/>
                        <a:cs typeface="Courier New"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1050" b="1" dirty="0">
                          <a:solidFill>
                            <a:srgbClr val="2A78D6"/>
                          </a:solidFill>
                          <a:latin typeface="Calibri" pitchFamily="34" charset="0"/>
                          <a:ea typeface="Calibri" pitchFamily="34" charset="-122"/>
                          <a:cs typeface="Calibri" pitchFamily="34" charset="-120"/>
                        </a:rPr>
                        <a:t>fbk</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1050" dirty="0">
                          <a:solidFill>
                            <a:srgbClr val="36454F"/>
                          </a:solidFill>
                          <a:latin typeface="Calibri" pitchFamily="34" charset="0"/>
                          <a:ea typeface="Calibri" pitchFamily="34" charset="-122"/>
                          <a:cs typeface="Calibri" pitchFamily="34" charset="-120"/>
                        </a:rPr>
                        <a:t>off</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5.62</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11.2</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3.99</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0.0790</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+0.41</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r>
              <a:tr h="269748">
                <a:tc>
                  <a:txBody>
                    <a:bodyPr/>
                    <a:lstStyle/>
                    <a:p>
                      <a:pPr indent="0" marL="0">
                        <a:buNone/>
                      </a:pPr>
                      <a:r>
                        <a:rPr lang="en-US" sz="1000" dirty="0">
                          <a:solidFill>
                            <a:srgbClr val="36454F"/>
                          </a:solidFill>
                          <a:latin typeface="Courier New" pitchFamily="34" charset="0"/>
                          <a:ea typeface="Courier New" pitchFamily="34" charset="-122"/>
                          <a:cs typeface="Courier New" pitchFamily="34" charset="-120"/>
                        </a:rPr>
                        <a:t>run05</a:t>
                      </a:r>
                      <a:endParaRPr lang="en-US" sz="1000" dirty="0">
                        <a:latin typeface="Courier New" charset="0"/>
                        <a:ea typeface="Courier New" charset="0"/>
                        <a:cs typeface="Courier New"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950" dirty="0">
                          <a:solidFill>
                            <a:srgbClr val="36454F"/>
                          </a:solidFill>
                          <a:latin typeface="Courier New" pitchFamily="34" charset="0"/>
                          <a:ea typeface="Courier New" pitchFamily="34" charset="-122"/>
                          <a:cs typeface="Courier New" pitchFamily="34" charset="-120"/>
                        </a:rPr>
                        <a:t>optimal_diagonal_control_fast</a:t>
                      </a:r>
                      <a:endParaRPr lang="en-US" sz="950" dirty="0">
                        <a:latin typeface="Courier New" charset="0"/>
                        <a:ea typeface="Courier New" charset="0"/>
                        <a:cs typeface="Courier New"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1050" b="1" dirty="0">
                          <a:solidFill>
                            <a:srgbClr val="2A78D6"/>
                          </a:solidFill>
                          <a:latin typeface="Calibri" pitchFamily="34" charset="0"/>
                          <a:ea typeface="Calibri" pitchFamily="34" charset="-122"/>
                          <a:cs typeface="Calibri" pitchFamily="34" charset="-120"/>
                        </a:rPr>
                        <a:t>fbk</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1050" dirty="0">
                          <a:solidFill>
                            <a:srgbClr val="36454F"/>
                          </a:solidFill>
                          <a:latin typeface="Calibri" pitchFamily="34" charset="0"/>
                          <a:ea typeface="Calibri" pitchFamily="34" charset="-122"/>
                          <a:cs typeface="Calibri" pitchFamily="34" charset="-120"/>
                        </a:rPr>
                        <a:t>0.95</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5.64</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10.9</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3.99</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0.0760</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+0.26</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r>
              <a:tr h="269748">
                <a:tc>
                  <a:txBody>
                    <a:bodyPr/>
                    <a:lstStyle/>
                    <a:p>
                      <a:pPr indent="0" marL="0">
                        <a:buNone/>
                      </a:pPr>
                      <a:r>
                        <a:rPr lang="en-US" sz="1000" dirty="0">
                          <a:solidFill>
                            <a:srgbClr val="36454F"/>
                          </a:solidFill>
                          <a:latin typeface="Courier New" pitchFamily="34" charset="0"/>
                          <a:ea typeface="Courier New" pitchFamily="34" charset="-122"/>
                          <a:cs typeface="Courier New" pitchFamily="34" charset="-120"/>
                        </a:rPr>
                        <a:t>run06</a:t>
                      </a:r>
                      <a:endParaRPr lang="en-US" sz="1000" dirty="0">
                        <a:latin typeface="Courier New" charset="0"/>
                        <a:ea typeface="Courier New" charset="0"/>
                        <a:cs typeface="Courier New"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950" dirty="0">
                          <a:solidFill>
                            <a:srgbClr val="36454F"/>
                          </a:solidFill>
                          <a:latin typeface="Courier New" pitchFamily="34" charset="0"/>
                          <a:ea typeface="Courier New" pitchFamily="34" charset="-122"/>
                          <a:cs typeface="Courier New" pitchFamily="34" charset="-120"/>
                        </a:rPr>
                        <a:t>optimal_diagonal_control_fast</a:t>
                      </a:r>
                      <a:endParaRPr lang="en-US" sz="950" dirty="0">
                        <a:latin typeface="Courier New" charset="0"/>
                        <a:ea typeface="Courier New" charset="0"/>
                        <a:cs typeface="Courier New"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1050" b="1" dirty="0">
                          <a:solidFill>
                            <a:srgbClr val="2A78D6"/>
                          </a:solidFill>
                          <a:latin typeface="Calibri" pitchFamily="34" charset="0"/>
                          <a:ea typeface="Calibri" pitchFamily="34" charset="-122"/>
                          <a:cs typeface="Calibri" pitchFamily="34" charset="-120"/>
                        </a:rPr>
                        <a:t>fbk</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1050" dirty="0">
                          <a:solidFill>
                            <a:srgbClr val="36454F"/>
                          </a:solidFill>
                          <a:latin typeface="Calibri" pitchFamily="34" charset="0"/>
                          <a:ea typeface="Calibri" pitchFamily="34" charset="-122"/>
                          <a:cs typeface="Calibri" pitchFamily="34" charset="-120"/>
                        </a:rPr>
                        <a:t>off</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5.66</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b="1" dirty="0">
                          <a:solidFill>
                            <a:srgbClr val="EB6834"/>
                          </a:solidFill>
                          <a:latin typeface="Calibri" pitchFamily="34" charset="0"/>
                          <a:ea typeface="Calibri" pitchFamily="34" charset="-122"/>
                          <a:cs typeface="Calibri" pitchFamily="34" charset="-120"/>
                        </a:rPr>
                        <a:t>10.7</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3.99</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0.0756</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+0.06</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r>
              <a:tr h="269748">
                <a:tc>
                  <a:txBody>
                    <a:bodyPr/>
                    <a:lstStyle/>
                    <a:p>
                      <a:pPr indent="0" marL="0">
                        <a:buNone/>
                      </a:pPr>
                      <a:r>
                        <a:rPr lang="en-US" sz="1000" dirty="0">
                          <a:solidFill>
                            <a:srgbClr val="36454F"/>
                          </a:solidFill>
                          <a:latin typeface="Courier New" pitchFamily="34" charset="0"/>
                          <a:ea typeface="Courier New" pitchFamily="34" charset="-122"/>
                          <a:cs typeface="Courier New" pitchFamily="34" charset="-120"/>
                        </a:rPr>
                        <a:t>run07</a:t>
                      </a:r>
                      <a:endParaRPr lang="en-US" sz="1000" dirty="0">
                        <a:latin typeface="Courier New" charset="0"/>
                        <a:ea typeface="Courier New" charset="0"/>
                        <a:cs typeface="Courier New"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950" dirty="0">
                          <a:solidFill>
                            <a:srgbClr val="36454F"/>
                          </a:solidFill>
                          <a:latin typeface="Courier New" pitchFamily="34" charset="0"/>
                          <a:ea typeface="Courier New" pitchFamily="34" charset="-122"/>
                          <a:cs typeface="Courier New" pitchFamily="34" charset="-120"/>
                        </a:rPr>
                        <a:t>match_diagonal_congruence</a:t>
                      </a:r>
                      <a:endParaRPr lang="en-US" sz="950" dirty="0">
                        <a:latin typeface="Courier New" charset="0"/>
                        <a:ea typeface="Courier New" charset="0"/>
                        <a:cs typeface="Courier New"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1050" b="1" dirty="0">
                          <a:solidFill>
                            <a:srgbClr val="2A78D6"/>
                          </a:solidFill>
                          <a:latin typeface="Calibri" pitchFamily="34" charset="0"/>
                          <a:ea typeface="Calibri" pitchFamily="34" charset="-122"/>
                          <a:cs typeface="Calibri" pitchFamily="34" charset="-120"/>
                        </a:rPr>
                        <a:t>fbk</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1050" dirty="0">
                          <a:solidFill>
                            <a:srgbClr val="36454F"/>
                          </a:solidFill>
                          <a:latin typeface="Calibri" pitchFamily="34" charset="0"/>
                          <a:ea typeface="Calibri" pitchFamily="34" charset="-122"/>
                          <a:cs typeface="Calibri" pitchFamily="34" charset="-120"/>
                        </a:rPr>
                        <a:t>0.95</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5.31</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19.8</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3.51</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0.0469</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+2.85</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r>
              <a:tr h="269748">
                <a:tc>
                  <a:txBody>
                    <a:bodyPr/>
                    <a:lstStyle/>
                    <a:p>
                      <a:pPr indent="0" marL="0">
                        <a:buNone/>
                      </a:pPr>
                      <a:r>
                        <a:rPr lang="en-US" sz="1000" dirty="0">
                          <a:solidFill>
                            <a:srgbClr val="36454F"/>
                          </a:solidFill>
                          <a:latin typeface="Courier New" pitchFamily="34" charset="0"/>
                          <a:ea typeface="Courier New" pitchFamily="34" charset="-122"/>
                          <a:cs typeface="Courier New" pitchFamily="34" charset="-120"/>
                        </a:rPr>
                        <a:t>run08</a:t>
                      </a:r>
                      <a:endParaRPr lang="en-US" sz="1000" dirty="0">
                        <a:latin typeface="Courier New" charset="0"/>
                        <a:ea typeface="Courier New" charset="0"/>
                        <a:cs typeface="Courier New"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950" dirty="0">
                          <a:solidFill>
                            <a:srgbClr val="36454F"/>
                          </a:solidFill>
                          <a:latin typeface="Courier New" pitchFamily="34" charset="0"/>
                          <a:ea typeface="Courier New" pitchFamily="34" charset="-122"/>
                          <a:cs typeface="Courier New" pitchFamily="34" charset="-120"/>
                        </a:rPr>
                        <a:t>match_diagonal_congruence</a:t>
                      </a:r>
                      <a:endParaRPr lang="en-US" sz="950" dirty="0">
                        <a:latin typeface="Courier New" charset="0"/>
                        <a:ea typeface="Courier New" charset="0"/>
                        <a:cs typeface="Courier New"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1050" b="1" dirty="0">
                          <a:solidFill>
                            <a:srgbClr val="2A78D6"/>
                          </a:solidFill>
                          <a:latin typeface="Calibri" pitchFamily="34" charset="0"/>
                          <a:ea typeface="Calibri" pitchFamily="34" charset="-122"/>
                          <a:cs typeface="Calibri" pitchFamily="34" charset="-120"/>
                        </a:rPr>
                        <a:t>fbk</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1050" dirty="0">
                          <a:solidFill>
                            <a:srgbClr val="36454F"/>
                          </a:solidFill>
                          <a:latin typeface="Calibri" pitchFamily="34" charset="0"/>
                          <a:ea typeface="Calibri" pitchFamily="34" charset="-122"/>
                          <a:cs typeface="Calibri" pitchFamily="34" charset="-120"/>
                        </a:rPr>
                        <a:t>off</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b="1" dirty="0">
                          <a:solidFill>
                            <a:srgbClr val="EB6834"/>
                          </a:solidFill>
                          <a:latin typeface="Calibri" pitchFamily="34" charset="0"/>
                          <a:ea typeface="Calibri" pitchFamily="34" charset="-122"/>
                          <a:cs typeface="Calibri" pitchFamily="34" charset="-120"/>
                        </a:rPr>
                        <a:t>5.23</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18.7</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b="1" dirty="0">
                          <a:solidFill>
                            <a:srgbClr val="EB6834"/>
                          </a:solidFill>
                          <a:latin typeface="Calibri" pitchFamily="34" charset="0"/>
                          <a:ea typeface="Calibri" pitchFamily="34" charset="-122"/>
                          <a:cs typeface="Calibri" pitchFamily="34" charset="-120"/>
                        </a:rPr>
                        <a:t>3.48</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0.211</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+2.78</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r>
              <a:tr h="269748">
                <a:tc>
                  <a:txBody>
                    <a:bodyPr/>
                    <a:lstStyle/>
                    <a:p>
                      <a:pPr indent="0" marL="0">
                        <a:buNone/>
                      </a:pPr>
                      <a:r>
                        <a:rPr lang="en-US" sz="1000" dirty="0">
                          <a:solidFill>
                            <a:srgbClr val="36454F"/>
                          </a:solidFill>
                          <a:latin typeface="Courier New" pitchFamily="34" charset="0"/>
                          <a:ea typeface="Courier New" pitchFamily="34" charset="-122"/>
                          <a:cs typeface="Courier New" pitchFamily="34" charset="-120"/>
                        </a:rPr>
                        <a:t>run09</a:t>
                      </a:r>
                      <a:endParaRPr lang="en-US" sz="1000" dirty="0">
                        <a:latin typeface="Courier New" charset="0"/>
                        <a:ea typeface="Courier New" charset="0"/>
                        <a:cs typeface="Courier New"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950" dirty="0">
                          <a:solidFill>
                            <a:srgbClr val="36454F"/>
                          </a:solidFill>
                          <a:latin typeface="Courier New" pitchFamily="34" charset="0"/>
                          <a:ea typeface="Courier New" pitchFamily="34" charset="-122"/>
                          <a:cs typeface="Courier New" pitchFamily="34" charset="-120"/>
                        </a:rPr>
                        <a:t>pseudoinverse_control</a:t>
                      </a:r>
                      <a:endParaRPr lang="en-US" sz="950" dirty="0">
                        <a:latin typeface="Courier New" charset="0"/>
                        <a:ea typeface="Courier New" charset="0"/>
                        <a:cs typeface="Courier New"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1050" b="1" dirty="0">
                          <a:solidFill>
                            <a:srgbClr val="EB6834"/>
                          </a:solidFill>
                          <a:latin typeface="Calibri" pitchFamily="34" charset="0"/>
                          <a:ea typeface="Calibri" pitchFamily="34" charset="-122"/>
                          <a:cs typeface="Calibri" pitchFamily="34" charset="-120"/>
                        </a:rPr>
                        <a:t>open</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1050" dirty="0">
                          <a:solidFill>
                            <a:srgbClr val="36454F"/>
                          </a:solidFill>
                          <a:latin typeface="Calibri" pitchFamily="34" charset="0"/>
                          <a:ea typeface="Calibri" pitchFamily="34" charset="-122"/>
                          <a:cs typeface="Calibri" pitchFamily="34" charset="-120"/>
                        </a:rPr>
                        <a:t>0.95</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10.47</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42.1</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9.55</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5.45</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+13.55</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r>
              <a:tr h="269748">
                <a:tc>
                  <a:txBody>
                    <a:bodyPr/>
                    <a:lstStyle/>
                    <a:p>
                      <a:pPr indent="0" marL="0">
                        <a:buNone/>
                      </a:pPr>
                      <a:r>
                        <a:rPr lang="en-US" sz="1000" dirty="0">
                          <a:solidFill>
                            <a:srgbClr val="36454F"/>
                          </a:solidFill>
                          <a:latin typeface="Courier New" pitchFamily="34" charset="0"/>
                          <a:ea typeface="Courier New" pitchFamily="34" charset="-122"/>
                          <a:cs typeface="Courier New" pitchFamily="34" charset="-120"/>
                        </a:rPr>
                        <a:t>run10</a:t>
                      </a:r>
                      <a:endParaRPr lang="en-US" sz="1000" dirty="0">
                        <a:latin typeface="Courier New" charset="0"/>
                        <a:ea typeface="Courier New" charset="0"/>
                        <a:cs typeface="Courier New"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950" dirty="0">
                          <a:solidFill>
                            <a:srgbClr val="36454F"/>
                          </a:solidFill>
                          <a:latin typeface="Courier New" pitchFamily="34" charset="0"/>
                          <a:ea typeface="Courier New" pitchFamily="34" charset="-122"/>
                          <a:cs typeface="Courier New" pitchFamily="34" charset="-120"/>
                        </a:rPr>
                        <a:t>pseudoinverse_control</a:t>
                      </a:r>
                      <a:endParaRPr lang="en-US" sz="950" dirty="0">
                        <a:latin typeface="Courier New" charset="0"/>
                        <a:ea typeface="Courier New" charset="0"/>
                        <a:cs typeface="Courier New"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1050" b="1" dirty="0">
                          <a:solidFill>
                            <a:srgbClr val="EB6834"/>
                          </a:solidFill>
                          <a:latin typeface="Calibri" pitchFamily="34" charset="0"/>
                          <a:ea typeface="Calibri" pitchFamily="34" charset="-122"/>
                          <a:cs typeface="Calibri" pitchFamily="34" charset="-120"/>
                        </a:rPr>
                        <a:t>open</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1050" dirty="0">
                          <a:solidFill>
                            <a:srgbClr val="36454F"/>
                          </a:solidFill>
                          <a:latin typeface="Calibri" pitchFamily="34" charset="0"/>
                          <a:ea typeface="Calibri" pitchFamily="34" charset="-122"/>
                          <a:cs typeface="Calibri" pitchFamily="34" charset="-120"/>
                        </a:rPr>
                        <a:t>off</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7.01</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17.8</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5.48</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5.38</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-1.28</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r>
              <a:tr h="269748">
                <a:tc>
                  <a:txBody>
                    <a:bodyPr/>
                    <a:lstStyle/>
                    <a:p>
                      <a:pPr indent="0" marL="0">
                        <a:buNone/>
                      </a:pPr>
                      <a:r>
                        <a:rPr lang="en-US" sz="1000" dirty="0">
                          <a:solidFill>
                            <a:srgbClr val="36454F"/>
                          </a:solidFill>
                          <a:latin typeface="Courier New" pitchFamily="34" charset="0"/>
                          <a:ea typeface="Courier New" pitchFamily="34" charset="-122"/>
                          <a:cs typeface="Courier New" pitchFamily="34" charset="-120"/>
                        </a:rPr>
                        <a:t>run11</a:t>
                      </a:r>
                      <a:endParaRPr lang="en-US" sz="1000" dirty="0">
                        <a:latin typeface="Courier New" charset="0"/>
                        <a:ea typeface="Courier New" charset="0"/>
                        <a:cs typeface="Courier New"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950" dirty="0">
                          <a:solidFill>
                            <a:srgbClr val="36454F"/>
                          </a:solidFill>
                          <a:latin typeface="Courier New" pitchFamily="34" charset="0"/>
                          <a:ea typeface="Courier New" pitchFamily="34" charset="-122"/>
                          <a:cs typeface="Courier New" pitchFamily="34" charset="-120"/>
                        </a:rPr>
                        <a:t>buzz_control</a:t>
                      </a:r>
                      <a:endParaRPr lang="en-US" sz="950" dirty="0">
                        <a:latin typeface="Courier New" charset="0"/>
                        <a:ea typeface="Courier New" charset="0"/>
                        <a:cs typeface="Courier New"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1050" b="1" dirty="0">
                          <a:solidFill>
                            <a:srgbClr val="EB6834"/>
                          </a:solidFill>
                          <a:latin typeface="Calibri" pitchFamily="34" charset="0"/>
                          <a:ea typeface="Calibri" pitchFamily="34" charset="-122"/>
                          <a:cs typeface="Calibri" pitchFamily="34" charset="-120"/>
                        </a:rPr>
                        <a:t>open</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1050" dirty="0">
                          <a:solidFill>
                            <a:srgbClr val="36454F"/>
                          </a:solidFill>
                          <a:latin typeface="Calibri" pitchFamily="34" charset="0"/>
                          <a:ea typeface="Calibri" pitchFamily="34" charset="-122"/>
                          <a:cs typeface="Calibri" pitchFamily="34" charset="-120"/>
                        </a:rPr>
                        <a:t>0.95</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7.90</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30.2</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6.75</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0.981</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+9.38</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r>
              <a:tr h="269748">
                <a:tc>
                  <a:txBody>
                    <a:bodyPr/>
                    <a:lstStyle/>
                    <a:p>
                      <a:pPr indent="0" marL="0">
                        <a:buNone/>
                      </a:pPr>
                      <a:r>
                        <a:rPr lang="en-US" sz="1000" dirty="0">
                          <a:solidFill>
                            <a:srgbClr val="36454F"/>
                          </a:solidFill>
                          <a:latin typeface="Courier New" pitchFamily="34" charset="0"/>
                          <a:ea typeface="Courier New" pitchFamily="34" charset="-122"/>
                          <a:cs typeface="Courier New" pitchFamily="34" charset="-120"/>
                        </a:rPr>
                        <a:t>run12</a:t>
                      </a:r>
                      <a:endParaRPr lang="en-US" sz="1000" dirty="0">
                        <a:latin typeface="Courier New" charset="0"/>
                        <a:ea typeface="Courier New" charset="0"/>
                        <a:cs typeface="Courier New"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950" dirty="0">
                          <a:solidFill>
                            <a:srgbClr val="36454F"/>
                          </a:solidFill>
                          <a:latin typeface="Courier New" pitchFamily="34" charset="0"/>
                          <a:ea typeface="Courier New" pitchFamily="34" charset="-122"/>
                          <a:cs typeface="Courier New" pitchFamily="34" charset="-120"/>
                        </a:rPr>
                        <a:t>buzz_control</a:t>
                      </a:r>
                      <a:endParaRPr lang="en-US" sz="950" dirty="0">
                        <a:latin typeface="Courier New" charset="0"/>
                        <a:ea typeface="Courier New" charset="0"/>
                        <a:cs typeface="Courier New"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1050" b="1" dirty="0">
                          <a:solidFill>
                            <a:srgbClr val="EB6834"/>
                          </a:solidFill>
                          <a:latin typeface="Calibri" pitchFamily="34" charset="0"/>
                          <a:ea typeface="Calibri" pitchFamily="34" charset="-122"/>
                          <a:cs typeface="Calibri" pitchFamily="34" charset="-120"/>
                        </a:rPr>
                        <a:t>open</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1050" dirty="0">
                          <a:solidFill>
                            <a:srgbClr val="36454F"/>
                          </a:solidFill>
                          <a:latin typeface="Calibri" pitchFamily="34" charset="0"/>
                          <a:ea typeface="Calibri" pitchFamily="34" charset="-122"/>
                          <a:cs typeface="Calibri" pitchFamily="34" charset="-120"/>
                        </a:rPr>
                        <a:t>off</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5.91</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13.6</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4.20</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1.47</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-0.30</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r>
            </a:tbl>
          </a:graphicData>
        </a:graphic>
      </p:graphicFrame>
      <p:sp>
        <p:nvSpPr>
          <p:cNvPr id="7" name="Text 4"/>
          <p:cNvSpPr txBox="1"/>
          <p:nvPr/>
        </p:nvSpPr>
        <p:spPr>
          <a:xfrm>
            <a:off x="548640" y="5394960"/>
            <a:ext cx="11064240" cy="457200"/>
          </a:xfrm>
          <a:prstGeom prst="rect">
            <a:avLst/>
          </a:prstGeom>
          <a:noFill/>
          <a:ln/>
        </p:spPr>
        <p:txBody>
          <a:bodyPr wrap="square" lIns="0" tIns="0" rIns="0" bIns="0" rtlCol="0" anchor="ctr"/>
          <a:lstStyle/>
          <a:p>
            <a:pPr indent="0" marL="0">
              <a:buNone/>
            </a:pPr>
            <a:r>
              <a:rPr lang="en-US" sz="1150" dirty="0">
                <a:solidFill>
                  <a:srgbClr val="8A959B"/>
                </a:solidFill>
                <a:latin typeface="Calibri" pitchFamily="34" charset="0"/>
                <a:ea typeface="Calibri" pitchFamily="34" charset="-122"/>
                <a:cs typeface="Calibri" pitchFamily="34" charset="-120"/>
              </a:rPr>
              <a:t>rms dB and % out score against the flat specification. vs floor scores against the best achievable response — the law’s own contribution. Orange marks the best value in each column.</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10896"/>
            <a:ext cx="10332720" cy="658368"/>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The coherence cap inverts by family</a:t>
            </a:r>
            <a:endParaRPr lang="en-US" sz="3000" dirty="0"/>
          </a:p>
        </p:txBody>
      </p:sp>
      <p:sp>
        <p:nvSpPr>
          <p:cNvPr id="3" name="Text 1"/>
          <p:cNvSpPr txBox="1"/>
          <p:nvPr/>
        </p:nvSpPr>
        <p:spPr>
          <a:xfrm>
            <a:off x="548640" y="969264"/>
            <a:ext cx="10332720" cy="384048"/>
          </a:xfrm>
          <a:prstGeom prst="rect">
            <a:avLst/>
          </a:prstGeom>
          <a:noFill/>
          <a:ln/>
        </p:spPr>
        <p:txBody>
          <a:bodyPr wrap="square" lIns="0" tIns="0" rIns="0" bIns="0" rtlCol="0" anchor="ctr"/>
          <a:lstStyle/>
          <a:p>
            <a:pPr indent="0" marL="0">
              <a:buNone/>
            </a:pPr>
            <a:r>
              <a:rPr lang="en-US" sz="1500" dirty="0">
                <a:solidFill>
                  <a:srgbClr val="5E6B73"/>
                </a:solidFill>
                <a:latin typeface="Calibri" pitchFamily="34" charset="0"/>
                <a:ea typeface="Calibri" pitchFamily="34" charset="-122"/>
                <a:cs typeface="Calibri" pitchFamily="34" charset="-120"/>
              </a:rPr>
              <a:t>Same parameter, opposite meaning for feedback and open-loop laws</a:t>
            </a:r>
            <a:endParaRPr lang="en-US" sz="1500" dirty="0"/>
          </a:p>
        </p:txBody>
      </p:sp>
      <p:sp>
        <p:nvSpPr>
          <p:cNvPr id="4" name="Shape 2"/>
          <p:cNvSpPr/>
          <p:nvPr/>
        </p:nvSpPr>
        <p:spPr>
          <a:xfrm>
            <a:off x="11192256" y="347472"/>
            <a:ext cx="420624" cy="420624"/>
          </a:xfrm>
          <a:prstGeom prst="ellipse">
            <a:avLst/>
          </a:prstGeom>
          <a:solidFill>
            <a:srgbClr val="F2F2F2"/>
          </a:solidFill>
          <a:ln/>
        </p:spPr>
      </p:sp>
      <p:sp>
        <p:nvSpPr>
          <p:cNvPr id="5" name="Text 3"/>
          <p:cNvSpPr txBox="1"/>
          <p:nvPr/>
        </p:nvSpPr>
        <p:spPr>
          <a:xfrm>
            <a:off x="11192256" y="347472"/>
            <a:ext cx="420624" cy="420624"/>
          </a:xfrm>
          <a:prstGeom prst="rect">
            <a:avLst/>
          </a:prstGeom>
          <a:noFill/>
          <a:ln/>
        </p:spPr>
        <p:txBody>
          <a:bodyPr wrap="square" lIns="0" tIns="0" rIns="0" bIns="0" rtlCol="0" anchor="ctr"/>
          <a:lstStyle/>
          <a:p>
            <a:pPr algn="ctr" indent="0" marL="0">
              <a:buNone/>
            </a:pPr>
            <a:r>
              <a:rPr lang="en-US" sz="1300" b="1" dirty="0">
                <a:solidFill>
                  <a:srgbClr val="5E6B73"/>
                </a:solidFill>
                <a:latin typeface="Calibri" pitchFamily="34" charset="0"/>
                <a:ea typeface="Calibri" pitchFamily="34" charset="-122"/>
                <a:cs typeface="Calibri" pitchFamily="34" charset="-120"/>
              </a:rPr>
              <a:t>6</a:t>
            </a:r>
            <a:endParaRPr lang="en-US" sz="1300" dirty="0"/>
          </a:p>
        </p:txBody>
      </p:sp>
      <p:pic>
        <p:nvPicPr>
          <p:cNvPr id="6" name="Image 0" descr="figs/cap_effect.png">    </p:cNvPr>
          <p:cNvPicPr>
            <a:picLocks noChangeAspect="1"/>
          </p:cNvPicPr>
          <p:nvPr/>
        </p:nvPicPr>
        <p:blipFill>
          <a:blip r:embed="rId1"/>
          <a:stretch>
            <a:fillRect/>
          </a:stretch>
        </p:blipFill>
        <p:spPr>
          <a:xfrm>
            <a:off x="548640" y="1426464"/>
            <a:ext cx="6919265" cy="2944368"/>
          </a:xfrm>
          <a:prstGeom prst="rect">
            <a:avLst/>
          </a:prstGeom>
        </p:spPr>
      </p:pic>
      <p:sp>
        <p:nvSpPr>
          <p:cNvPr id="7" name="Shape 4"/>
          <p:cNvSpPr/>
          <p:nvPr/>
        </p:nvSpPr>
        <p:spPr>
          <a:xfrm>
            <a:off x="548640" y="4718304"/>
            <a:ext cx="3017520" cy="1371600"/>
          </a:xfrm>
          <a:prstGeom prst="roundRect">
            <a:avLst>
              <a:gd name="adj" fmla="val 4000"/>
            </a:avLst>
          </a:prstGeom>
          <a:solidFill>
            <a:srgbClr val="F2F2F2"/>
          </a:solidFill>
          <a:ln/>
        </p:spPr>
      </p:sp>
      <p:sp>
        <p:nvSpPr>
          <p:cNvPr id="8" name="Text 5"/>
          <p:cNvSpPr txBox="1"/>
          <p:nvPr/>
        </p:nvSpPr>
        <p:spPr>
          <a:xfrm>
            <a:off x="694944" y="4864608"/>
            <a:ext cx="2724912" cy="621792"/>
          </a:xfrm>
          <a:prstGeom prst="rect">
            <a:avLst/>
          </a:prstGeom>
          <a:noFill/>
          <a:ln/>
        </p:spPr>
        <p:txBody>
          <a:bodyPr wrap="square" lIns="0" tIns="0" rIns="0" bIns="0" rtlCol="0" anchor="ctr"/>
          <a:lstStyle/>
          <a:p>
            <a:pPr algn="ctr" indent="0" marL="0">
              <a:buNone/>
            </a:pPr>
            <a:r>
              <a:rPr lang="en-US" sz="3000" b="1" dirty="0">
                <a:solidFill>
                  <a:srgbClr val="EB6834"/>
                </a:solidFill>
                <a:latin typeface="Cambria" pitchFamily="34" charset="0"/>
                <a:ea typeface="Cambria" pitchFamily="34" charset="-122"/>
                <a:cs typeface="Cambria" pitchFamily="34" charset="-120"/>
              </a:rPr>
              <a:t>−3.47 dB</a:t>
            </a:r>
            <a:endParaRPr lang="en-US" sz="3000" dirty="0"/>
          </a:p>
        </p:txBody>
      </p:sp>
      <p:sp>
        <p:nvSpPr>
          <p:cNvPr id="9" name="Text 6"/>
          <p:cNvSpPr txBox="1"/>
          <p:nvPr/>
        </p:nvSpPr>
        <p:spPr>
          <a:xfrm>
            <a:off x="694944" y="5486400"/>
            <a:ext cx="2724912" cy="493776"/>
          </a:xfrm>
          <a:prstGeom prst="rect">
            <a:avLst/>
          </a:prstGeom>
          <a:noFill/>
          <a:ln/>
        </p:spPr>
        <p:txBody>
          <a:bodyPr wrap="square" lIns="0" tIns="0" rIns="0" bIns="0" rtlCol="0" anchor="t"/>
          <a:lstStyle/>
          <a:p>
            <a:pPr algn="ctr" indent="0" marL="0">
              <a:buNone/>
            </a:pPr>
            <a:r>
              <a:rPr lang="en-US" sz="1100" dirty="0">
                <a:solidFill>
                  <a:srgbClr val="5E6B73"/>
                </a:solidFill>
                <a:latin typeface="Calibri" pitchFamily="34" charset="0"/>
                <a:ea typeface="Calibri" pitchFamily="34" charset="-122"/>
                <a:cs typeface="Calibri" pitchFamily="34" charset="-120"/>
              </a:rPr>
              <a:t>pseudoinverse_control</a:t>
            </a:r>
            <a:endParaRPr lang="en-US" sz="1100" dirty="0"/>
          </a:p>
          <a:p>
            <a:pPr algn="ctr" indent="0" marL="0">
              <a:buNone/>
            </a:pPr>
            <a:r>
              <a:rPr lang="en-US" sz="1100" dirty="0">
                <a:solidFill>
                  <a:srgbClr val="5E6B73"/>
                </a:solidFill>
                <a:latin typeface="Calibri" pitchFamily="34" charset="0"/>
                <a:ea typeface="Calibri" pitchFamily="34" charset="-122"/>
                <a:cs typeface="Calibri" pitchFamily="34" charset="-120"/>
              </a:rPr>
              <a:t>gains from cap off</a:t>
            </a:r>
            <a:endParaRPr lang="en-US" sz="1100" dirty="0"/>
          </a:p>
        </p:txBody>
      </p:sp>
      <p:sp>
        <p:nvSpPr>
          <p:cNvPr id="10" name="Shape 7"/>
          <p:cNvSpPr/>
          <p:nvPr/>
        </p:nvSpPr>
        <p:spPr>
          <a:xfrm>
            <a:off x="3749040" y="4718304"/>
            <a:ext cx="3017520" cy="1371600"/>
          </a:xfrm>
          <a:prstGeom prst="roundRect">
            <a:avLst>
              <a:gd name="adj" fmla="val 4000"/>
            </a:avLst>
          </a:prstGeom>
          <a:solidFill>
            <a:srgbClr val="F2F2F2"/>
          </a:solidFill>
          <a:ln/>
        </p:spPr>
      </p:sp>
      <p:sp>
        <p:nvSpPr>
          <p:cNvPr id="11" name="Text 8"/>
          <p:cNvSpPr txBox="1"/>
          <p:nvPr/>
        </p:nvSpPr>
        <p:spPr>
          <a:xfrm>
            <a:off x="3895344" y="4864608"/>
            <a:ext cx="2724912" cy="621792"/>
          </a:xfrm>
          <a:prstGeom prst="rect">
            <a:avLst/>
          </a:prstGeom>
          <a:noFill/>
          <a:ln/>
        </p:spPr>
        <p:txBody>
          <a:bodyPr wrap="square" lIns="0" tIns="0" rIns="0" bIns="0" rtlCol="0" anchor="ctr"/>
          <a:lstStyle/>
          <a:p>
            <a:pPr algn="ctr" indent="0" marL="0">
              <a:buNone/>
            </a:pPr>
            <a:r>
              <a:rPr lang="en-US" sz="3000" b="1" dirty="0">
                <a:solidFill>
                  <a:srgbClr val="EB6834"/>
                </a:solidFill>
                <a:latin typeface="Cambria" pitchFamily="34" charset="0"/>
                <a:ea typeface="Cambria" pitchFamily="34" charset="-122"/>
                <a:cs typeface="Cambria" pitchFamily="34" charset="-120"/>
              </a:rPr>
              <a:t>−1.99 dB</a:t>
            </a:r>
            <a:endParaRPr lang="en-US" sz="3000" dirty="0"/>
          </a:p>
        </p:txBody>
      </p:sp>
      <p:sp>
        <p:nvSpPr>
          <p:cNvPr id="12" name="Text 9"/>
          <p:cNvSpPr txBox="1"/>
          <p:nvPr/>
        </p:nvSpPr>
        <p:spPr>
          <a:xfrm>
            <a:off x="3895344" y="5486400"/>
            <a:ext cx="2724912" cy="493776"/>
          </a:xfrm>
          <a:prstGeom prst="rect">
            <a:avLst/>
          </a:prstGeom>
          <a:noFill/>
          <a:ln/>
        </p:spPr>
        <p:txBody>
          <a:bodyPr wrap="square" lIns="0" tIns="0" rIns="0" bIns="0" rtlCol="0" anchor="t"/>
          <a:lstStyle/>
          <a:p>
            <a:pPr algn="ctr" indent="0" marL="0">
              <a:buNone/>
            </a:pPr>
            <a:r>
              <a:rPr lang="en-US" sz="1100" dirty="0">
                <a:solidFill>
                  <a:srgbClr val="5E6B73"/>
                </a:solidFill>
                <a:latin typeface="Calibri" pitchFamily="34" charset="0"/>
                <a:ea typeface="Calibri" pitchFamily="34" charset="-122"/>
                <a:cs typeface="Calibri" pitchFamily="34" charset="-120"/>
              </a:rPr>
              <a:t>buzz_control</a:t>
            </a:r>
            <a:endParaRPr lang="en-US" sz="1100" dirty="0"/>
          </a:p>
          <a:p>
            <a:pPr algn="ctr" indent="0" marL="0">
              <a:buNone/>
            </a:pPr>
            <a:r>
              <a:rPr lang="en-US" sz="1100" dirty="0">
                <a:solidFill>
                  <a:srgbClr val="5E6B73"/>
                </a:solidFill>
                <a:latin typeface="Calibri" pitchFamily="34" charset="0"/>
                <a:ea typeface="Calibri" pitchFamily="34" charset="-122"/>
                <a:cs typeface="Calibri" pitchFamily="34" charset="-120"/>
              </a:rPr>
              <a:t>gains from cap off</a:t>
            </a:r>
            <a:endParaRPr lang="en-US" sz="1100" dirty="0"/>
          </a:p>
        </p:txBody>
      </p:sp>
      <p:sp>
        <p:nvSpPr>
          <p:cNvPr id="13" name="Shape 10"/>
          <p:cNvSpPr/>
          <p:nvPr/>
        </p:nvSpPr>
        <p:spPr>
          <a:xfrm>
            <a:off x="6949440" y="4718304"/>
            <a:ext cx="3017520" cy="1371600"/>
          </a:xfrm>
          <a:prstGeom prst="roundRect">
            <a:avLst>
              <a:gd name="adj" fmla="val 4000"/>
            </a:avLst>
          </a:prstGeom>
          <a:solidFill>
            <a:srgbClr val="F2F2F2"/>
          </a:solidFill>
          <a:ln/>
        </p:spPr>
      </p:sp>
      <p:sp>
        <p:nvSpPr>
          <p:cNvPr id="14" name="Text 11"/>
          <p:cNvSpPr txBox="1"/>
          <p:nvPr/>
        </p:nvSpPr>
        <p:spPr>
          <a:xfrm>
            <a:off x="7095744" y="4864608"/>
            <a:ext cx="2724912" cy="621792"/>
          </a:xfrm>
          <a:prstGeom prst="rect">
            <a:avLst/>
          </a:prstGeom>
          <a:noFill/>
          <a:ln/>
        </p:spPr>
        <p:txBody>
          <a:bodyPr wrap="square" lIns="0" tIns="0" rIns="0" bIns="0" rtlCol="0" anchor="ctr"/>
          <a:lstStyle/>
          <a:p>
            <a:pPr algn="ctr" indent="0" marL="0">
              <a:buNone/>
            </a:pPr>
            <a:r>
              <a:rPr lang="en-US" sz="3000" b="1" dirty="0">
                <a:solidFill>
                  <a:srgbClr val="2A78D6"/>
                </a:solidFill>
                <a:latin typeface="Cambria" pitchFamily="34" charset="0"/>
                <a:ea typeface="Cambria" pitchFamily="34" charset="-122"/>
                <a:cs typeface="Cambria" pitchFamily="34" charset="-120"/>
              </a:rPr>
              <a:t>≤ 0.08 dB</a:t>
            </a:r>
            <a:endParaRPr lang="en-US" sz="3000" dirty="0"/>
          </a:p>
        </p:txBody>
      </p:sp>
      <p:sp>
        <p:nvSpPr>
          <p:cNvPr id="15" name="Text 12"/>
          <p:cNvSpPr txBox="1"/>
          <p:nvPr/>
        </p:nvSpPr>
        <p:spPr>
          <a:xfrm>
            <a:off x="7095744" y="5486400"/>
            <a:ext cx="2724912" cy="493776"/>
          </a:xfrm>
          <a:prstGeom prst="rect">
            <a:avLst/>
          </a:prstGeom>
          <a:noFill/>
          <a:ln/>
        </p:spPr>
        <p:txBody>
          <a:bodyPr wrap="square" lIns="0" tIns="0" rIns="0" bIns="0" rtlCol="0" anchor="t"/>
          <a:lstStyle/>
          <a:p>
            <a:pPr algn="ctr" indent="0" marL="0">
              <a:buNone/>
            </a:pPr>
            <a:r>
              <a:rPr lang="en-US" sz="1100" dirty="0">
                <a:solidFill>
                  <a:srgbClr val="5E6B73"/>
                </a:solidFill>
                <a:latin typeface="Calibri" pitchFamily="34" charset="0"/>
                <a:ea typeface="Calibri" pitchFamily="34" charset="-122"/>
                <a:cs typeface="Calibri" pitchFamily="34" charset="-120"/>
              </a:rPr>
              <a:t>three of four feedback</a:t>
            </a:r>
            <a:endParaRPr lang="en-US" sz="1100" dirty="0"/>
          </a:p>
          <a:p>
            <a:pPr algn="ctr" indent="0" marL="0">
              <a:buNone/>
            </a:pPr>
            <a:r>
              <a:rPr lang="en-US" sz="1100" dirty="0">
                <a:solidFill>
                  <a:srgbClr val="5E6B73"/>
                </a:solidFill>
                <a:latin typeface="Calibri" pitchFamily="34" charset="0"/>
                <a:ea typeface="Calibri" pitchFamily="34" charset="-122"/>
                <a:cs typeface="Calibri" pitchFamily="34" charset="-120"/>
              </a:rPr>
              <a:t>laws move by this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10896"/>
            <a:ext cx="10332720" cy="658368"/>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Why the cap breaks the open-loop laws</a:t>
            </a:r>
            <a:endParaRPr lang="en-US" sz="3000" dirty="0"/>
          </a:p>
        </p:txBody>
      </p:sp>
      <p:sp>
        <p:nvSpPr>
          <p:cNvPr id="3" name="Text 1"/>
          <p:cNvSpPr txBox="1"/>
          <p:nvPr/>
        </p:nvSpPr>
        <p:spPr>
          <a:xfrm>
            <a:off x="548640" y="969264"/>
            <a:ext cx="10332720" cy="384048"/>
          </a:xfrm>
          <a:prstGeom prst="rect">
            <a:avLst/>
          </a:prstGeom>
          <a:noFill/>
          <a:ln/>
        </p:spPr>
        <p:txBody>
          <a:bodyPr wrap="square" lIns="0" tIns="0" rIns="0" bIns="0" rtlCol="0" anchor="ctr"/>
          <a:lstStyle/>
          <a:p>
            <a:pPr indent="0" marL="0">
              <a:buNone/>
            </a:pPr>
            <a:r>
              <a:rPr lang="en-US" sz="1500" dirty="0">
                <a:solidFill>
                  <a:srgbClr val="5E6B73"/>
                </a:solidFill>
                <a:latin typeface="Calibri" pitchFamily="34" charset="0"/>
                <a:ea typeface="Calibri" pitchFamily="34" charset="-122"/>
                <a:cs typeface="Calibri" pitchFamily="34" charset="-120"/>
              </a:rPr>
              <a:t>The drive correlation is not incidental — it is the solution</a:t>
            </a:r>
            <a:endParaRPr lang="en-US" sz="1500" dirty="0"/>
          </a:p>
        </p:txBody>
      </p:sp>
      <p:sp>
        <p:nvSpPr>
          <p:cNvPr id="4" name="Shape 2"/>
          <p:cNvSpPr/>
          <p:nvPr/>
        </p:nvSpPr>
        <p:spPr>
          <a:xfrm>
            <a:off x="11192256" y="347472"/>
            <a:ext cx="420624" cy="420624"/>
          </a:xfrm>
          <a:prstGeom prst="ellipse">
            <a:avLst/>
          </a:prstGeom>
          <a:solidFill>
            <a:srgbClr val="F2F2F2"/>
          </a:solidFill>
          <a:ln/>
        </p:spPr>
      </p:sp>
      <p:sp>
        <p:nvSpPr>
          <p:cNvPr id="5" name="Text 3"/>
          <p:cNvSpPr txBox="1"/>
          <p:nvPr/>
        </p:nvSpPr>
        <p:spPr>
          <a:xfrm>
            <a:off x="11192256" y="347472"/>
            <a:ext cx="420624" cy="420624"/>
          </a:xfrm>
          <a:prstGeom prst="rect">
            <a:avLst/>
          </a:prstGeom>
          <a:noFill/>
          <a:ln/>
        </p:spPr>
        <p:txBody>
          <a:bodyPr wrap="square" lIns="0" tIns="0" rIns="0" bIns="0" rtlCol="0" anchor="ctr"/>
          <a:lstStyle/>
          <a:p>
            <a:pPr algn="ctr" indent="0" marL="0">
              <a:buNone/>
            </a:pPr>
            <a:r>
              <a:rPr lang="en-US" sz="1300" b="1" dirty="0">
                <a:solidFill>
                  <a:srgbClr val="5E6B73"/>
                </a:solidFill>
                <a:latin typeface="Calibri" pitchFamily="34" charset="0"/>
                <a:ea typeface="Calibri" pitchFamily="34" charset="-122"/>
                <a:cs typeface="Calibri" pitchFamily="34" charset="-120"/>
              </a:rPr>
              <a:t>7</a:t>
            </a:r>
            <a:endParaRPr lang="en-US" sz="1300" dirty="0"/>
          </a:p>
        </p:txBody>
      </p:sp>
      <p:sp>
        <p:nvSpPr>
          <p:cNvPr id="6" name="Shape 4"/>
          <p:cNvSpPr/>
          <p:nvPr/>
        </p:nvSpPr>
        <p:spPr>
          <a:xfrm>
            <a:off x="548640" y="1609344"/>
            <a:ext cx="402336" cy="402336"/>
          </a:xfrm>
          <a:prstGeom prst="ellipse">
            <a:avLst/>
          </a:prstGeom>
          <a:solidFill>
            <a:srgbClr val="EB6834"/>
          </a:solidFill>
          <a:ln/>
        </p:spPr>
      </p:sp>
      <p:sp>
        <p:nvSpPr>
          <p:cNvPr id="7" name="Text 5"/>
          <p:cNvSpPr txBox="1"/>
          <p:nvPr/>
        </p:nvSpPr>
        <p:spPr>
          <a:xfrm>
            <a:off x="548640" y="16093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1152144" y="1572768"/>
            <a:ext cx="10460736" cy="310896"/>
          </a:xfrm>
          <a:prstGeom prst="rect">
            <a:avLst/>
          </a:prstGeom>
          <a:noFill/>
          <a:ln/>
        </p:spPr>
        <p:txBody>
          <a:bodyPr wrap="square" lIns="0" tIns="0" rIns="0" bIns="0" rtlCol="0" anchor="ctr"/>
          <a:lstStyle/>
          <a:p>
            <a:pPr indent="0" marL="0">
              <a:buNone/>
            </a:pPr>
            <a:r>
              <a:rPr lang="en-US" sz="1600" b="1" dirty="0">
                <a:solidFill>
                  <a:srgbClr val="36454F"/>
                </a:solidFill>
                <a:latin typeface="Calibri" pitchFamily="34" charset="0"/>
                <a:ea typeface="Calibri" pitchFamily="34" charset="-122"/>
                <a:cs typeface="Calibri" pitchFamily="34" charset="-120"/>
              </a:rPr>
              <a:t>The open-loop solve is nearly rank one</a:t>
            </a:r>
            <a:endParaRPr lang="en-US" sz="1600" dirty="0"/>
          </a:p>
        </p:txBody>
      </p:sp>
      <p:sp>
        <p:nvSpPr>
          <p:cNvPr id="9" name="Text 7"/>
          <p:cNvSpPr txBox="1"/>
          <p:nvPr/>
        </p:nvSpPr>
        <p:spPr>
          <a:xfrm>
            <a:off x="1152144" y="1901952"/>
            <a:ext cx="10460736" cy="402336"/>
          </a:xfrm>
          <a:prstGeom prst="rect">
            <a:avLst/>
          </a:prstGeom>
          <a:noFill/>
          <a:ln/>
        </p:spPr>
        <p:txBody>
          <a:bodyPr wrap="square" lIns="0" tIns="0" rIns="0" bIns="0" rtlCol="0" anchor="ctr"/>
          <a:lstStyle/>
          <a:p>
            <a:pPr indent="0" marL="0">
              <a:buNone/>
            </a:pPr>
            <a:r>
              <a:rPr lang="en-US" sz="1300" dirty="0">
                <a:solidFill>
                  <a:srgbClr val="5E6B73"/>
                </a:solidFill>
                <a:latin typeface="Calibri" pitchFamily="34" charset="0"/>
                <a:ea typeface="Calibri" pitchFamily="34" charset="-122"/>
                <a:cs typeface="Calibri" pitchFamily="34" charset="-120"/>
              </a:rPr>
              <a:t>Eigenvalue participation ratio 1.0–1.1 out of 6. The six shakers act as essentially one source.</a:t>
            </a:r>
            <a:endParaRPr lang="en-US" sz="1300" dirty="0"/>
          </a:p>
        </p:txBody>
      </p:sp>
      <p:sp>
        <p:nvSpPr>
          <p:cNvPr id="10" name="Shape 8"/>
          <p:cNvSpPr/>
          <p:nvPr/>
        </p:nvSpPr>
        <p:spPr>
          <a:xfrm>
            <a:off x="548640" y="2578608"/>
            <a:ext cx="402336" cy="402336"/>
          </a:xfrm>
          <a:prstGeom prst="ellipse">
            <a:avLst/>
          </a:prstGeom>
          <a:solidFill>
            <a:srgbClr val="EB6834"/>
          </a:solidFill>
          <a:ln/>
        </p:spPr>
      </p:sp>
      <p:sp>
        <p:nvSpPr>
          <p:cNvPr id="11" name="Text 9"/>
          <p:cNvSpPr txBox="1"/>
          <p:nvPr/>
        </p:nvSpPr>
        <p:spPr>
          <a:xfrm>
            <a:off x="548640" y="257860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txBox="1"/>
          <p:nvPr/>
        </p:nvSpPr>
        <p:spPr>
          <a:xfrm>
            <a:off x="1152144" y="2542032"/>
            <a:ext cx="10460736" cy="310896"/>
          </a:xfrm>
          <a:prstGeom prst="rect">
            <a:avLst/>
          </a:prstGeom>
          <a:noFill/>
          <a:ln/>
        </p:spPr>
        <p:txBody>
          <a:bodyPr wrap="square" lIns="0" tIns="0" rIns="0" bIns="0" rtlCol="0" anchor="ctr"/>
          <a:lstStyle/>
          <a:p>
            <a:pPr indent="0" marL="0">
              <a:buNone/>
            </a:pPr>
            <a:r>
              <a:rPr lang="en-US" sz="1600" b="1" dirty="0">
                <a:solidFill>
                  <a:srgbClr val="36454F"/>
                </a:solidFill>
                <a:latin typeface="Calibri" pitchFamily="34" charset="0"/>
                <a:ea typeface="Calibri" pitchFamily="34" charset="-122"/>
                <a:cs typeface="Calibri" pitchFamily="34" charset="-120"/>
              </a:rPr>
              <a:t>The responses cancel by precise inter-drive phasing</a:t>
            </a:r>
            <a:endParaRPr lang="en-US" sz="1600" dirty="0"/>
          </a:p>
        </p:txBody>
      </p:sp>
      <p:sp>
        <p:nvSpPr>
          <p:cNvPr id="13" name="Text 11"/>
          <p:cNvSpPr txBox="1"/>
          <p:nvPr/>
        </p:nvSpPr>
        <p:spPr>
          <a:xfrm>
            <a:off x="1152144" y="2871216"/>
            <a:ext cx="10460736" cy="402336"/>
          </a:xfrm>
          <a:prstGeom prst="rect">
            <a:avLst/>
          </a:prstGeom>
          <a:noFill/>
          <a:ln/>
        </p:spPr>
        <p:txBody>
          <a:bodyPr wrap="square" lIns="0" tIns="0" rIns="0" bIns="0" rtlCol="0" anchor="ctr"/>
          <a:lstStyle/>
          <a:p>
            <a:pPr indent="0" marL="0">
              <a:buNone/>
            </a:pPr>
            <a:r>
              <a:rPr lang="en-US" sz="1300" dirty="0">
                <a:solidFill>
                  <a:srgbClr val="5E6B73"/>
                </a:solidFill>
                <a:latin typeface="Calibri" pitchFamily="34" charset="0"/>
                <a:ea typeface="Calibri" pitchFamily="34" charset="-122"/>
                <a:cs typeface="Calibri" pitchFamily="34" charset="-120"/>
              </a:rPr>
              <a:t>That phasing is carried entirely in the off-diagonal terms of the drive CPSD.</a:t>
            </a:r>
            <a:endParaRPr lang="en-US" sz="1300" dirty="0"/>
          </a:p>
        </p:txBody>
      </p:sp>
      <p:sp>
        <p:nvSpPr>
          <p:cNvPr id="14" name="Shape 12"/>
          <p:cNvSpPr/>
          <p:nvPr/>
        </p:nvSpPr>
        <p:spPr>
          <a:xfrm>
            <a:off x="548640" y="3547872"/>
            <a:ext cx="402336" cy="402336"/>
          </a:xfrm>
          <a:prstGeom prst="ellipse">
            <a:avLst/>
          </a:prstGeom>
          <a:solidFill>
            <a:srgbClr val="EB6834"/>
          </a:solidFill>
          <a:ln/>
        </p:spPr>
      </p:sp>
      <p:sp>
        <p:nvSpPr>
          <p:cNvPr id="15" name="Text 13"/>
          <p:cNvSpPr txBox="1"/>
          <p:nvPr/>
        </p:nvSpPr>
        <p:spPr>
          <a:xfrm>
            <a:off x="548640" y="354787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4"/>
          <p:cNvSpPr txBox="1"/>
          <p:nvPr/>
        </p:nvSpPr>
        <p:spPr>
          <a:xfrm>
            <a:off x="1152144" y="3511296"/>
            <a:ext cx="10460736" cy="310896"/>
          </a:xfrm>
          <a:prstGeom prst="rect">
            <a:avLst/>
          </a:prstGeom>
          <a:noFill/>
          <a:ln/>
        </p:spPr>
        <p:txBody>
          <a:bodyPr wrap="square" lIns="0" tIns="0" rIns="0" bIns="0" rtlCol="0" anchor="ctr"/>
          <a:lstStyle/>
          <a:p>
            <a:pPr indent="0" marL="0">
              <a:buNone/>
            </a:pPr>
            <a:r>
              <a:rPr lang="en-US" sz="1600" b="1" dirty="0">
                <a:solidFill>
                  <a:srgbClr val="36454F"/>
                </a:solidFill>
                <a:latin typeface="Calibri" pitchFamily="34" charset="0"/>
                <a:ea typeface="Calibri" pitchFamily="34" charset="-122"/>
                <a:cs typeface="Calibri" pitchFamily="34" charset="-120"/>
              </a:rPr>
              <a:t>The cap shrinks off-diagonals, preserves the diagonal</a:t>
            </a:r>
            <a:endParaRPr lang="en-US" sz="1600" dirty="0"/>
          </a:p>
        </p:txBody>
      </p:sp>
      <p:sp>
        <p:nvSpPr>
          <p:cNvPr id="17" name="Text 15"/>
          <p:cNvSpPr txBox="1"/>
          <p:nvPr/>
        </p:nvSpPr>
        <p:spPr>
          <a:xfrm>
            <a:off x="1152144" y="3840480"/>
            <a:ext cx="10460736" cy="402336"/>
          </a:xfrm>
          <a:prstGeom prst="rect">
            <a:avLst/>
          </a:prstGeom>
          <a:noFill/>
          <a:ln/>
        </p:spPr>
        <p:txBody>
          <a:bodyPr wrap="square" lIns="0" tIns="0" rIns="0" bIns="0" rtlCol="0" anchor="ctr"/>
          <a:lstStyle/>
          <a:p>
            <a:pPr indent="0" marL="0">
              <a:buNone/>
            </a:pPr>
            <a:r>
              <a:rPr lang="en-US" sz="1300" dirty="0">
                <a:solidFill>
                  <a:srgbClr val="5E6B73"/>
                </a:solidFill>
                <a:latin typeface="Calibri" pitchFamily="34" charset="0"/>
                <a:ea typeface="Calibri" pitchFamily="34" charset="-122"/>
                <a:cs typeface="Calibri" pitchFamily="34" charset="-120"/>
              </a:rPr>
              <a:t>Drive power barely changes — but the cancellation is destroyed and responses add incoherently.</a:t>
            </a:r>
            <a:endParaRPr lang="en-US" sz="1300" dirty="0"/>
          </a:p>
        </p:txBody>
      </p:sp>
      <p:sp>
        <p:nvSpPr>
          <p:cNvPr id="18" name="Shape 16"/>
          <p:cNvSpPr/>
          <p:nvPr/>
        </p:nvSpPr>
        <p:spPr>
          <a:xfrm>
            <a:off x="548640" y="4517136"/>
            <a:ext cx="402336" cy="402336"/>
          </a:xfrm>
          <a:prstGeom prst="ellipse">
            <a:avLst/>
          </a:prstGeom>
          <a:solidFill>
            <a:srgbClr val="EB6834"/>
          </a:solidFill>
          <a:ln/>
        </p:spPr>
      </p:sp>
      <p:sp>
        <p:nvSpPr>
          <p:cNvPr id="19" name="Text 17"/>
          <p:cNvSpPr txBox="1"/>
          <p:nvPr/>
        </p:nvSpPr>
        <p:spPr>
          <a:xfrm>
            <a:off x="548640" y="45171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0" name="Text 18"/>
          <p:cNvSpPr txBox="1"/>
          <p:nvPr/>
        </p:nvSpPr>
        <p:spPr>
          <a:xfrm>
            <a:off x="1152144" y="4480560"/>
            <a:ext cx="10460736" cy="310896"/>
          </a:xfrm>
          <a:prstGeom prst="rect">
            <a:avLst/>
          </a:prstGeom>
          <a:noFill/>
          <a:ln/>
        </p:spPr>
        <p:txBody>
          <a:bodyPr wrap="square" lIns="0" tIns="0" rIns="0" bIns="0" rtlCol="0" anchor="ctr"/>
          <a:lstStyle/>
          <a:p>
            <a:pPr indent="0" marL="0">
              <a:buNone/>
            </a:pPr>
            <a:r>
              <a:rPr lang="en-US" sz="1600" b="1" dirty="0">
                <a:solidFill>
                  <a:srgbClr val="36454F"/>
                </a:solidFill>
                <a:latin typeface="Calibri" pitchFamily="34" charset="0"/>
                <a:ea typeface="Calibri" pitchFamily="34" charset="-122"/>
                <a:cs typeface="Calibri" pitchFamily="34" charset="-120"/>
              </a:rPr>
              <a:t>A feedback loop re-converges around it. An open-loop law cannot.</a:t>
            </a:r>
            <a:endParaRPr lang="en-US" sz="1600" dirty="0"/>
          </a:p>
        </p:txBody>
      </p:sp>
      <p:sp>
        <p:nvSpPr>
          <p:cNvPr id="21" name="Text 19"/>
          <p:cNvSpPr txBox="1"/>
          <p:nvPr/>
        </p:nvSpPr>
        <p:spPr>
          <a:xfrm>
            <a:off x="1152144" y="4809744"/>
            <a:ext cx="10460736" cy="402336"/>
          </a:xfrm>
          <a:prstGeom prst="rect">
            <a:avLst/>
          </a:prstGeom>
          <a:noFill/>
          <a:ln/>
        </p:spPr>
        <p:txBody>
          <a:bodyPr wrap="square" lIns="0" tIns="0" rIns="0" bIns="0" rtlCol="0" anchor="ctr"/>
          <a:lstStyle/>
          <a:p>
            <a:pPr indent="0" marL="0">
              <a:buNone/>
            </a:pPr>
            <a:r>
              <a:rPr lang="en-US" sz="1300" dirty="0">
                <a:solidFill>
                  <a:srgbClr val="5E6B73"/>
                </a:solidFill>
                <a:latin typeface="Calibri" pitchFamily="34" charset="0"/>
                <a:ea typeface="Calibri" pitchFamily="34" charset="-122"/>
                <a:cs typeface="Calibri" pitchFamily="34" charset="-120"/>
              </a:rPr>
              <a:t>Hence +13.55 dB on run 09. The residual is shape error, not level: the best single rescale recovers only 0.30 dB.</a:t>
            </a:r>
            <a:endParaRPr lang="en-US" sz="1300" dirty="0"/>
          </a:p>
        </p:txBody>
      </p:sp>
      <p:sp>
        <p:nvSpPr>
          <p:cNvPr id="22" name="Shape 20"/>
          <p:cNvSpPr/>
          <p:nvPr/>
        </p:nvSpPr>
        <p:spPr>
          <a:xfrm>
            <a:off x="548640" y="5596128"/>
            <a:ext cx="11064240" cy="676656"/>
          </a:xfrm>
          <a:prstGeom prst="roundRect">
            <a:avLst>
              <a:gd name="adj" fmla="val 8108"/>
            </a:avLst>
          </a:prstGeom>
          <a:solidFill>
            <a:srgbClr val="F2F2F2"/>
          </a:solidFill>
          <a:ln/>
        </p:spPr>
      </p:sp>
      <p:sp>
        <p:nvSpPr>
          <p:cNvPr id="23" name="Text 21"/>
          <p:cNvSpPr txBox="1"/>
          <p:nvPr/>
        </p:nvSpPr>
        <p:spPr>
          <a:xfrm>
            <a:off x="731520" y="5705856"/>
            <a:ext cx="10698480" cy="457200"/>
          </a:xfrm>
          <a:prstGeom prst="rect">
            <a:avLst/>
          </a:prstGeom>
          <a:noFill/>
          <a:ln/>
        </p:spPr>
        <p:txBody>
          <a:bodyPr wrap="square" lIns="0" tIns="0" rIns="0" bIns="0" rtlCol="0" anchor="ctr"/>
          <a:lstStyle/>
          <a:p>
            <a:pPr indent="0" marL="0">
              <a:buNone/>
            </a:pPr>
            <a:r>
              <a:rPr lang="en-US" sz="1300" b="1" dirty="0">
                <a:solidFill>
                  <a:srgbClr val="36454F"/>
                </a:solidFill>
                <a:latin typeface="Calibri" pitchFamily="34" charset="0"/>
                <a:ea typeface="Calibri" pitchFamily="34" charset="-122"/>
                <a:cs typeface="Calibri" pitchFamily="34" charset="-120"/>
              </a:rPr>
              <a:t>Confirmed in reverse: </a:t>
            </a:r>
            <a:pPr indent="0" marL="0">
              <a:buNone/>
            </a:pPr>
            <a:r>
              <a:rPr lang="en-US" sz="1300" dirty="0">
                <a:solidFill>
                  <a:srgbClr val="5E6B73"/>
                </a:solidFill>
                <a:latin typeface="Calibri" pitchFamily="34" charset="0"/>
                <a:ea typeface="Calibri" pitchFamily="34" charset="-122"/>
                <a:cs typeface="Calibri" pitchFamily="34" charset="-120"/>
              </a:rPr>
              <a:t>the best achievable drive sits above 0.95 coherence on 49 % of its pairs. The cap constrains the solution away from the optimum by construction.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10896"/>
            <a:ext cx="10332720" cy="658368"/>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Feedback buys less than expected</a:t>
            </a:r>
            <a:endParaRPr lang="en-US" sz="3000" dirty="0"/>
          </a:p>
        </p:txBody>
      </p:sp>
      <p:sp>
        <p:nvSpPr>
          <p:cNvPr id="3" name="Text 1"/>
          <p:cNvSpPr txBox="1"/>
          <p:nvPr/>
        </p:nvSpPr>
        <p:spPr>
          <a:xfrm>
            <a:off x="548640" y="969264"/>
            <a:ext cx="10332720" cy="384048"/>
          </a:xfrm>
          <a:prstGeom prst="rect">
            <a:avLst/>
          </a:prstGeom>
          <a:noFill/>
          <a:ln/>
        </p:spPr>
        <p:txBody>
          <a:bodyPr wrap="square" lIns="0" tIns="0" rIns="0" bIns="0" rtlCol="0" anchor="ctr"/>
          <a:lstStyle/>
          <a:p>
            <a:pPr indent="0" marL="0">
              <a:buNone/>
            </a:pPr>
            <a:r>
              <a:rPr lang="en-US" sz="1500" dirty="0">
                <a:solidFill>
                  <a:srgbClr val="5E6B73"/>
                </a:solidFill>
                <a:latin typeface="Calibri" pitchFamily="34" charset="0"/>
                <a:ea typeface="Calibri" pitchFamily="34" charset="-122"/>
                <a:cs typeface="Calibri" pitchFamily="34" charset="-120"/>
              </a:rPr>
              <a:t>A law with no error feedback finishes inside the feedback cluster</a:t>
            </a:r>
            <a:endParaRPr lang="en-US" sz="1500" dirty="0"/>
          </a:p>
        </p:txBody>
      </p:sp>
      <p:sp>
        <p:nvSpPr>
          <p:cNvPr id="4" name="Shape 2"/>
          <p:cNvSpPr/>
          <p:nvPr/>
        </p:nvSpPr>
        <p:spPr>
          <a:xfrm>
            <a:off x="11192256" y="347472"/>
            <a:ext cx="420624" cy="420624"/>
          </a:xfrm>
          <a:prstGeom prst="ellipse">
            <a:avLst/>
          </a:prstGeom>
          <a:solidFill>
            <a:srgbClr val="F2F2F2"/>
          </a:solidFill>
          <a:ln/>
        </p:spPr>
      </p:sp>
      <p:sp>
        <p:nvSpPr>
          <p:cNvPr id="5" name="Text 3"/>
          <p:cNvSpPr txBox="1"/>
          <p:nvPr/>
        </p:nvSpPr>
        <p:spPr>
          <a:xfrm>
            <a:off x="11192256" y="347472"/>
            <a:ext cx="420624" cy="420624"/>
          </a:xfrm>
          <a:prstGeom prst="rect">
            <a:avLst/>
          </a:prstGeom>
          <a:noFill/>
          <a:ln/>
        </p:spPr>
        <p:txBody>
          <a:bodyPr wrap="square" lIns="0" tIns="0" rIns="0" bIns="0" rtlCol="0" anchor="ctr"/>
          <a:lstStyle/>
          <a:p>
            <a:pPr algn="ctr" indent="0" marL="0">
              <a:buNone/>
            </a:pPr>
            <a:r>
              <a:rPr lang="en-US" sz="1300" b="1" dirty="0">
                <a:solidFill>
                  <a:srgbClr val="5E6B73"/>
                </a:solidFill>
                <a:latin typeface="Calibri" pitchFamily="34" charset="0"/>
                <a:ea typeface="Calibri" pitchFamily="34" charset="-122"/>
                <a:cs typeface="Calibri" pitchFamily="34" charset="-120"/>
              </a:rPr>
              <a:t>8</a:t>
            </a:r>
            <a:endParaRPr lang="en-US" sz="1300" dirty="0"/>
          </a:p>
        </p:txBody>
      </p:sp>
      <p:pic>
        <p:nvPicPr>
          <p:cNvPr id="6" name="Image 0" descr="figs/rms_vs_pout.png">    </p:cNvPr>
          <p:cNvPicPr>
            <a:picLocks noChangeAspect="1"/>
          </p:cNvPicPr>
          <p:nvPr/>
        </p:nvPicPr>
        <p:blipFill>
          <a:blip r:embed="rId1"/>
          <a:stretch>
            <a:fillRect/>
          </a:stretch>
        </p:blipFill>
        <p:spPr>
          <a:xfrm>
            <a:off x="548640" y="1580804"/>
            <a:ext cx="5120640" cy="3879273"/>
          </a:xfrm>
          <a:prstGeom prst="rect">
            <a:avLst/>
          </a:prstGeom>
        </p:spPr>
      </p:pic>
      <p:sp>
        <p:nvSpPr>
          <p:cNvPr id="7" name="Text 4"/>
          <p:cNvSpPr txBox="1"/>
          <p:nvPr/>
        </p:nvSpPr>
        <p:spPr>
          <a:xfrm>
            <a:off x="6035040" y="1517904"/>
            <a:ext cx="5577840" cy="4023360"/>
          </a:xfrm>
          <a:prstGeom prst="rect">
            <a:avLst/>
          </a:prstGeom>
          <a:noFill/>
          <a:ln/>
        </p:spPr>
        <p:txBody>
          <a:bodyPr wrap="square" lIns="0" tIns="0" rIns="0" bIns="0" rtlCol="0" anchor="t"/>
          <a:lstStyle/>
          <a:p>
            <a:pPr indent="0" marL="0">
              <a:buNone/>
            </a:pPr>
            <a:r>
              <a:rPr lang="en-US" sz="1700" b="1" dirty="0">
                <a:solidFill>
                  <a:srgbClr val="36454F"/>
                </a:solidFill>
                <a:latin typeface="Calibri" pitchFamily="34" charset="0"/>
                <a:ea typeface="Calibri" pitchFamily="34" charset="-122"/>
                <a:cs typeface="Calibri" pitchFamily="34" charset="-120"/>
              </a:rPr>
              <a:t>buzz_control has no feedback at all
</a:t>
            </a:r>
            <a:endParaRPr lang="en-US" sz="1700" dirty="0"/>
          </a:p>
          <a:p>
            <a:pPr indent="0" marL="0">
              <a:buNone/>
            </a:pPr>
            <a:r>
              <a:rPr lang="en-US" sz="1350" dirty="0">
                <a:solidFill>
                  <a:srgbClr val="5E6B73"/>
                </a:solidFill>
                <a:latin typeface="Calibri" pitchFamily="34" charset="0"/>
                <a:ea typeface="Calibri" pitchFamily="34" charset="-122"/>
                <a:cs typeface="Calibri" pitchFamily="34" charset="-120"/>
              </a:rPr>
              <a:t>last_response_cpsd appears in its signature and docstring and never in the body. last_output_cpsd is read only as a first-call sentinel. It recomputes the same open-loop solve every cycle.
</a:t>
            </a:r>
            <a:endParaRPr lang="en-US" sz="1700" dirty="0"/>
          </a:p>
          <a:p>
            <a:pPr indent="0" marL="0">
              <a:buNone/>
            </a:pPr>
            <a:r>
              <a:rPr lang="en-US" sz="1700" b="1" dirty="0">
                <a:solidFill>
                  <a:srgbClr val="36454F"/>
                </a:solidFill>
                <a:latin typeface="Calibri" pitchFamily="34" charset="0"/>
                <a:ea typeface="Calibri" pitchFamily="34" charset="-122"/>
                <a:cs typeface="Calibri" pitchFamily="34" charset="-120"/>
              </a:rPr>
              <a:t>Its one adaptive channel is the plant model
</a:t>
            </a:r>
            <a:endParaRPr lang="en-US" sz="1700" dirty="0"/>
          </a:p>
          <a:p>
            <a:pPr indent="0" marL="0">
              <a:buNone/>
            </a:pPr>
            <a:r>
              <a:rPr lang="en-US" sz="1350" dirty="0">
                <a:solidFill>
                  <a:srgbClr val="5E6B73"/>
                </a:solidFill>
                <a:latin typeface="Calibri" pitchFamily="34" charset="0"/>
                <a:ea typeface="Calibri" pitchFamily="34" charset="-122"/>
                <a:cs typeface="Calibri" pitchFamily="34" charset="-120"/>
              </a:rPr>
              <a:t>The FRF is re-identified during control, but sysid_response_cpsd — the source of the coherence and phase it matches — is frozen at system ID. It adapts to a changing plant, not to its own error.
</a:t>
            </a:r>
            <a:endParaRPr lang="en-US" sz="1700" dirty="0"/>
          </a:p>
          <a:p>
            <a:pPr indent="0" marL="0">
              <a:buNone/>
            </a:pPr>
            <a:r>
              <a:rPr lang="en-US" sz="1700" b="1" dirty="0">
                <a:solidFill>
                  <a:srgbClr val="36454F"/>
                </a:solidFill>
                <a:latin typeface="Calibri" pitchFamily="34" charset="0"/>
                <a:ea typeface="Calibri" pitchFamily="34" charset="-122"/>
                <a:cs typeface="Calibri" pitchFamily="34" charset="-120"/>
              </a:rPr>
              <a:t>So what separates the laws?
</a:t>
            </a:r>
            <a:endParaRPr lang="en-US" sz="1700" dirty="0"/>
          </a:p>
          <a:p>
            <a:pPr indent="0" marL="0">
              <a:buNone/>
            </a:pPr>
            <a:r>
              <a:rPr lang="en-US" sz="1350" dirty="0">
                <a:solidFill>
                  <a:srgbClr val="5E6B73"/>
                </a:solidFill>
                <a:latin typeface="Calibri" pitchFamily="34" charset="0"/>
                <a:ea typeface="Calibri" pitchFamily="34" charset="-122"/>
                <a:cs typeface="Calibri" pitchFamily="34" charset="-120"/>
              </a:rPr>
              <a:t>Not loop design. How sensibly each one picks a target inside the reachable set. buzz substitutes measured coherence and phase for the spec’s unreachable diagonal — worth 1.1 dB and a third of the drive against pseudoinverse.</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10896"/>
            <a:ext cx="10332720" cy="658368"/>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Separating the law’s error from the plant’s limit</a:t>
            </a:r>
            <a:endParaRPr lang="en-US" sz="3000" dirty="0"/>
          </a:p>
        </p:txBody>
      </p:sp>
      <p:sp>
        <p:nvSpPr>
          <p:cNvPr id="3" name="Text 1"/>
          <p:cNvSpPr txBox="1"/>
          <p:nvPr/>
        </p:nvSpPr>
        <p:spPr>
          <a:xfrm>
            <a:off x="548640" y="969264"/>
            <a:ext cx="10332720" cy="384048"/>
          </a:xfrm>
          <a:prstGeom prst="rect">
            <a:avLst/>
          </a:prstGeom>
          <a:noFill/>
          <a:ln/>
        </p:spPr>
        <p:txBody>
          <a:bodyPr wrap="square" lIns="0" tIns="0" rIns="0" bIns="0" rtlCol="0" anchor="ctr"/>
          <a:lstStyle/>
          <a:p>
            <a:pPr indent="0" marL="0">
              <a:buNone/>
            </a:pPr>
            <a:r>
              <a:rPr lang="en-US" sz="1500" dirty="0">
                <a:solidFill>
                  <a:srgbClr val="5E6B73"/>
                </a:solidFill>
                <a:latin typeface="Calibri" pitchFamily="34" charset="0"/>
                <a:ea typeface="Calibri" pitchFamily="34" charset="-122"/>
                <a:cs typeface="Calibri" pitchFamily="34" charset="-120"/>
              </a:rPr>
              <a:t>Two independent scorings of the same run — they do not subtract</a:t>
            </a:r>
            <a:endParaRPr lang="en-US" sz="1500" dirty="0"/>
          </a:p>
        </p:txBody>
      </p:sp>
      <p:sp>
        <p:nvSpPr>
          <p:cNvPr id="4" name="Shape 2"/>
          <p:cNvSpPr/>
          <p:nvPr/>
        </p:nvSpPr>
        <p:spPr>
          <a:xfrm>
            <a:off x="11192256" y="347472"/>
            <a:ext cx="420624" cy="420624"/>
          </a:xfrm>
          <a:prstGeom prst="ellipse">
            <a:avLst/>
          </a:prstGeom>
          <a:solidFill>
            <a:srgbClr val="F2F2F2"/>
          </a:solidFill>
          <a:ln/>
        </p:spPr>
      </p:sp>
      <p:sp>
        <p:nvSpPr>
          <p:cNvPr id="5" name="Text 3"/>
          <p:cNvSpPr txBox="1"/>
          <p:nvPr/>
        </p:nvSpPr>
        <p:spPr>
          <a:xfrm>
            <a:off x="11192256" y="347472"/>
            <a:ext cx="420624" cy="420624"/>
          </a:xfrm>
          <a:prstGeom prst="rect">
            <a:avLst/>
          </a:prstGeom>
          <a:noFill/>
          <a:ln/>
        </p:spPr>
        <p:txBody>
          <a:bodyPr wrap="square" lIns="0" tIns="0" rIns="0" bIns="0" rtlCol="0" anchor="ctr"/>
          <a:lstStyle/>
          <a:p>
            <a:pPr algn="ctr" indent="0" marL="0">
              <a:buNone/>
            </a:pPr>
            <a:r>
              <a:rPr lang="en-US" sz="1300" b="1" dirty="0">
                <a:solidFill>
                  <a:srgbClr val="5E6B73"/>
                </a:solidFill>
                <a:latin typeface="Calibri" pitchFamily="34" charset="0"/>
                <a:ea typeface="Calibri" pitchFamily="34" charset="-122"/>
                <a:cs typeface="Calibri" pitchFamily="34" charset="-120"/>
              </a:rPr>
              <a:t>9</a:t>
            </a:r>
            <a:endParaRPr lang="en-US" sz="1300" dirty="0"/>
          </a:p>
        </p:txBody>
      </p:sp>
      <p:pic>
        <p:nvPicPr>
          <p:cNvPr id="6" name="Image 0" descr="figs/error_vs_floor.png">    </p:cNvPr>
          <p:cNvPicPr>
            <a:picLocks noChangeAspect="1"/>
          </p:cNvPicPr>
          <p:nvPr/>
        </p:nvPicPr>
        <p:blipFill>
          <a:blip r:embed="rId1"/>
          <a:stretch>
            <a:fillRect/>
          </a:stretch>
        </p:blipFill>
        <p:spPr>
          <a:xfrm>
            <a:off x="548640" y="1463040"/>
            <a:ext cx="7150608" cy="3108960"/>
          </a:xfrm>
          <a:prstGeom prst="rect">
            <a:avLst/>
          </a:prstGeom>
        </p:spPr>
      </p:pic>
      <p:sp>
        <p:nvSpPr>
          <p:cNvPr id="7" name="Shape 4"/>
          <p:cNvSpPr/>
          <p:nvPr/>
        </p:nvSpPr>
        <p:spPr>
          <a:xfrm>
            <a:off x="548640" y="4882896"/>
            <a:ext cx="3017520" cy="1371600"/>
          </a:xfrm>
          <a:prstGeom prst="roundRect">
            <a:avLst>
              <a:gd name="adj" fmla="val 4000"/>
            </a:avLst>
          </a:prstGeom>
          <a:solidFill>
            <a:srgbClr val="F2F2F2"/>
          </a:solidFill>
          <a:ln/>
        </p:spPr>
      </p:sp>
      <p:sp>
        <p:nvSpPr>
          <p:cNvPr id="8" name="Text 5"/>
          <p:cNvSpPr txBox="1"/>
          <p:nvPr/>
        </p:nvSpPr>
        <p:spPr>
          <a:xfrm>
            <a:off x="694944" y="5029200"/>
            <a:ext cx="2724912" cy="621792"/>
          </a:xfrm>
          <a:prstGeom prst="rect">
            <a:avLst/>
          </a:prstGeom>
          <a:noFill/>
          <a:ln/>
        </p:spPr>
        <p:txBody>
          <a:bodyPr wrap="square" lIns="0" tIns="0" rIns="0" bIns="0" rtlCol="0" anchor="ctr"/>
          <a:lstStyle/>
          <a:p>
            <a:pPr algn="ctr" indent="0" marL="0">
              <a:buNone/>
            </a:pPr>
            <a:r>
              <a:rPr lang="en-US" sz="3000" b="1" dirty="0">
                <a:solidFill>
                  <a:srgbClr val="EB6834"/>
                </a:solidFill>
                <a:latin typeface="Cambria" pitchFamily="34" charset="0"/>
                <a:ea typeface="Cambria" pitchFamily="34" charset="-122"/>
                <a:cs typeface="Cambria" pitchFamily="34" charset="-120"/>
              </a:rPr>
              <a:t>3.48 dB</a:t>
            </a:r>
            <a:endParaRPr lang="en-US" sz="3000" dirty="0"/>
          </a:p>
        </p:txBody>
      </p:sp>
      <p:sp>
        <p:nvSpPr>
          <p:cNvPr id="9" name="Text 6"/>
          <p:cNvSpPr txBox="1"/>
          <p:nvPr/>
        </p:nvSpPr>
        <p:spPr>
          <a:xfrm>
            <a:off x="694944" y="5650992"/>
            <a:ext cx="2724912" cy="493776"/>
          </a:xfrm>
          <a:prstGeom prst="rect">
            <a:avLst/>
          </a:prstGeom>
          <a:noFill/>
          <a:ln/>
        </p:spPr>
        <p:txBody>
          <a:bodyPr wrap="square" lIns="0" tIns="0" rIns="0" bIns="0" rtlCol="0" anchor="t"/>
          <a:lstStyle/>
          <a:p>
            <a:pPr algn="ctr" indent="0" marL="0">
              <a:buNone/>
            </a:pPr>
            <a:r>
              <a:rPr lang="en-US" sz="1100" dirty="0">
                <a:solidFill>
                  <a:srgbClr val="5E6B73"/>
                </a:solidFill>
                <a:latin typeface="Calibri" pitchFamily="34" charset="0"/>
                <a:ea typeface="Calibri" pitchFamily="34" charset="-122"/>
                <a:cs typeface="Calibri" pitchFamily="34" charset="-120"/>
              </a:rPr>
              <a:t>congruence — lowest</a:t>
            </a:r>
            <a:endParaRPr lang="en-US" sz="1100" dirty="0"/>
          </a:p>
          <a:p>
            <a:pPr algn="ctr" indent="0" marL="0">
              <a:buNone/>
            </a:pPr>
            <a:r>
              <a:rPr lang="en-US" sz="1100" dirty="0">
                <a:solidFill>
                  <a:srgbClr val="5E6B73"/>
                </a:solidFill>
                <a:latin typeface="Calibri" pitchFamily="34" charset="0"/>
                <a:ea typeface="Calibri" pitchFamily="34" charset="-122"/>
                <a:cs typeface="Calibri" pitchFamily="34" charset="-120"/>
              </a:rPr>
              <a:t>error against the floor</a:t>
            </a:r>
            <a:endParaRPr lang="en-US" sz="1100" dirty="0"/>
          </a:p>
        </p:txBody>
      </p:sp>
      <p:sp>
        <p:nvSpPr>
          <p:cNvPr id="10" name="Shape 7"/>
          <p:cNvSpPr/>
          <p:nvPr/>
        </p:nvSpPr>
        <p:spPr>
          <a:xfrm>
            <a:off x="3749040" y="4882896"/>
            <a:ext cx="3017520" cy="1371600"/>
          </a:xfrm>
          <a:prstGeom prst="roundRect">
            <a:avLst>
              <a:gd name="adj" fmla="val 4000"/>
            </a:avLst>
          </a:prstGeom>
          <a:solidFill>
            <a:srgbClr val="F2F2F2"/>
          </a:solidFill>
          <a:ln/>
        </p:spPr>
      </p:sp>
      <p:sp>
        <p:nvSpPr>
          <p:cNvPr id="11" name="Text 8"/>
          <p:cNvSpPr txBox="1"/>
          <p:nvPr/>
        </p:nvSpPr>
        <p:spPr>
          <a:xfrm>
            <a:off x="3895344" y="5029200"/>
            <a:ext cx="2724912" cy="621792"/>
          </a:xfrm>
          <a:prstGeom prst="rect">
            <a:avLst/>
          </a:prstGeom>
          <a:noFill/>
          <a:ln/>
        </p:spPr>
        <p:txBody>
          <a:bodyPr wrap="square" lIns="0" tIns="0" rIns="0" bIns="0" rtlCol="0" anchor="ctr"/>
          <a:lstStyle/>
          <a:p>
            <a:pPr algn="ctr" indent="0" marL="0">
              <a:buNone/>
            </a:pPr>
            <a:r>
              <a:rPr lang="en-US" sz="3000" b="1" dirty="0">
                <a:solidFill>
                  <a:srgbClr val="2A78D6"/>
                </a:solidFill>
                <a:latin typeface="Cambria" pitchFamily="34" charset="0"/>
                <a:ea typeface="Cambria" pitchFamily="34" charset="-122"/>
                <a:cs typeface="Cambria" pitchFamily="34" charset="-120"/>
              </a:rPr>
              <a:t>3.99 dB</a:t>
            </a:r>
            <a:endParaRPr lang="en-US" sz="3000" dirty="0"/>
          </a:p>
        </p:txBody>
      </p:sp>
      <p:sp>
        <p:nvSpPr>
          <p:cNvPr id="12" name="Text 9"/>
          <p:cNvSpPr txBox="1"/>
          <p:nvPr/>
        </p:nvSpPr>
        <p:spPr>
          <a:xfrm>
            <a:off x="3895344" y="5650992"/>
            <a:ext cx="2724912" cy="493776"/>
          </a:xfrm>
          <a:prstGeom prst="rect">
            <a:avLst/>
          </a:prstGeom>
          <a:noFill/>
          <a:ln/>
        </p:spPr>
        <p:txBody>
          <a:bodyPr wrap="square" lIns="0" tIns="0" rIns="0" bIns="0" rtlCol="0" anchor="t"/>
          <a:lstStyle/>
          <a:p>
            <a:pPr algn="ctr" indent="0" marL="0">
              <a:buNone/>
            </a:pPr>
            <a:r>
              <a:rPr lang="en-US" sz="1100" dirty="0">
                <a:solidFill>
                  <a:srgbClr val="5E6B73"/>
                </a:solidFill>
                <a:latin typeface="Calibri" pitchFamily="34" charset="0"/>
                <a:ea typeface="Calibri" pitchFamily="34" charset="-122"/>
                <a:cs typeface="Calibri" pitchFamily="34" charset="-120"/>
              </a:rPr>
              <a:t>the whole optimal-</a:t>
            </a:r>
            <a:endParaRPr lang="en-US" sz="1100" dirty="0"/>
          </a:p>
          <a:p>
            <a:pPr algn="ctr" indent="0" marL="0">
              <a:buNone/>
            </a:pPr>
            <a:r>
              <a:rPr lang="en-US" sz="1100" dirty="0">
                <a:solidFill>
                  <a:srgbClr val="5E6B73"/>
                </a:solidFill>
                <a:latin typeface="Calibri" pitchFamily="34" charset="0"/>
                <a:ea typeface="Calibri" pitchFamily="34" charset="-122"/>
                <a:cs typeface="Calibri" pitchFamily="34" charset="-120"/>
              </a:rPr>
              <a:t>diagonal family</a:t>
            </a:r>
            <a:endParaRPr lang="en-US" sz="1100" dirty="0"/>
          </a:p>
        </p:txBody>
      </p:sp>
      <p:sp>
        <p:nvSpPr>
          <p:cNvPr id="13" name="Shape 10"/>
          <p:cNvSpPr/>
          <p:nvPr/>
        </p:nvSpPr>
        <p:spPr>
          <a:xfrm>
            <a:off x="6949440" y="4882896"/>
            <a:ext cx="3017520" cy="1371600"/>
          </a:xfrm>
          <a:prstGeom prst="roundRect">
            <a:avLst>
              <a:gd name="adj" fmla="val 4000"/>
            </a:avLst>
          </a:prstGeom>
          <a:solidFill>
            <a:srgbClr val="F2F2F2"/>
          </a:solidFill>
          <a:ln/>
        </p:spPr>
      </p:sp>
      <p:sp>
        <p:nvSpPr>
          <p:cNvPr id="14" name="Text 11"/>
          <p:cNvSpPr txBox="1"/>
          <p:nvPr/>
        </p:nvSpPr>
        <p:spPr>
          <a:xfrm>
            <a:off x="7095744" y="5029200"/>
            <a:ext cx="2724912" cy="621792"/>
          </a:xfrm>
          <a:prstGeom prst="rect">
            <a:avLst/>
          </a:prstGeom>
          <a:noFill/>
          <a:ln/>
        </p:spPr>
        <p:txBody>
          <a:bodyPr wrap="square" lIns="0" tIns="0" rIns="0" bIns="0" rtlCol="0" anchor="ctr"/>
          <a:lstStyle/>
          <a:p>
            <a:pPr algn="ctr" indent="0" marL="0">
              <a:buNone/>
            </a:pPr>
            <a:r>
              <a:rPr lang="en-US" sz="3000" b="1" dirty="0">
                <a:solidFill>
                  <a:srgbClr val="36454F"/>
                </a:solidFill>
                <a:latin typeface="Cambria" pitchFamily="34" charset="0"/>
                <a:ea typeface="Cambria" pitchFamily="34" charset="-122"/>
                <a:cs typeface="Cambria" pitchFamily="34" charset="-120"/>
              </a:rPr>
              <a:t>3.57–3.92</a:t>
            </a:r>
            <a:endParaRPr lang="en-US" sz="3000" dirty="0"/>
          </a:p>
        </p:txBody>
      </p:sp>
      <p:sp>
        <p:nvSpPr>
          <p:cNvPr id="15" name="Text 12"/>
          <p:cNvSpPr txBox="1"/>
          <p:nvPr/>
        </p:nvSpPr>
        <p:spPr>
          <a:xfrm>
            <a:off x="7095744" y="5650992"/>
            <a:ext cx="2724912" cy="493776"/>
          </a:xfrm>
          <a:prstGeom prst="rect">
            <a:avLst/>
          </a:prstGeom>
          <a:noFill/>
          <a:ln/>
        </p:spPr>
        <p:txBody>
          <a:bodyPr wrap="square" lIns="0" tIns="0" rIns="0" bIns="0" rtlCol="0" anchor="t"/>
          <a:lstStyle/>
          <a:p>
            <a:pPr algn="ctr" indent="0" marL="0">
              <a:buNone/>
            </a:pPr>
            <a:r>
              <a:rPr lang="en-US" sz="1100" dirty="0">
                <a:solidFill>
                  <a:srgbClr val="5E6B73"/>
                </a:solidFill>
                <a:latin typeface="Calibri" pitchFamily="34" charset="0"/>
                <a:ea typeface="Calibri" pitchFamily="34" charset="-122"/>
                <a:cs typeface="Calibri" pitchFamily="34" charset="-120"/>
              </a:rPr>
              <a:t>the floor itself</a:t>
            </a:r>
            <a:endParaRPr lang="en-US" sz="1100" dirty="0"/>
          </a:p>
          <a:p>
            <a:pPr algn="ctr" indent="0" marL="0">
              <a:buNone/>
            </a:pPr>
            <a:r>
              <a:rPr lang="en-US" sz="1100" dirty="0">
                <a:solidFill>
                  <a:srgbClr val="5E6B73"/>
                </a:solidFill>
                <a:latin typeface="Calibri" pitchFamily="34" charset="0"/>
                <a:ea typeface="Calibri" pitchFamily="34" charset="-122"/>
                <a:cs typeface="Calibri" pitchFamily="34" charset="-120"/>
              </a:rPr>
              <a:t>(dB rms, per run)</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10896"/>
            <a:ext cx="10332720" cy="658368"/>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The same two channels dominate every law</a:t>
            </a:r>
            <a:endParaRPr lang="en-US" sz="3000" dirty="0"/>
          </a:p>
        </p:txBody>
      </p:sp>
      <p:sp>
        <p:nvSpPr>
          <p:cNvPr id="3" name="Text 1"/>
          <p:cNvSpPr txBox="1"/>
          <p:nvPr/>
        </p:nvSpPr>
        <p:spPr>
          <a:xfrm>
            <a:off x="548640" y="969264"/>
            <a:ext cx="10332720" cy="384048"/>
          </a:xfrm>
          <a:prstGeom prst="rect">
            <a:avLst/>
          </a:prstGeom>
          <a:noFill/>
          <a:ln/>
        </p:spPr>
        <p:txBody>
          <a:bodyPr wrap="square" lIns="0" tIns="0" rIns="0" bIns="0" rtlCol="0" anchor="ctr"/>
          <a:lstStyle/>
          <a:p>
            <a:pPr indent="0" marL="0">
              <a:buNone/>
            </a:pPr>
            <a:r>
              <a:rPr lang="en-US" sz="1500" dirty="0">
                <a:solidFill>
                  <a:srgbClr val="5E6B73"/>
                </a:solidFill>
                <a:latin typeface="Calibri" pitchFamily="34" charset="0"/>
                <a:ea typeface="Calibri" pitchFamily="34" charset="-122"/>
                <a:cs typeface="Calibri" pitchFamily="34" charset="-120"/>
              </a:rPr>
              <a:t>13X+ and 14X+ are the reachability-limited pair</a:t>
            </a:r>
            <a:endParaRPr lang="en-US" sz="1500" dirty="0"/>
          </a:p>
        </p:txBody>
      </p:sp>
      <p:sp>
        <p:nvSpPr>
          <p:cNvPr id="4" name="Shape 2"/>
          <p:cNvSpPr/>
          <p:nvPr/>
        </p:nvSpPr>
        <p:spPr>
          <a:xfrm>
            <a:off x="11192256" y="347472"/>
            <a:ext cx="420624" cy="420624"/>
          </a:xfrm>
          <a:prstGeom prst="ellipse">
            <a:avLst/>
          </a:prstGeom>
          <a:solidFill>
            <a:srgbClr val="F2F2F2"/>
          </a:solidFill>
          <a:ln/>
        </p:spPr>
      </p:sp>
      <p:sp>
        <p:nvSpPr>
          <p:cNvPr id="5" name="Text 3"/>
          <p:cNvSpPr txBox="1"/>
          <p:nvPr/>
        </p:nvSpPr>
        <p:spPr>
          <a:xfrm>
            <a:off x="11192256" y="347472"/>
            <a:ext cx="420624" cy="420624"/>
          </a:xfrm>
          <a:prstGeom prst="rect">
            <a:avLst/>
          </a:prstGeom>
          <a:noFill/>
          <a:ln/>
        </p:spPr>
        <p:txBody>
          <a:bodyPr wrap="square" lIns="0" tIns="0" rIns="0" bIns="0" rtlCol="0" anchor="ctr"/>
          <a:lstStyle/>
          <a:p>
            <a:pPr algn="ctr" indent="0" marL="0">
              <a:buNone/>
            </a:pPr>
            <a:r>
              <a:rPr lang="en-US" sz="1300" b="1" dirty="0">
                <a:solidFill>
                  <a:srgbClr val="5E6B73"/>
                </a:solidFill>
                <a:latin typeface="Calibri" pitchFamily="34" charset="0"/>
                <a:ea typeface="Calibri" pitchFamily="34" charset="-122"/>
                <a:cs typeface="Calibri" pitchFamily="34" charset="-120"/>
              </a:rPr>
              <a:t>10</a:t>
            </a:r>
            <a:endParaRPr lang="en-US" sz="1300" dirty="0"/>
          </a:p>
        </p:txBody>
      </p:sp>
      <p:pic>
        <p:nvPicPr>
          <p:cNvPr id="6" name="Image 0" descr="figs/per_channel_mean.png">    </p:cNvPr>
          <p:cNvPicPr>
            <a:picLocks noChangeAspect="1"/>
          </p:cNvPicPr>
          <p:nvPr/>
        </p:nvPicPr>
        <p:blipFill>
          <a:blip r:embed="rId1"/>
          <a:stretch>
            <a:fillRect/>
          </a:stretch>
        </p:blipFill>
        <p:spPr>
          <a:xfrm>
            <a:off x="548640" y="1705884"/>
            <a:ext cx="6858000" cy="3446231"/>
          </a:xfrm>
          <a:prstGeom prst="rect">
            <a:avLst/>
          </a:prstGeom>
        </p:spPr>
      </p:pic>
      <p:sp>
        <p:nvSpPr>
          <p:cNvPr id="7" name="Shape 4"/>
          <p:cNvSpPr/>
          <p:nvPr/>
        </p:nvSpPr>
        <p:spPr>
          <a:xfrm>
            <a:off x="7772400" y="1517904"/>
            <a:ext cx="3840480" cy="1572768"/>
          </a:xfrm>
          <a:prstGeom prst="roundRect">
            <a:avLst>
              <a:gd name="adj" fmla="val 3488"/>
            </a:avLst>
          </a:prstGeom>
          <a:solidFill>
            <a:srgbClr val="F2F2F2"/>
          </a:solidFill>
          <a:ln/>
        </p:spPr>
      </p:sp>
      <p:sp>
        <p:nvSpPr>
          <p:cNvPr id="8" name="Shape 5"/>
          <p:cNvSpPr/>
          <p:nvPr/>
        </p:nvSpPr>
        <p:spPr>
          <a:xfrm>
            <a:off x="7772400" y="3310128"/>
            <a:ext cx="3840480" cy="1700784"/>
          </a:xfrm>
          <a:prstGeom prst="roundRect">
            <a:avLst>
              <a:gd name="adj" fmla="val 3226"/>
            </a:avLst>
          </a:prstGeom>
          <a:solidFill>
            <a:srgbClr val="F2F2F2"/>
          </a:solidFill>
          <a:ln/>
        </p:spPr>
      </p:sp>
      <p:sp>
        <p:nvSpPr>
          <p:cNvPr id="9" name="Text 6"/>
          <p:cNvSpPr txBox="1"/>
          <p:nvPr/>
        </p:nvSpPr>
        <p:spPr>
          <a:xfrm>
            <a:off x="7936992" y="1645920"/>
            <a:ext cx="3511296" cy="1700784"/>
          </a:xfrm>
          <a:prstGeom prst="rect">
            <a:avLst/>
          </a:prstGeom>
          <a:noFill/>
          <a:ln/>
        </p:spPr>
        <p:txBody>
          <a:bodyPr wrap="square" lIns="0" tIns="0" rIns="0" bIns="0" rtlCol="0" anchor="t"/>
          <a:lstStyle/>
          <a:p>
            <a:pPr indent="0" marL="0">
              <a:buNone/>
            </a:pPr>
            <a:r>
              <a:rPr lang="en-US" sz="1500" b="1" dirty="0">
                <a:solidFill>
                  <a:srgbClr val="36454F"/>
                </a:solidFill>
                <a:latin typeface="Calibri" pitchFamily="34" charset="0"/>
                <a:ea typeface="Calibri" pitchFamily="34" charset="-122"/>
                <a:cs typeface="Calibri" pitchFamily="34" charset="-120"/>
              </a:rPr>
              <a:t>Five channels hold
</a:t>
            </a:r>
            <a:endParaRPr lang="en-US" sz="1500" dirty="0"/>
          </a:p>
          <a:p>
            <a:pPr indent="0" marL="0">
              <a:buNone/>
            </a:pPr>
            <a:r>
              <a:rPr lang="en-US" sz="1250" dirty="0">
                <a:solidFill>
                  <a:srgbClr val="5E6B73"/>
                </a:solidFill>
                <a:latin typeface="Calibri" pitchFamily="34" charset="0"/>
                <a:ea typeface="Calibri" pitchFamily="34" charset="-122"/>
                <a:cs typeface="Calibri" pitchFamily="34" charset="-120"/>
              </a:rPr>
              <a:t>8X+ through 12X+ stay within 2.1 dB under every law. 7X+ is marginal — inside 2 dB for four of five laws, −3.6 dB under pseudoinverse.</a:t>
            </a:r>
            <a:endParaRPr lang="en-US" sz="1500" dirty="0"/>
          </a:p>
        </p:txBody>
      </p:sp>
      <p:sp>
        <p:nvSpPr>
          <p:cNvPr id="10" name="Text 7"/>
          <p:cNvSpPr txBox="1"/>
          <p:nvPr/>
        </p:nvSpPr>
        <p:spPr>
          <a:xfrm>
            <a:off x="7936992" y="3456432"/>
            <a:ext cx="3511296" cy="1499616"/>
          </a:xfrm>
          <a:prstGeom prst="rect">
            <a:avLst/>
          </a:prstGeom>
          <a:noFill/>
          <a:ln/>
        </p:spPr>
        <p:txBody>
          <a:bodyPr wrap="square" lIns="0" tIns="0" rIns="0" bIns="0" rtlCol="0" anchor="t"/>
          <a:lstStyle/>
          <a:p>
            <a:pPr indent="0" marL="0">
              <a:buNone/>
            </a:pPr>
            <a:r>
              <a:rPr lang="en-US" sz="1500" b="1" dirty="0">
                <a:solidFill>
                  <a:srgbClr val="36454F"/>
                </a:solidFill>
                <a:latin typeface="Calibri" pitchFamily="34" charset="0"/>
                <a:ea typeface="Calibri" pitchFamily="34" charset="-122"/>
                <a:cs typeface="Calibri" pitchFamily="34" charset="-120"/>
              </a:rPr>
              <a:t>Every law undershoots the pair
</a:t>
            </a:r>
            <a:endParaRPr lang="en-US" sz="1500" dirty="0"/>
          </a:p>
          <a:p>
            <a:pPr indent="0" marL="0">
              <a:buNone/>
            </a:pPr>
            <a:r>
              <a:rPr lang="en-US" sz="1200" dirty="0">
                <a:solidFill>
                  <a:srgbClr val="5E6B73"/>
                </a:solidFill>
                <a:latin typeface="Courier New" pitchFamily="34" charset="0"/>
                <a:ea typeface="Courier New" pitchFamily="34" charset="-122"/>
                <a:cs typeface="Courier New" pitchFamily="34" charset="-120"/>
              </a:rPr>
              <a:t>congruence      −2.2 / −2.8</a:t>
            </a:r>
            <a:endParaRPr lang="en-US" sz="1500" dirty="0"/>
          </a:p>
          <a:p>
            <a:pPr indent="0" marL="0">
              <a:buNone/>
            </a:pPr>
            <a:r>
              <a:rPr lang="en-US" sz="1200" dirty="0">
                <a:solidFill>
                  <a:srgbClr val="5E6B73"/>
                </a:solidFill>
                <a:latin typeface="Courier New" pitchFamily="34" charset="0"/>
                <a:ea typeface="Courier New" pitchFamily="34" charset="-122"/>
                <a:cs typeface="Courier New" pitchFamily="34" charset="-120"/>
              </a:rPr>
              <a:t>buzz            −5.3 / −6.0</a:t>
            </a:r>
            <a:endParaRPr lang="en-US" sz="1500" dirty="0"/>
          </a:p>
          <a:p>
            <a:pPr indent="0" marL="0">
              <a:buNone/>
            </a:pPr>
            <a:r>
              <a:rPr lang="en-US" sz="1200" dirty="0">
                <a:solidFill>
                  <a:srgbClr val="5E6B73"/>
                </a:solidFill>
                <a:latin typeface="Courier New" pitchFamily="34" charset="0"/>
                <a:ea typeface="Courier New" pitchFamily="34" charset="-122"/>
                <a:cs typeface="Courier New" pitchFamily="34" charset="-120"/>
              </a:rPr>
              <a:t>match_trace     −6.6 / −7.3</a:t>
            </a:r>
            <a:endParaRPr lang="en-US" sz="1500" dirty="0"/>
          </a:p>
          <a:p>
            <a:pPr indent="0" marL="0">
              <a:buNone/>
            </a:pPr>
            <a:r>
              <a:rPr lang="en-US" sz="1200" dirty="0">
                <a:solidFill>
                  <a:srgbClr val="5E6B73"/>
                </a:solidFill>
                <a:latin typeface="Courier New" pitchFamily="34" charset="0"/>
                <a:ea typeface="Courier New" pitchFamily="34" charset="-122"/>
                <a:cs typeface="Courier New" pitchFamily="34" charset="-120"/>
              </a:rPr>
              <a:t>pseudoinverse   −8.5 / −9.2</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10896"/>
            <a:ext cx="10332720" cy="658368"/>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Cross-terms: the specification asked for zero</a:t>
            </a:r>
            <a:endParaRPr lang="en-US" sz="3000" dirty="0"/>
          </a:p>
        </p:txBody>
      </p:sp>
      <p:sp>
        <p:nvSpPr>
          <p:cNvPr id="3" name="Text 1"/>
          <p:cNvSpPr txBox="1"/>
          <p:nvPr/>
        </p:nvSpPr>
        <p:spPr>
          <a:xfrm>
            <a:off x="548640" y="969264"/>
            <a:ext cx="10332720" cy="384048"/>
          </a:xfrm>
          <a:prstGeom prst="rect">
            <a:avLst/>
          </a:prstGeom>
          <a:noFill/>
          <a:ln/>
        </p:spPr>
        <p:txBody>
          <a:bodyPr wrap="square" lIns="0" tIns="0" rIns="0" bIns="0" rtlCol="0" anchor="ctr"/>
          <a:lstStyle/>
          <a:p>
            <a:pPr indent="0" marL="0">
              <a:buNone/>
            </a:pPr>
            <a:r>
              <a:rPr lang="en-US" sz="1500" dirty="0">
                <a:solidFill>
                  <a:srgbClr val="5E6B73"/>
                </a:solidFill>
                <a:latin typeface="Calibri" pitchFamily="34" charset="0"/>
                <a:ea typeface="Calibri" pitchFamily="34" charset="-122"/>
                <a:cs typeface="Calibri" pitchFamily="34" charset="-120"/>
              </a:rPr>
              <a:t>Nothing in any of these laws controls the off-diagonals</a:t>
            </a:r>
            <a:endParaRPr lang="en-US" sz="1500" dirty="0"/>
          </a:p>
        </p:txBody>
      </p:sp>
      <p:sp>
        <p:nvSpPr>
          <p:cNvPr id="4" name="Shape 2"/>
          <p:cNvSpPr/>
          <p:nvPr/>
        </p:nvSpPr>
        <p:spPr>
          <a:xfrm>
            <a:off x="11192256" y="347472"/>
            <a:ext cx="420624" cy="420624"/>
          </a:xfrm>
          <a:prstGeom prst="ellipse">
            <a:avLst/>
          </a:prstGeom>
          <a:solidFill>
            <a:srgbClr val="F2F2F2"/>
          </a:solidFill>
          <a:ln/>
        </p:spPr>
      </p:sp>
      <p:sp>
        <p:nvSpPr>
          <p:cNvPr id="5" name="Text 3"/>
          <p:cNvSpPr txBox="1"/>
          <p:nvPr/>
        </p:nvSpPr>
        <p:spPr>
          <a:xfrm>
            <a:off x="11192256" y="347472"/>
            <a:ext cx="420624" cy="420624"/>
          </a:xfrm>
          <a:prstGeom prst="rect">
            <a:avLst/>
          </a:prstGeom>
          <a:noFill/>
          <a:ln/>
        </p:spPr>
        <p:txBody>
          <a:bodyPr wrap="square" lIns="0" tIns="0" rIns="0" bIns="0" rtlCol="0" anchor="ctr"/>
          <a:lstStyle/>
          <a:p>
            <a:pPr algn="ctr" indent="0" marL="0">
              <a:buNone/>
            </a:pPr>
            <a:r>
              <a:rPr lang="en-US" sz="1300" b="1" dirty="0">
                <a:solidFill>
                  <a:srgbClr val="5E6B73"/>
                </a:solidFill>
                <a:latin typeface="Calibri" pitchFamily="34" charset="0"/>
                <a:ea typeface="Calibri" pitchFamily="34" charset="-122"/>
                <a:cs typeface="Calibri" pitchFamily="34" charset="-120"/>
              </a:rPr>
              <a:t>11</a:t>
            </a:r>
            <a:endParaRPr lang="en-US" sz="1300" dirty="0"/>
          </a:p>
        </p:txBody>
      </p:sp>
      <p:pic>
        <p:nvPicPr>
          <p:cNvPr id="6" name="Image 0" descr="figs/cross_terms.png">    </p:cNvPr>
          <p:cNvPicPr>
            <a:picLocks noChangeAspect="1"/>
          </p:cNvPicPr>
          <p:nvPr/>
        </p:nvPicPr>
        <p:blipFill>
          <a:blip r:embed="rId1"/>
          <a:stretch>
            <a:fillRect/>
          </a:stretch>
        </p:blipFill>
        <p:spPr>
          <a:xfrm>
            <a:off x="548640" y="1408176"/>
            <a:ext cx="7272589" cy="2944368"/>
          </a:xfrm>
          <a:prstGeom prst="rect">
            <a:avLst/>
          </a:prstGeom>
        </p:spPr>
      </p:pic>
      <p:sp>
        <p:nvSpPr>
          <p:cNvPr id="7" name="Shape 4"/>
          <p:cNvSpPr/>
          <p:nvPr/>
        </p:nvSpPr>
        <p:spPr>
          <a:xfrm>
            <a:off x="548640" y="4681728"/>
            <a:ext cx="3017520" cy="1371600"/>
          </a:xfrm>
          <a:prstGeom prst="roundRect">
            <a:avLst>
              <a:gd name="adj" fmla="val 4000"/>
            </a:avLst>
          </a:prstGeom>
          <a:solidFill>
            <a:srgbClr val="F2F2F2"/>
          </a:solidFill>
          <a:ln/>
        </p:spPr>
      </p:sp>
      <p:sp>
        <p:nvSpPr>
          <p:cNvPr id="8" name="Text 5"/>
          <p:cNvSpPr txBox="1"/>
          <p:nvPr/>
        </p:nvSpPr>
        <p:spPr>
          <a:xfrm>
            <a:off x="694944" y="4828032"/>
            <a:ext cx="2724912" cy="621792"/>
          </a:xfrm>
          <a:prstGeom prst="rect">
            <a:avLst/>
          </a:prstGeom>
          <a:noFill/>
          <a:ln/>
        </p:spPr>
        <p:txBody>
          <a:bodyPr wrap="square" lIns="0" tIns="0" rIns="0" bIns="0" rtlCol="0" anchor="ctr"/>
          <a:lstStyle/>
          <a:p>
            <a:pPr algn="ctr" indent="0" marL="0">
              <a:buNone/>
            </a:pPr>
            <a:r>
              <a:rPr lang="en-US" sz="3000" b="1" dirty="0">
                <a:solidFill>
                  <a:srgbClr val="EB6834"/>
                </a:solidFill>
                <a:latin typeface="Cambria" pitchFamily="34" charset="0"/>
                <a:ea typeface="Cambria" pitchFamily="34" charset="-122"/>
                <a:cs typeface="Cambria" pitchFamily="34" charset="-120"/>
              </a:rPr>
              <a:t>0.25 – 0.89</a:t>
            </a:r>
            <a:endParaRPr lang="en-US" sz="3000" dirty="0"/>
          </a:p>
        </p:txBody>
      </p:sp>
      <p:sp>
        <p:nvSpPr>
          <p:cNvPr id="9" name="Text 6"/>
          <p:cNvSpPr txBox="1"/>
          <p:nvPr/>
        </p:nvSpPr>
        <p:spPr>
          <a:xfrm>
            <a:off x="694944" y="5449824"/>
            <a:ext cx="2724912" cy="493776"/>
          </a:xfrm>
          <a:prstGeom prst="rect">
            <a:avLst/>
          </a:prstGeom>
          <a:noFill/>
          <a:ln/>
        </p:spPr>
        <p:txBody>
          <a:bodyPr wrap="square" lIns="0" tIns="0" rIns="0" bIns="0" rtlCol="0" anchor="t"/>
          <a:lstStyle/>
          <a:p>
            <a:pPr algn="ctr" indent="0" marL="0">
              <a:buNone/>
            </a:pPr>
            <a:r>
              <a:rPr lang="en-US" sz="1100" dirty="0">
                <a:solidFill>
                  <a:srgbClr val="5E6B73"/>
                </a:solidFill>
                <a:latin typeface="Calibri" pitchFamily="34" charset="0"/>
                <a:ea typeface="Calibri" pitchFamily="34" charset="-122"/>
                <a:cs typeface="Calibri" pitchFamily="34" charset="-120"/>
              </a:rPr>
              <a:t>median response</a:t>
            </a:r>
            <a:endParaRPr lang="en-US" sz="1100" dirty="0"/>
          </a:p>
          <a:p>
            <a:pPr algn="ctr" indent="0" marL="0">
              <a:buNone/>
            </a:pPr>
            <a:r>
              <a:rPr lang="en-US" sz="1100" dirty="0">
                <a:solidFill>
                  <a:srgbClr val="5E6B73"/>
                </a:solidFill>
                <a:latin typeface="Calibri" pitchFamily="34" charset="0"/>
                <a:ea typeface="Calibri" pitchFamily="34" charset="-122"/>
                <a:cs typeface="Calibri" pitchFamily="34" charset="-120"/>
              </a:rPr>
              <a:t>coherence |γ|</a:t>
            </a:r>
            <a:endParaRPr lang="en-US" sz="1100" dirty="0"/>
          </a:p>
        </p:txBody>
      </p:sp>
      <p:sp>
        <p:nvSpPr>
          <p:cNvPr id="10" name="Shape 7"/>
          <p:cNvSpPr/>
          <p:nvPr/>
        </p:nvSpPr>
        <p:spPr>
          <a:xfrm>
            <a:off x="3749040" y="4681728"/>
            <a:ext cx="3017520" cy="1371600"/>
          </a:xfrm>
          <a:prstGeom prst="roundRect">
            <a:avLst>
              <a:gd name="adj" fmla="val 4000"/>
            </a:avLst>
          </a:prstGeom>
          <a:solidFill>
            <a:srgbClr val="F2F2F2"/>
          </a:solidFill>
          <a:ln/>
        </p:spPr>
      </p:sp>
      <p:sp>
        <p:nvSpPr>
          <p:cNvPr id="11" name="Text 8"/>
          <p:cNvSpPr txBox="1"/>
          <p:nvPr/>
        </p:nvSpPr>
        <p:spPr>
          <a:xfrm>
            <a:off x="3895344" y="4828032"/>
            <a:ext cx="2724912" cy="621792"/>
          </a:xfrm>
          <a:prstGeom prst="rect">
            <a:avLst/>
          </a:prstGeom>
          <a:noFill/>
          <a:ln/>
        </p:spPr>
        <p:txBody>
          <a:bodyPr wrap="square" lIns="0" tIns="0" rIns="0" bIns="0" rtlCol="0" anchor="ctr"/>
          <a:lstStyle/>
          <a:p>
            <a:pPr algn="ctr" indent="0" marL="0">
              <a:buNone/>
            </a:pPr>
            <a:r>
              <a:rPr lang="en-US" sz="3000" b="1" dirty="0">
                <a:solidFill>
                  <a:srgbClr val="36454F"/>
                </a:solidFill>
                <a:latin typeface="Cambria" pitchFamily="34" charset="0"/>
                <a:ea typeface="Cambria" pitchFamily="34" charset="-122"/>
                <a:cs typeface="Cambria" pitchFamily="34" charset="-120"/>
              </a:rPr>
              <a:t>1.15 – 1.5</a:t>
            </a:r>
            <a:endParaRPr lang="en-US" sz="3000" dirty="0"/>
          </a:p>
        </p:txBody>
      </p:sp>
      <p:sp>
        <p:nvSpPr>
          <p:cNvPr id="12" name="Text 9"/>
          <p:cNvSpPr txBox="1"/>
          <p:nvPr/>
        </p:nvSpPr>
        <p:spPr>
          <a:xfrm>
            <a:off x="3895344" y="5449824"/>
            <a:ext cx="2724912" cy="493776"/>
          </a:xfrm>
          <a:prstGeom prst="rect">
            <a:avLst/>
          </a:prstGeom>
          <a:noFill/>
          <a:ln/>
        </p:spPr>
        <p:txBody>
          <a:bodyPr wrap="square" lIns="0" tIns="0" rIns="0" bIns="0" rtlCol="0" anchor="t"/>
          <a:lstStyle/>
          <a:p>
            <a:pPr algn="ctr" indent="0" marL="0">
              <a:buNone/>
            </a:pPr>
            <a:r>
              <a:rPr lang="en-US" sz="1100" dirty="0">
                <a:solidFill>
                  <a:srgbClr val="5E6B73"/>
                </a:solidFill>
                <a:latin typeface="Calibri" pitchFamily="34" charset="0"/>
                <a:ea typeface="Calibri" pitchFamily="34" charset="-122"/>
                <a:cs typeface="Calibri" pitchFamily="34" charset="-120"/>
              </a:rPr>
              <a:t>effective response</a:t>
            </a:r>
            <a:endParaRPr lang="en-US" sz="1100" dirty="0"/>
          </a:p>
          <a:p>
            <a:pPr algn="ctr" indent="0" marL="0">
              <a:buNone/>
            </a:pPr>
            <a:r>
              <a:rPr lang="en-US" sz="1100" dirty="0">
                <a:solidFill>
                  <a:srgbClr val="5E6B73"/>
                </a:solidFill>
                <a:latin typeface="Calibri" pitchFamily="34" charset="0"/>
                <a:ea typeface="Calibri" pitchFamily="34" charset="-122"/>
                <a:cs typeface="Calibri" pitchFamily="34" charset="-120"/>
              </a:rPr>
              <a:t>directions, out of 8</a:t>
            </a:r>
            <a:endParaRPr lang="en-US" sz="1100" dirty="0"/>
          </a:p>
        </p:txBody>
      </p:sp>
      <p:sp>
        <p:nvSpPr>
          <p:cNvPr id="13" name="Shape 10"/>
          <p:cNvSpPr/>
          <p:nvPr/>
        </p:nvSpPr>
        <p:spPr>
          <a:xfrm>
            <a:off x="6949440" y="4681728"/>
            <a:ext cx="3017520" cy="1371600"/>
          </a:xfrm>
          <a:prstGeom prst="roundRect">
            <a:avLst>
              <a:gd name="adj" fmla="val 4000"/>
            </a:avLst>
          </a:prstGeom>
          <a:solidFill>
            <a:srgbClr val="F2F2F2"/>
          </a:solidFill>
          <a:ln/>
        </p:spPr>
      </p:sp>
      <p:sp>
        <p:nvSpPr>
          <p:cNvPr id="14" name="Text 11"/>
          <p:cNvSpPr txBox="1"/>
          <p:nvPr/>
        </p:nvSpPr>
        <p:spPr>
          <a:xfrm>
            <a:off x="7095744" y="4828032"/>
            <a:ext cx="2724912" cy="621792"/>
          </a:xfrm>
          <a:prstGeom prst="rect">
            <a:avLst/>
          </a:prstGeom>
          <a:noFill/>
          <a:ln/>
        </p:spPr>
        <p:txBody>
          <a:bodyPr wrap="square" lIns="0" tIns="0" rIns="0" bIns="0" rtlCol="0" anchor="ctr"/>
          <a:lstStyle/>
          <a:p>
            <a:pPr algn="ctr" indent="0" marL="0">
              <a:buNone/>
            </a:pPr>
            <a:r>
              <a:rPr lang="en-US" sz="3000" b="1" dirty="0">
                <a:solidFill>
                  <a:srgbClr val="EB6834"/>
                </a:solidFill>
                <a:latin typeface="Cambria" pitchFamily="34" charset="0"/>
                <a:ea typeface="Cambria" pitchFamily="34" charset="-122"/>
                <a:cs typeface="Cambria" pitchFamily="34" charset="-120"/>
              </a:rPr>
              <a:t>0.967</a:t>
            </a:r>
            <a:endParaRPr lang="en-US" sz="3000" dirty="0"/>
          </a:p>
        </p:txBody>
      </p:sp>
      <p:sp>
        <p:nvSpPr>
          <p:cNvPr id="15" name="Text 12"/>
          <p:cNvSpPr txBox="1"/>
          <p:nvPr/>
        </p:nvSpPr>
        <p:spPr>
          <a:xfrm>
            <a:off x="7095744" y="5449824"/>
            <a:ext cx="2724912" cy="493776"/>
          </a:xfrm>
          <a:prstGeom prst="rect">
            <a:avLst/>
          </a:prstGeom>
          <a:noFill/>
          <a:ln/>
        </p:spPr>
        <p:txBody>
          <a:bodyPr wrap="square" lIns="0" tIns="0" rIns="0" bIns="0" rtlCol="0" anchor="t"/>
          <a:lstStyle/>
          <a:p>
            <a:pPr algn="ctr" indent="0" marL="0">
              <a:buNone/>
            </a:pPr>
            <a:r>
              <a:rPr lang="en-US" sz="1100" dirty="0">
                <a:solidFill>
                  <a:srgbClr val="5E6B73"/>
                </a:solidFill>
                <a:latin typeface="Calibri" pitchFamily="34" charset="0"/>
                <a:ea typeface="Calibri" pitchFamily="34" charset="-122"/>
                <a:cs typeface="Calibri" pitchFamily="34" charset="-120"/>
              </a:rPr>
              <a:t>coherence of the BEST</a:t>
            </a:r>
            <a:endParaRPr lang="en-US" sz="1100" dirty="0"/>
          </a:p>
          <a:p>
            <a:pPr algn="ctr" indent="0" marL="0">
              <a:buNone/>
            </a:pPr>
            <a:r>
              <a:rPr lang="en-US" sz="1100" dirty="0">
                <a:solidFill>
                  <a:srgbClr val="5E6B73"/>
                </a:solidFill>
                <a:latin typeface="Calibri" pitchFamily="34" charset="0"/>
                <a:ea typeface="Calibri" pitchFamily="34" charset="-122"/>
                <a:cs typeface="Calibri" pitchFamily="34" charset="-120"/>
              </a:rPr>
              <a:t>achievable response</a:t>
            </a:r>
            <a:endParaRPr lang="en-US" sz="1100" dirty="0"/>
          </a:p>
        </p:txBody>
      </p:sp>
      <p:sp>
        <p:nvSpPr>
          <p:cNvPr id="16" name="Text 13"/>
          <p:cNvSpPr txBox="1"/>
          <p:nvPr/>
        </p:nvSpPr>
        <p:spPr>
          <a:xfrm>
            <a:off x="548640" y="6163056"/>
            <a:ext cx="11064240" cy="457200"/>
          </a:xfrm>
          <a:prstGeom prst="rect">
            <a:avLst/>
          </a:prstGeom>
          <a:noFill/>
          <a:ln/>
        </p:spPr>
        <p:txBody>
          <a:bodyPr wrap="square" lIns="0" tIns="0" rIns="0" bIns="0" rtlCol="0" anchor="ctr"/>
          <a:lstStyle/>
          <a:p>
            <a:pPr indent="0" marL="0">
              <a:buNone/>
            </a:pPr>
            <a:r>
              <a:rPr lang="en-US" sz="1150" dirty="0">
                <a:solidFill>
                  <a:srgbClr val="8A959B"/>
                </a:solidFill>
                <a:latin typeface="Calibri" pitchFamily="34" charset="0"/>
                <a:ea typeface="Calibri" pitchFamily="34" charset="-122"/>
                <a:cs typeface="Calibri" pitchFamily="34" charset="-120"/>
              </a:rPr>
              <a:t>Rank 5 &lt; 8 control channels, so a diagonal response CPSD is unreachable — and the optimum is more correlated than almost every law delivered.</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10896"/>
            <a:ext cx="10332720" cy="658368"/>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Drive power spans a factor of 128</a:t>
            </a:r>
            <a:endParaRPr lang="en-US" sz="3000" dirty="0"/>
          </a:p>
        </p:txBody>
      </p:sp>
      <p:sp>
        <p:nvSpPr>
          <p:cNvPr id="3" name="Text 1"/>
          <p:cNvSpPr txBox="1"/>
          <p:nvPr/>
        </p:nvSpPr>
        <p:spPr>
          <a:xfrm>
            <a:off x="548640" y="969264"/>
            <a:ext cx="10332720" cy="384048"/>
          </a:xfrm>
          <a:prstGeom prst="rect">
            <a:avLst/>
          </a:prstGeom>
          <a:noFill/>
          <a:ln/>
        </p:spPr>
        <p:txBody>
          <a:bodyPr wrap="square" lIns="0" tIns="0" rIns="0" bIns="0" rtlCol="0" anchor="ctr"/>
          <a:lstStyle/>
          <a:p>
            <a:pPr indent="0" marL="0">
              <a:buNone/>
            </a:pPr>
            <a:r>
              <a:rPr lang="en-US" sz="1500" dirty="0">
                <a:solidFill>
                  <a:srgbClr val="5E6B73"/>
                </a:solidFill>
                <a:latin typeface="Calibri" pitchFamily="34" charset="0"/>
                <a:ea typeface="Calibri" pitchFamily="34" charset="-122"/>
                <a:cs typeface="Calibri" pitchFamily="34" charset="-120"/>
              </a:rPr>
              <a:t>If drive headroom binds rather than control accuracy, the ordering changes completely</a:t>
            </a:r>
            <a:endParaRPr lang="en-US" sz="1500" dirty="0"/>
          </a:p>
        </p:txBody>
      </p:sp>
      <p:sp>
        <p:nvSpPr>
          <p:cNvPr id="4" name="Shape 2"/>
          <p:cNvSpPr/>
          <p:nvPr/>
        </p:nvSpPr>
        <p:spPr>
          <a:xfrm>
            <a:off x="11192256" y="347472"/>
            <a:ext cx="420624" cy="420624"/>
          </a:xfrm>
          <a:prstGeom prst="ellipse">
            <a:avLst/>
          </a:prstGeom>
          <a:solidFill>
            <a:srgbClr val="F2F2F2"/>
          </a:solidFill>
          <a:ln/>
        </p:spPr>
      </p:sp>
      <p:sp>
        <p:nvSpPr>
          <p:cNvPr id="5" name="Text 3"/>
          <p:cNvSpPr txBox="1"/>
          <p:nvPr/>
        </p:nvSpPr>
        <p:spPr>
          <a:xfrm>
            <a:off x="11192256" y="347472"/>
            <a:ext cx="420624" cy="420624"/>
          </a:xfrm>
          <a:prstGeom prst="rect">
            <a:avLst/>
          </a:prstGeom>
          <a:noFill/>
          <a:ln/>
        </p:spPr>
        <p:txBody>
          <a:bodyPr wrap="square" lIns="0" tIns="0" rIns="0" bIns="0" rtlCol="0" anchor="ctr"/>
          <a:lstStyle/>
          <a:p>
            <a:pPr algn="ctr" indent="0" marL="0">
              <a:buNone/>
            </a:pPr>
            <a:r>
              <a:rPr lang="en-US" sz="1300" b="1" dirty="0">
                <a:solidFill>
                  <a:srgbClr val="5E6B73"/>
                </a:solidFill>
                <a:latin typeface="Calibri" pitchFamily="34" charset="0"/>
                <a:ea typeface="Calibri" pitchFamily="34" charset="-122"/>
                <a:cs typeface="Calibri" pitchFamily="34" charset="-120"/>
              </a:rPr>
              <a:t>12</a:t>
            </a:r>
            <a:endParaRPr lang="en-US" sz="1300" dirty="0"/>
          </a:p>
        </p:txBody>
      </p:sp>
      <p:pic>
        <p:nvPicPr>
          <p:cNvPr id="6" name="Image 0" descr="figs/drive_power.png">    </p:cNvPr>
          <p:cNvPicPr>
            <a:picLocks noChangeAspect="1"/>
          </p:cNvPicPr>
          <p:nvPr/>
        </p:nvPicPr>
        <p:blipFill>
          <a:blip r:embed="rId1"/>
          <a:stretch>
            <a:fillRect/>
          </a:stretch>
        </p:blipFill>
        <p:spPr>
          <a:xfrm>
            <a:off x="548640" y="1481328"/>
            <a:ext cx="7136892" cy="3200400"/>
          </a:xfrm>
          <a:prstGeom prst="rect">
            <a:avLst/>
          </a:prstGeom>
        </p:spPr>
      </p:pic>
      <p:sp>
        <p:nvSpPr>
          <p:cNvPr id="7" name="Shape 4"/>
          <p:cNvSpPr/>
          <p:nvPr/>
        </p:nvSpPr>
        <p:spPr>
          <a:xfrm>
            <a:off x="548640" y="4992624"/>
            <a:ext cx="3017520" cy="1371600"/>
          </a:xfrm>
          <a:prstGeom prst="roundRect">
            <a:avLst>
              <a:gd name="adj" fmla="val 4000"/>
            </a:avLst>
          </a:prstGeom>
          <a:solidFill>
            <a:srgbClr val="F2F2F2"/>
          </a:solidFill>
          <a:ln/>
        </p:spPr>
      </p:sp>
      <p:sp>
        <p:nvSpPr>
          <p:cNvPr id="8" name="Text 5"/>
          <p:cNvSpPr txBox="1"/>
          <p:nvPr/>
        </p:nvSpPr>
        <p:spPr>
          <a:xfrm>
            <a:off x="694944" y="5138928"/>
            <a:ext cx="2724912" cy="621792"/>
          </a:xfrm>
          <a:prstGeom prst="rect">
            <a:avLst/>
          </a:prstGeom>
          <a:noFill/>
          <a:ln/>
        </p:spPr>
        <p:txBody>
          <a:bodyPr wrap="square" lIns="0" tIns="0" rIns="0" bIns="0" rtlCol="0" anchor="ctr"/>
          <a:lstStyle/>
          <a:p>
            <a:pPr algn="ctr" indent="0" marL="0">
              <a:buNone/>
            </a:pPr>
            <a:r>
              <a:rPr lang="en-US" sz="3000" b="1" dirty="0">
                <a:solidFill>
                  <a:srgbClr val="2A78D6"/>
                </a:solidFill>
                <a:latin typeface="Cambria" pitchFamily="34" charset="0"/>
                <a:ea typeface="Cambria" pitchFamily="34" charset="-122"/>
                <a:cs typeface="Cambria" pitchFamily="34" charset="-120"/>
              </a:rPr>
              <a:t>0.047 V²</a:t>
            </a:r>
            <a:endParaRPr lang="en-US" sz="3000" dirty="0"/>
          </a:p>
        </p:txBody>
      </p:sp>
      <p:sp>
        <p:nvSpPr>
          <p:cNvPr id="9" name="Text 6"/>
          <p:cNvSpPr txBox="1"/>
          <p:nvPr/>
        </p:nvSpPr>
        <p:spPr>
          <a:xfrm>
            <a:off x="694944" y="5760720"/>
            <a:ext cx="2724912" cy="493776"/>
          </a:xfrm>
          <a:prstGeom prst="rect">
            <a:avLst/>
          </a:prstGeom>
          <a:noFill/>
          <a:ln/>
        </p:spPr>
        <p:txBody>
          <a:bodyPr wrap="square" lIns="0" tIns="0" rIns="0" bIns="0" rtlCol="0" anchor="t"/>
          <a:lstStyle/>
          <a:p>
            <a:pPr algn="ctr" indent="0" marL="0">
              <a:buNone/>
            </a:pPr>
            <a:r>
              <a:rPr lang="en-US" sz="1100" dirty="0">
                <a:solidFill>
                  <a:srgbClr val="5E6B73"/>
                </a:solidFill>
                <a:latin typeface="Calibri" pitchFamily="34" charset="0"/>
                <a:ea typeface="Calibri" pitchFamily="34" charset="-122"/>
                <a:cs typeface="Calibri" pitchFamily="34" charset="-120"/>
              </a:rPr>
              <a:t>congruence, cap on —</a:t>
            </a:r>
            <a:endParaRPr lang="en-US" sz="1100" dirty="0"/>
          </a:p>
          <a:p>
            <a:pPr algn="ctr" indent="0" marL="0">
              <a:buNone/>
            </a:pPr>
            <a:r>
              <a:rPr lang="en-US" sz="1100" dirty="0">
                <a:solidFill>
                  <a:srgbClr val="5E6B73"/>
                </a:solidFill>
                <a:latin typeface="Calibri" pitchFamily="34" charset="0"/>
                <a:ea typeface="Calibri" pitchFamily="34" charset="-122"/>
                <a:cs typeface="Calibri" pitchFamily="34" charset="-120"/>
              </a:rPr>
              <a:t>the cheapest run</a:t>
            </a:r>
            <a:endParaRPr lang="en-US" sz="1100" dirty="0"/>
          </a:p>
        </p:txBody>
      </p:sp>
      <p:sp>
        <p:nvSpPr>
          <p:cNvPr id="10" name="Shape 7"/>
          <p:cNvSpPr/>
          <p:nvPr/>
        </p:nvSpPr>
        <p:spPr>
          <a:xfrm>
            <a:off x="3749040" y="4992624"/>
            <a:ext cx="3017520" cy="1371600"/>
          </a:xfrm>
          <a:prstGeom prst="roundRect">
            <a:avLst>
              <a:gd name="adj" fmla="val 4000"/>
            </a:avLst>
          </a:prstGeom>
          <a:solidFill>
            <a:srgbClr val="F2F2F2"/>
          </a:solidFill>
          <a:ln/>
        </p:spPr>
      </p:sp>
      <p:sp>
        <p:nvSpPr>
          <p:cNvPr id="11" name="Text 8"/>
          <p:cNvSpPr txBox="1"/>
          <p:nvPr/>
        </p:nvSpPr>
        <p:spPr>
          <a:xfrm>
            <a:off x="3895344" y="5138928"/>
            <a:ext cx="2724912" cy="621792"/>
          </a:xfrm>
          <a:prstGeom prst="rect">
            <a:avLst/>
          </a:prstGeom>
          <a:noFill/>
          <a:ln/>
        </p:spPr>
        <p:txBody>
          <a:bodyPr wrap="square" lIns="0" tIns="0" rIns="0" bIns="0" rtlCol="0" anchor="ctr"/>
          <a:lstStyle/>
          <a:p>
            <a:pPr algn="ctr" indent="0" marL="0">
              <a:buNone/>
            </a:pPr>
            <a:r>
              <a:rPr lang="en-US" sz="3000" b="1" dirty="0">
                <a:solidFill>
                  <a:srgbClr val="EB6834"/>
                </a:solidFill>
                <a:latin typeface="Cambria" pitchFamily="34" charset="0"/>
                <a:ea typeface="Cambria" pitchFamily="34" charset="-122"/>
                <a:cs typeface="Cambria" pitchFamily="34" charset="-120"/>
              </a:rPr>
              <a:t>1.47 V²</a:t>
            </a:r>
            <a:endParaRPr lang="en-US" sz="3000" dirty="0"/>
          </a:p>
        </p:txBody>
      </p:sp>
      <p:sp>
        <p:nvSpPr>
          <p:cNvPr id="12" name="Text 9"/>
          <p:cNvSpPr txBox="1"/>
          <p:nvPr/>
        </p:nvSpPr>
        <p:spPr>
          <a:xfrm>
            <a:off x="3895344" y="5760720"/>
            <a:ext cx="2724912" cy="493776"/>
          </a:xfrm>
          <a:prstGeom prst="rect">
            <a:avLst/>
          </a:prstGeom>
          <a:noFill/>
          <a:ln/>
        </p:spPr>
        <p:txBody>
          <a:bodyPr wrap="square" lIns="0" tIns="0" rIns="0" bIns="0" rtlCol="0" anchor="t"/>
          <a:lstStyle/>
          <a:p>
            <a:pPr algn="ctr" indent="0" marL="0">
              <a:buNone/>
            </a:pPr>
            <a:r>
              <a:rPr lang="en-US" sz="1100" dirty="0">
                <a:solidFill>
                  <a:srgbClr val="5E6B73"/>
                </a:solidFill>
                <a:latin typeface="Calibri" pitchFamily="34" charset="0"/>
                <a:ea typeface="Calibri" pitchFamily="34" charset="-122"/>
                <a:cs typeface="Calibri" pitchFamily="34" charset="-120"/>
              </a:rPr>
              <a:t>buzz, cap off — 20×</a:t>
            </a:r>
            <a:endParaRPr lang="en-US" sz="1100" dirty="0"/>
          </a:p>
          <a:p>
            <a:pPr algn="ctr" indent="0" marL="0">
              <a:buNone/>
            </a:pPr>
            <a:r>
              <a:rPr lang="en-US" sz="1100" dirty="0">
                <a:solidFill>
                  <a:srgbClr val="5E6B73"/>
                </a:solidFill>
                <a:latin typeface="Calibri" pitchFamily="34" charset="0"/>
                <a:ea typeface="Calibri" pitchFamily="34" charset="-122"/>
                <a:cs typeface="Calibri" pitchFamily="34" charset="-120"/>
              </a:rPr>
              <a:t>for 0.3 dB worse</a:t>
            </a:r>
            <a:endParaRPr lang="en-US" sz="1100" dirty="0"/>
          </a:p>
        </p:txBody>
      </p:sp>
      <p:sp>
        <p:nvSpPr>
          <p:cNvPr id="13" name="Shape 10"/>
          <p:cNvSpPr/>
          <p:nvPr/>
        </p:nvSpPr>
        <p:spPr>
          <a:xfrm>
            <a:off x="6949440" y="4992624"/>
            <a:ext cx="3017520" cy="1371600"/>
          </a:xfrm>
          <a:prstGeom prst="roundRect">
            <a:avLst>
              <a:gd name="adj" fmla="val 4000"/>
            </a:avLst>
          </a:prstGeom>
          <a:solidFill>
            <a:srgbClr val="F2F2F2"/>
          </a:solidFill>
          <a:ln/>
        </p:spPr>
      </p:sp>
      <p:sp>
        <p:nvSpPr>
          <p:cNvPr id="14" name="Text 11"/>
          <p:cNvSpPr txBox="1"/>
          <p:nvPr/>
        </p:nvSpPr>
        <p:spPr>
          <a:xfrm>
            <a:off x="7095744" y="5138928"/>
            <a:ext cx="2724912" cy="621792"/>
          </a:xfrm>
          <a:prstGeom prst="rect">
            <a:avLst/>
          </a:prstGeom>
          <a:noFill/>
          <a:ln/>
        </p:spPr>
        <p:txBody>
          <a:bodyPr wrap="square" lIns="0" tIns="0" rIns="0" bIns="0" rtlCol="0" anchor="ctr"/>
          <a:lstStyle/>
          <a:p>
            <a:pPr algn="ctr" indent="0" marL="0">
              <a:buNone/>
            </a:pPr>
            <a:r>
              <a:rPr lang="en-US" sz="3000" b="1" dirty="0">
                <a:solidFill>
                  <a:srgbClr val="EB6834"/>
                </a:solidFill>
                <a:latin typeface="Cambria" pitchFamily="34" charset="0"/>
                <a:ea typeface="Cambria" pitchFamily="34" charset="-122"/>
                <a:cs typeface="Cambria" pitchFamily="34" charset="-120"/>
              </a:rPr>
              <a:t>6.02 V²</a:t>
            </a:r>
            <a:endParaRPr lang="en-US" sz="3000" dirty="0"/>
          </a:p>
        </p:txBody>
      </p:sp>
      <p:sp>
        <p:nvSpPr>
          <p:cNvPr id="15" name="Text 12"/>
          <p:cNvSpPr txBox="1"/>
          <p:nvPr/>
        </p:nvSpPr>
        <p:spPr>
          <a:xfrm>
            <a:off x="7095744" y="5760720"/>
            <a:ext cx="2724912" cy="493776"/>
          </a:xfrm>
          <a:prstGeom prst="rect">
            <a:avLst/>
          </a:prstGeom>
          <a:noFill/>
          <a:ln/>
        </p:spPr>
        <p:txBody>
          <a:bodyPr wrap="square" lIns="0" tIns="0" rIns="0" bIns="0" rtlCol="0" anchor="t"/>
          <a:lstStyle/>
          <a:p>
            <a:pPr algn="ctr" indent="0" marL="0">
              <a:buNone/>
            </a:pPr>
            <a:r>
              <a:rPr lang="en-US" sz="1100" dirty="0">
                <a:solidFill>
                  <a:srgbClr val="5E6B73"/>
                </a:solidFill>
                <a:latin typeface="Calibri" pitchFamily="34" charset="0"/>
                <a:ea typeface="Calibri" pitchFamily="34" charset="-122"/>
                <a:cs typeface="Calibri" pitchFamily="34" charset="-120"/>
              </a:rPr>
              <a:t>match_trace, cap off —</a:t>
            </a:r>
            <a:endParaRPr lang="en-US" sz="1100" dirty="0"/>
          </a:p>
          <a:p>
            <a:pPr algn="ctr" indent="0" marL="0">
              <a:buNone/>
            </a:pPr>
            <a:r>
              <a:rPr lang="en-US" sz="1100" dirty="0">
                <a:solidFill>
                  <a:srgbClr val="5E6B73"/>
                </a:solidFill>
                <a:latin typeface="Calibri" pitchFamily="34" charset="0"/>
                <a:ea typeface="Calibri" pitchFamily="34" charset="-122"/>
                <a:cs typeface="Calibri" pitchFamily="34" charset="-120"/>
              </a:rPr>
              <a:t>50× its own capped run</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10896"/>
            <a:ext cx="10332720" cy="658368"/>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Caveats and open defects</a:t>
            </a:r>
            <a:endParaRPr lang="en-US" sz="3000" dirty="0"/>
          </a:p>
        </p:txBody>
      </p:sp>
      <p:sp>
        <p:nvSpPr>
          <p:cNvPr id="3" name="Text 1"/>
          <p:cNvSpPr txBox="1"/>
          <p:nvPr/>
        </p:nvSpPr>
        <p:spPr>
          <a:xfrm>
            <a:off x="548640" y="969264"/>
            <a:ext cx="10332720" cy="384048"/>
          </a:xfrm>
          <a:prstGeom prst="rect">
            <a:avLst/>
          </a:prstGeom>
          <a:noFill/>
          <a:ln/>
        </p:spPr>
        <p:txBody>
          <a:bodyPr wrap="square" lIns="0" tIns="0" rIns="0" bIns="0" rtlCol="0" anchor="ctr"/>
          <a:lstStyle/>
          <a:p>
            <a:pPr indent="0" marL="0">
              <a:buNone/>
            </a:pPr>
            <a:r>
              <a:rPr lang="en-US" sz="1500" dirty="0">
                <a:solidFill>
                  <a:srgbClr val="5E6B73"/>
                </a:solidFill>
                <a:latin typeface="Calibri" pitchFamily="34" charset="0"/>
                <a:ea typeface="Calibri" pitchFamily="34" charset="-122"/>
                <a:cs typeface="Calibri" pitchFamily="34" charset="-120"/>
              </a:rPr>
              <a:t>What these numbers do not support</a:t>
            </a:r>
            <a:endParaRPr lang="en-US" sz="1500" dirty="0"/>
          </a:p>
        </p:txBody>
      </p:sp>
      <p:sp>
        <p:nvSpPr>
          <p:cNvPr id="4" name="Shape 2"/>
          <p:cNvSpPr/>
          <p:nvPr/>
        </p:nvSpPr>
        <p:spPr>
          <a:xfrm>
            <a:off x="11192256" y="347472"/>
            <a:ext cx="420624" cy="420624"/>
          </a:xfrm>
          <a:prstGeom prst="ellipse">
            <a:avLst/>
          </a:prstGeom>
          <a:solidFill>
            <a:srgbClr val="F2F2F2"/>
          </a:solidFill>
          <a:ln/>
        </p:spPr>
      </p:sp>
      <p:sp>
        <p:nvSpPr>
          <p:cNvPr id="5" name="Text 3"/>
          <p:cNvSpPr txBox="1"/>
          <p:nvPr/>
        </p:nvSpPr>
        <p:spPr>
          <a:xfrm>
            <a:off x="11192256" y="347472"/>
            <a:ext cx="420624" cy="420624"/>
          </a:xfrm>
          <a:prstGeom prst="rect">
            <a:avLst/>
          </a:prstGeom>
          <a:noFill/>
          <a:ln/>
        </p:spPr>
        <p:txBody>
          <a:bodyPr wrap="square" lIns="0" tIns="0" rIns="0" bIns="0" rtlCol="0" anchor="ctr"/>
          <a:lstStyle/>
          <a:p>
            <a:pPr algn="ctr" indent="0" marL="0">
              <a:buNone/>
            </a:pPr>
            <a:r>
              <a:rPr lang="en-US" sz="1300" b="1" dirty="0">
                <a:solidFill>
                  <a:srgbClr val="5E6B73"/>
                </a:solidFill>
                <a:latin typeface="Calibri" pitchFamily="34" charset="0"/>
                <a:ea typeface="Calibri" pitchFamily="34" charset="-122"/>
                <a:cs typeface="Calibri" pitchFamily="34" charset="-120"/>
              </a:rPr>
              <a:t>13</a:t>
            </a:r>
            <a:endParaRPr lang="en-US" sz="1300" dirty="0"/>
          </a:p>
        </p:txBody>
      </p:sp>
      <p:sp>
        <p:nvSpPr>
          <p:cNvPr id="6" name="Shape 4"/>
          <p:cNvSpPr/>
          <p:nvPr/>
        </p:nvSpPr>
        <p:spPr>
          <a:xfrm>
            <a:off x="548640" y="1627632"/>
            <a:ext cx="182880" cy="182880"/>
          </a:xfrm>
          <a:prstGeom prst="ellipse">
            <a:avLst/>
          </a:prstGeom>
          <a:solidFill>
            <a:srgbClr val="EB6834"/>
          </a:solidFill>
          <a:ln/>
        </p:spPr>
      </p:sp>
      <p:sp>
        <p:nvSpPr>
          <p:cNvPr id="7" name="Text 5"/>
          <p:cNvSpPr txBox="1"/>
          <p:nvPr/>
        </p:nvSpPr>
        <p:spPr>
          <a:xfrm>
            <a:off x="932688" y="1572768"/>
            <a:ext cx="10680192" cy="274320"/>
          </a:xfrm>
          <a:prstGeom prst="rect">
            <a:avLst/>
          </a:prstGeom>
          <a:noFill/>
          <a:ln/>
        </p:spPr>
        <p:txBody>
          <a:bodyPr wrap="square" lIns="0" tIns="0" rIns="0" bIns="0" rtlCol="0" anchor="ctr"/>
          <a:lstStyle/>
          <a:p>
            <a:pPr indent="0" marL="0">
              <a:buNone/>
            </a:pPr>
            <a:r>
              <a:rPr lang="en-US" sz="1500" b="1" dirty="0">
                <a:solidFill>
                  <a:srgbClr val="36454F"/>
                </a:solidFill>
                <a:latin typeface="Calibri" pitchFamily="34" charset="0"/>
                <a:ea typeface="Calibri" pitchFamily="34" charset="-122"/>
                <a:cs typeface="Calibri" pitchFamily="34" charset="-120"/>
              </a:rPr>
              <a:t>Runs 05 / 06 did not test what they were meant to</a:t>
            </a:r>
            <a:endParaRPr lang="en-US" sz="1500" dirty="0"/>
          </a:p>
        </p:txBody>
      </p:sp>
      <p:sp>
        <p:nvSpPr>
          <p:cNvPr id="8" name="Text 6"/>
          <p:cNvSpPr txBox="1"/>
          <p:nvPr/>
        </p:nvSpPr>
        <p:spPr>
          <a:xfrm>
            <a:off x="932688" y="1874520"/>
            <a:ext cx="10680192" cy="530352"/>
          </a:xfrm>
          <a:prstGeom prst="rect">
            <a:avLst/>
          </a:prstGeom>
          <a:noFill/>
          <a:ln/>
        </p:spPr>
        <p:txBody>
          <a:bodyPr wrap="square" lIns="0" tIns="0" rIns="0" bIns="0" rtlCol="0" anchor="ctr"/>
          <a:lstStyle/>
          <a:p>
            <a:pPr indent="0" marL="0">
              <a:buNone/>
            </a:pPr>
            <a:r>
              <a:rPr lang="en-US" sz="1200" dirty="0">
                <a:solidFill>
                  <a:srgbClr val="5E6B73"/>
                </a:solidFill>
                <a:latin typeface="Calibri" pitchFamily="34" charset="0"/>
                <a:ea typeface="Calibri" pitchFamily="34" charset="-122"/>
                <a:cs typeface="Calibri" pitchFamily="34" charset="-120"/>
              </a:rPr>
              <a:t>optimal_diagonal_control_fast disables its Burer-Monteiro path whenever the FRF changes between calls. With update on, every solve fell back to the base SDP — they are repeats of 03 / 04.</a:t>
            </a:r>
            <a:endParaRPr lang="en-US" sz="1200" dirty="0"/>
          </a:p>
        </p:txBody>
      </p:sp>
      <p:sp>
        <p:nvSpPr>
          <p:cNvPr id="9" name="Shape 7"/>
          <p:cNvSpPr/>
          <p:nvPr/>
        </p:nvSpPr>
        <p:spPr>
          <a:xfrm>
            <a:off x="548640" y="2560320"/>
            <a:ext cx="182880" cy="182880"/>
          </a:xfrm>
          <a:prstGeom prst="ellipse">
            <a:avLst/>
          </a:prstGeom>
          <a:solidFill>
            <a:srgbClr val="EB6834"/>
          </a:solidFill>
          <a:ln/>
        </p:spPr>
      </p:sp>
      <p:sp>
        <p:nvSpPr>
          <p:cNvPr id="10" name="Text 8"/>
          <p:cNvSpPr txBox="1"/>
          <p:nvPr/>
        </p:nvSpPr>
        <p:spPr>
          <a:xfrm>
            <a:off x="932688" y="2505456"/>
            <a:ext cx="10680192" cy="274320"/>
          </a:xfrm>
          <a:prstGeom prst="rect">
            <a:avLst/>
          </a:prstGeom>
          <a:noFill/>
          <a:ln/>
        </p:spPr>
        <p:txBody>
          <a:bodyPr wrap="square" lIns="0" tIns="0" rIns="0" bIns="0" rtlCol="0" anchor="ctr"/>
          <a:lstStyle/>
          <a:p>
            <a:pPr indent="0" marL="0">
              <a:buNone/>
            </a:pPr>
            <a:r>
              <a:rPr lang="en-US" sz="1500" b="1" dirty="0">
                <a:solidFill>
                  <a:srgbClr val="36454F"/>
                </a:solidFill>
                <a:latin typeface="Calibri" pitchFamily="34" charset="0"/>
                <a:ea typeface="Calibri" pitchFamily="34" charset="-122"/>
                <a:cs typeface="Calibri" pitchFamily="34" charset="-120"/>
              </a:rPr>
              <a:t>The cap barely applied in the optimal-diagonal laws</a:t>
            </a:r>
            <a:endParaRPr lang="en-US" sz="1500" dirty="0"/>
          </a:p>
        </p:txBody>
      </p:sp>
      <p:sp>
        <p:nvSpPr>
          <p:cNvPr id="11" name="Text 9"/>
          <p:cNvSpPr txBox="1"/>
          <p:nvPr/>
        </p:nvSpPr>
        <p:spPr>
          <a:xfrm>
            <a:off x="932688" y="2807208"/>
            <a:ext cx="10680192" cy="530352"/>
          </a:xfrm>
          <a:prstGeom prst="rect">
            <a:avLst/>
          </a:prstGeom>
          <a:noFill/>
          <a:ln/>
        </p:spPr>
        <p:txBody>
          <a:bodyPr wrap="square" lIns="0" tIns="0" rIns="0" bIns="0" rtlCol="0" anchor="ctr"/>
          <a:lstStyle/>
          <a:p>
            <a:pPr indent="0" marL="0">
              <a:buNone/>
            </a:pPr>
            <a:r>
              <a:rPr lang="en-US" sz="1200" dirty="0">
                <a:solidFill>
                  <a:srgbClr val="5E6B73"/>
                </a:solidFill>
                <a:latin typeface="Calibri" pitchFamily="34" charset="0"/>
                <a:ea typeface="Calibri" pitchFamily="34" charset="-122"/>
                <a:cs typeface="Calibri" pitchFamily="34" charset="-120"/>
              </a:rPr>
              <a:t>It reaches only SDP-refined bins, capped at max_bins_per_update = 20 across 901 lines. Their null result may mean “barely applied”, not “does not matter”.</a:t>
            </a:r>
            <a:endParaRPr lang="en-US" sz="1200" dirty="0"/>
          </a:p>
        </p:txBody>
      </p:sp>
      <p:sp>
        <p:nvSpPr>
          <p:cNvPr id="12" name="Shape 10"/>
          <p:cNvSpPr/>
          <p:nvPr/>
        </p:nvSpPr>
        <p:spPr>
          <a:xfrm>
            <a:off x="548640" y="3493008"/>
            <a:ext cx="182880" cy="182880"/>
          </a:xfrm>
          <a:prstGeom prst="ellipse">
            <a:avLst/>
          </a:prstGeom>
          <a:solidFill>
            <a:srgbClr val="EB6834"/>
          </a:solidFill>
          <a:ln/>
        </p:spPr>
      </p:sp>
      <p:sp>
        <p:nvSpPr>
          <p:cNvPr id="13" name="Text 11"/>
          <p:cNvSpPr txBox="1"/>
          <p:nvPr/>
        </p:nvSpPr>
        <p:spPr>
          <a:xfrm>
            <a:off x="932688" y="3438144"/>
            <a:ext cx="10680192" cy="274320"/>
          </a:xfrm>
          <a:prstGeom prst="rect">
            <a:avLst/>
          </a:prstGeom>
          <a:noFill/>
          <a:ln/>
        </p:spPr>
        <p:txBody>
          <a:bodyPr wrap="square" lIns="0" tIns="0" rIns="0" bIns="0" rtlCol="0" anchor="ctr"/>
          <a:lstStyle/>
          <a:p>
            <a:pPr indent="0" marL="0">
              <a:buNone/>
            </a:pPr>
            <a:r>
              <a:rPr lang="en-US" sz="1500" b="1" dirty="0">
                <a:solidFill>
                  <a:srgbClr val="36454F"/>
                </a:solidFill>
                <a:latin typeface="Calibri" pitchFamily="34" charset="0"/>
                <a:ea typeface="Calibri" pitchFamily="34" charset="-122"/>
                <a:cs typeface="Calibri" pitchFamily="34" charset="-120"/>
              </a:rPr>
              <a:t>pseudoinverse_control has no startup guard</a:t>
            </a:r>
            <a:endParaRPr lang="en-US" sz="1500" dirty="0"/>
          </a:p>
        </p:txBody>
      </p:sp>
      <p:sp>
        <p:nvSpPr>
          <p:cNvPr id="14" name="Text 12"/>
          <p:cNvSpPr txBox="1"/>
          <p:nvPr/>
        </p:nvSpPr>
        <p:spPr>
          <a:xfrm>
            <a:off x="932688" y="3739896"/>
            <a:ext cx="10680192" cy="530352"/>
          </a:xfrm>
          <a:prstGeom prst="rect">
            <a:avLst/>
          </a:prstGeom>
          <a:noFill/>
          <a:ln/>
        </p:spPr>
        <p:txBody>
          <a:bodyPr wrap="square" lIns="0" tIns="0" rIns="0" bIns="0" rtlCol="0" anchor="ctr"/>
          <a:lstStyle/>
          <a:p>
            <a:pPr indent="0" marL="0">
              <a:buNone/>
            </a:pPr>
            <a:r>
              <a:rPr lang="en-US" sz="1200" dirty="0">
                <a:solidFill>
                  <a:srgbClr val="5E6B73"/>
                </a:solidFill>
                <a:latin typeface="Calibri" pitchFamily="34" charset="0"/>
                <a:ea typeface="Calibri" pitchFamily="34" charset="-122"/>
                <a:cs typeface="Calibri" pitchFamily="34" charset="-120"/>
              </a:rPr>
              <a:t>The only law in the set without the first-cycle clamp. On frame one the FRF is a single unaveraged estimate and the command can be decades high.</a:t>
            </a:r>
            <a:endParaRPr lang="en-US" sz="1200" dirty="0"/>
          </a:p>
        </p:txBody>
      </p:sp>
      <p:sp>
        <p:nvSpPr>
          <p:cNvPr id="15" name="Shape 13"/>
          <p:cNvSpPr/>
          <p:nvPr/>
        </p:nvSpPr>
        <p:spPr>
          <a:xfrm>
            <a:off x="548640" y="4425696"/>
            <a:ext cx="182880" cy="182880"/>
          </a:xfrm>
          <a:prstGeom prst="ellipse">
            <a:avLst/>
          </a:prstGeom>
          <a:solidFill>
            <a:srgbClr val="EB6834"/>
          </a:solidFill>
          <a:ln/>
        </p:spPr>
      </p:sp>
      <p:sp>
        <p:nvSpPr>
          <p:cNvPr id="16" name="Text 14"/>
          <p:cNvSpPr txBox="1"/>
          <p:nvPr/>
        </p:nvSpPr>
        <p:spPr>
          <a:xfrm>
            <a:off x="932688" y="4370832"/>
            <a:ext cx="10680192" cy="274320"/>
          </a:xfrm>
          <a:prstGeom prst="rect">
            <a:avLst/>
          </a:prstGeom>
          <a:noFill/>
          <a:ln/>
        </p:spPr>
        <p:txBody>
          <a:bodyPr wrap="square" lIns="0" tIns="0" rIns="0" bIns="0" rtlCol="0" anchor="ctr"/>
          <a:lstStyle/>
          <a:p>
            <a:pPr indent="0" marL="0">
              <a:buNone/>
            </a:pPr>
            <a:r>
              <a:rPr lang="en-US" sz="1500" b="1" dirty="0">
                <a:solidFill>
                  <a:srgbClr val="36454F"/>
                </a:solidFill>
                <a:latin typeface="Calibri" pitchFamily="34" charset="0"/>
                <a:ea typeface="Calibri" pitchFamily="34" charset="-122"/>
                <a:cs typeface="Calibri" pitchFamily="34" charset="-120"/>
              </a:rPr>
              <a:t>Identification scatter is large</a:t>
            </a:r>
            <a:endParaRPr lang="en-US" sz="1500" dirty="0"/>
          </a:p>
        </p:txBody>
      </p:sp>
      <p:sp>
        <p:nvSpPr>
          <p:cNvPr id="17" name="Text 15"/>
          <p:cNvSpPr txBox="1"/>
          <p:nvPr/>
        </p:nvSpPr>
        <p:spPr>
          <a:xfrm>
            <a:off x="932688" y="4672584"/>
            <a:ext cx="10680192" cy="530352"/>
          </a:xfrm>
          <a:prstGeom prst="rect">
            <a:avLst/>
          </a:prstGeom>
          <a:noFill/>
          <a:ln/>
        </p:spPr>
        <p:txBody>
          <a:bodyPr wrap="square" lIns="0" tIns="0" rIns="0" bIns="0" rtlCol="0" anchor="ctr"/>
          <a:lstStyle/>
          <a:p>
            <a:pPr indent="0" marL="0">
              <a:buNone/>
            </a:pPr>
            <a:r>
              <a:rPr lang="en-US" sz="1200" dirty="0">
                <a:solidFill>
                  <a:srgbClr val="5E6B73"/>
                </a:solidFill>
                <a:latin typeface="Calibri" pitchFamily="34" charset="0"/>
                <a:ea typeface="Calibri" pitchFamily="34" charset="-122"/>
                <a:cs typeface="Calibri" pitchFamily="34" charset="-120"/>
              </a:rPr>
              <a:t>Median cond(H) 2,447–25,928 across twelve identifications of one deterministic plant. Differences below a few tenths of a dB are not real.</a:t>
            </a:r>
            <a:endParaRPr lang="en-US" sz="1200" dirty="0"/>
          </a:p>
        </p:txBody>
      </p:sp>
      <p:sp>
        <p:nvSpPr>
          <p:cNvPr id="18" name="Shape 16"/>
          <p:cNvSpPr/>
          <p:nvPr/>
        </p:nvSpPr>
        <p:spPr>
          <a:xfrm>
            <a:off x="548640" y="5358384"/>
            <a:ext cx="182880" cy="182880"/>
          </a:xfrm>
          <a:prstGeom prst="ellipse">
            <a:avLst/>
          </a:prstGeom>
          <a:solidFill>
            <a:srgbClr val="EB6834"/>
          </a:solidFill>
          <a:ln/>
        </p:spPr>
      </p:sp>
      <p:sp>
        <p:nvSpPr>
          <p:cNvPr id="19" name="Text 17"/>
          <p:cNvSpPr txBox="1"/>
          <p:nvPr/>
        </p:nvSpPr>
        <p:spPr>
          <a:xfrm>
            <a:off x="932688" y="5303520"/>
            <a:ext cx="10680192" cy="274320"/>
          </a:xfrm>
          <a:prstGeom prst="rect">
            <a:avLst/>
          </a:prstGeom>
          <a:noFill/>
          <a:ln/>
        </p:spPr>
        <p:txBody>
          <a:bodyPr wrap="square" lIns="0" tIns="0" rIns="0" bIns="0" rtlCol="0" anchor="ctr"/>
          <a:lstStyle/>
          <a:p>
            <a:pPr indent="0" marL="0">
              <a:buNone/>
            </a:pPr>
            <a:r>
              <a:rPr lang="en-US" sz="1500" b="1" dirty="0">
                <a:solidFill>
                  <a:srgbClr val="36454F"/>
                </a:solidFill>
                <a:latin typeface="Calibri" pitchFamily="34" charset="0"/>
                <a:ea typeface="Calibri" pitchFamily="34" charset="-122"/>
                <a:cs typeface="Calibri" pitchFamily="34" charset="-120"/>
              </a:rPr>
              <a:t>One level, one averaging setting, one plant, no repeats</a:t>
            </a:r>
            <a:endParaRPr lang="en-US" sz="1500" dirty="0"/>
          </a:p>
        </p:txBody>
      </p:sp>
      <p:sp>
        <p:nvSpPr>
          <p:cNvPr id="20" name="Text 18"/>
          <p:cNvSpPr txBox="1"/>
          <p:nvPr/>
        </p:nvSpPr>
        <p:spPr>
          <a:xfrm>
            <a:off x="932688" y="5605272"/>
            <a:ext cx="10680192" cy="530352"/>
          </a:xfrm>
          <a:prstGeom prst="rect">
            <a:avLst/>
          </a:prstGeom>
          <a:noFill/>
          <a:ln/>
        </p:spPr>
        <p:txBody>
          <a:bodyPr wrap="square" lIns="0" tIns="0" rIns="0" bIns="0" rtlCol="0" anchor="ctr"/>
          <a:lstStyle/>
          <a:p>
            <a:pPr indent="0" marL="0">
              <a:buNone/>
            </a:pPr>
            <a:r>
              <a:rPr lang="en-US" sz="1200" dirty="0">
                <a:solidFill>
                  <a:srgbClr val="5E6B73"/>
                </a:solidFill>
                <a:latin typeface="Calibri" pitchFamily="34" charset="0"/>
                <a:ea typeface="Calibri" pitchFamily="34" charset="-122"/>
                <a:cs typeface="Calibri" pitchFamily="34" charset="-120"/>
              </a:rPr>
              <a:t>No per-law variance estimate exists. The plant is lightly damped, which is the harder case.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B3740"/>
        </a:solidFill>
      </p:bgPr>
    </p:bg>
    <p:spTree>
      <p:nvGrpSpPr>
        <p:cNvPr id="1" name=""/>
        <p:cNvGrpSpPr/>
        <p:nvPr/>
      </p:nvGrpSpPr>
      <p:grpSpPr>
        <a:xfrm>
          <a:off x="0" y="0"/>
          <a:ext cx="0" cy="0"/>
          <a:chOff x="0" y="0"/>
          <a:chExt cx="0" cy="0"/>
        </a:xfrm>
      </p:grpSpPr>
      <p:sp>
        <p:nvSpPr>
          <p:cNvPr id="2" name="Text 0"/>
          <p:cNvSpPr txBox="1"/>
          <p:nvPr/>
        </p:nvSpPr>
        <p:spPr>
          <a:xfrm>
            <a:off x="548640" y="566928"/>
            <a:ext cx="1106424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Next</a:t>
            </a:r>
            <a:endParaRPr lang="en-US" sz="3400" dirty="0"/>
          </a:p>
        </p:txBody>
      </p:sp>
      <p:sp>
        <p:nvSpPr>
          <p:cNvPr id="3" name="Shape 1"/>
          <p:cNvSpPr/>
          <p:nvPr/>
        </p:nvSpPr>
        <p:spPr>
          <a:xfrm>
            <a:off x="548640" y="1481328"/>
            <a:ext cx="384048" cy="384048"/>
          </a:xfrm>
          <a:prstGeom prst="ellipse">
            <a:avLst/>
          </a:prstGeom>
          <a:solidFill>
            <a:srgbClr val="EB6834"/>
          </a:solidFill>
          <a:ln/>
        </p:spPr>
      </p:sp>
      <p:sp>
        <p:nvSpPr>
          <p:cNvPr id="4" name="Text 2"/>
          <p:cNvSpPr txBox="1"/>
          <p:nvPr/>
        </p:nvSpPr>
        <p:spPr>
          <a:xfrm>
            <a:off x="548640" y="1481328"/>
            <a:ext cx="384048" cy="384048"/>
          </a:xfrm>
          <a:prstGeom prst="rect">
            <a:avLst/>
          </a:prstGeom>
          <a:noFill/>
          <a:ln/>
        </p:spPr>
        <p:txBody>
          <a:bodyPr wrap="square" lIns="0" tIns="0" rIns="0" bIns="0" rtlCol="0" anchor="ctr"/>
          <a:lstStyle/>
          <a:p>
            <a:pPr algn="ctr" indent="0" marL="0">
              <a:buNone/>
            </a:pPr>
            <a:r>
              <a:rPr lang="en-US" sz="1300" b="1" dirty="0">
                <a:solidFill>
                  <a:srgbClr val="2B3740"/>
                </a:solidFill>
                <a:latin typeface="Calibri" pitchFamily="34" charset="0"/>
                <a:ea typeface="Calibri" pitchFamily="34" charset="-122"/>
                <a:cs typeface="Calibri" pitchFamily="34" charset="-120"/>
              </a:rPr>
              <a:t>1</a:t>
            </a:r>
            <a:endParaRPr lang="en-US" sz="1300" dirty="0"/>
          </a:p>
        </p:txBody>
      </p:sp>
      <p:sp>
        <p:nvSpPr>
          <p:cNvPr id="5" name="Text 3"/>
          <p:cNvSpPr txBox="1"/>
          <p:nvPr/>
        </p:nvSpPr>
        <p:spPr>
          <a:xfrm>
            <a:off x="1115568" y="1463040"/>
            <a:ext cx="4846320" cy="42062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Find out why the plant is rank 5</a:t>
            </a:r>
            <a:endParaRPr lang="en-US" sz="1500" dirty="0"/>
          </a:p>
        </p:txBody>
      </p:sp>
      <p:sp>
        <p:nvSpPr>
          <p:cNvPr id="6" name="Text 4"/>
          <p:cNvSpPr txBox="1"/>
          <p:nvPr/>
        </p:nvSpPr>
        <p:spPr>
          <a:xfrm>
            <a:off x="6126480" y="1463040"/>
            <a:ext cx="5486400" cy="420624"/>
          </a:xfrm>
          <a:prstGeom prst="rect">
            <a:avLst/>
          </a:prstGeom>
          <a:noFill/>
          <a:ln/>
        </p:spPr>
        <p:txBody>
          <a:bodyPr wrap="square" lIns="0" tIns="0" rIns="0" bIns="0" rtlCol="0" anchor="ctr"/>
          <a:lstStyle/>
          <a:p>
            <a:pPr indent="0" marL="0">
              <a:buNone/>
            </a:pPr>
            <a:r>
              <a:rPr lang="en-US" sz="1250" dirty="0">
                <a:solidFill>
                  <a:srgbClr val="B9C5CC"/>
                </a:solidFill>
                <a:latin typeface="Calibri" pitchFamily="34" charset="0"/>
                <a:ea typeface="Calibri" pitchFamily="34" charset="-122"/>
                <a:cs typeface="Calibri" pitchFamily="34" charset="-120"/>
              </a:rPr>
              <a:t>If the sixth shaker is redundant by construction it matters for the rig, not just the model.</a:t>
            </a:r>
            <a:endParaRPr lang="en-US" sz="1250" dirty="0"/>
          </a:p>
        </p:txBody>
      </p:sp>
      <p:sp>
        <p:nvSpPr>
          <p:cNvPr id="7" name="Shape 5"/>
          <p:cNvSpPr/>
          <p:nvPr/>
        </p:nvSpPr>
        <p:spPr>
          <a:xfrm>
            <a:off x="548640" y="2267712"/>
            <a:ext cx="384048" cy="384048"/>
          </a:xfrm>
          <a:prstGeom prst="ellipse">
            <a:avLst/>
          </a:prstGeom>
          <a:solidFill>
            <a:srgbClr val="EB6834"/>
          </a:solidFill>
          <a:ln/>
        </p:spPr>
      </p:sp>
      <p:sp>
        <p:nvSpPr>
          <p:cNvPr id="8" name="Text 6"/>
          <p:cNvSpPr txBox="1"/>
          <p:nvPr/>
        </p:nvSpPr>
        <p:spPr>
          <a:xfrm>
            <a:off x="548640" y="2267712"/>
            <a:ext cx="384048" cy="384048"/>
          </a:xfrm>
          <a:prstGeom prst="rect">
            <a:avLst/>
          </a:prstGeom>
          <a:noFill/>
          <a:ln/>
        </p:spPr>
        <p:txBody>
          <a:bodyPr wrap="square" lIns="0" tIns="0" rIns="0" bIns="0" rtlCol="0" anchor="ctr"/>
          <a:lstStyle/>
          <a:p>
            <a:pPr algn="ctr" indent="0" marL="0">
              <a:buNone/>
            </a:pPr>
            <a:r>
              <a:rPr lang="en-US" sz="1300" b="1" dirty="0">
                <a:solidFill>
                  <a:srgbClr val="2B3740"/>
                </a:solidFill>
                <a:latin typeface="Calibri" pitchFamily="34" charset="0"/>
                <a:ea typeface="Calibri" pitchFamily="34" charset="-122"/>
                <a:cs typeface="Calibri" pitchFamily="34" charset="-120"/>
              </a:rPr>
              <a:t>2</a:t>
            </a:r>
            <a:endParaRPr lang="en-US" sz="1300" dirty="0"/>
          </a:p>
        </p:txBody>
      </p:sp>
      <p:sp>
        <p:nvSpPr>
          <p:cNvPr id="9" name="Text 7"/>
          <p:cNvSpPr txBox="1"/>
          <p:nvPr/>
        </p:nvSpPr>
        <p:spPr>
          <a:xfrm>
            <a:off x="1115568" y="2249424"/>
            <a:ext cx="4846320" cy="42062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Higher damping, same geometry</a:t>
            </a:r>
            <a:endParaRPr lang="en-US" sz="1500" dirty="0"/>
          </a:p>
        </p:txBody>
      </p:sp>
      <p:sp>
        <p:nvSpPr>
          <p:cNvPr id="10" name="Text 8"/>
          <p:cNvSpPr txBox="1"/>
          <p:nvPr/>
        </p:nvSpPr>
        <p:spPr>
          <a:xfrm>
            <a:off x="6126480" y="2249424"/>
            <a:ext cx="5486400" cy="420624"/>
          </a:xfrm>
          <a:prstGeom prst="rect">
            <a:avLst/>
          </a:prstGeom>
          <a:noFill/>
          <a:ln/>
        </p:spPr>
        <p:txBody>
          <a:bodyPr wrap="square" lIns="0" tIns="0" rIns="0" bIns="0" rtlCol="0" anchor="ctr"/>
          <a:lstStyle/>
          <a:p>
            <a:pPr indent="0" marL="0">
              <a:buNone/>
            </a:pPr>
            <a:r>
              <a:rPr lang="en-US" sz="1250" dirty="0">
                <a:solidFill>
                  <a:srgbClr val="B9C5CC"/>
                </a:solidFill>
                <a:latin typeface="Calibri" pitchFamily="34" charset="0"/>
                <a:ea typeface="Calibri" pitchFamily="34" charset="-122"/>
                <a:cs typeface="Calibri" pitchFamily="34" charset="-120"/>
              </a:rPr>
              <a:t>higherz has identical mass and stiffness, ζ 0.83 → 3.34 %. Floor unchanged (4.05 vs 4.09) — it isolates identification quality.</a:t>
            </a:r>
            <a:endParaRPr lang="en-US" sz="1250" dirty="0"/>
          </a:p>
        </p:txBody>
      </p:sp>
      <p:sp>
        <p:nvSpPr>
          <p:cNvPr id="11" name="Shape 9"/>
          <p:cNvSpPr/>
          <p:nvPr/>
        </p:nvSpPr>
        <p:spPr>
          <a:xfrm>
            <a:off x="548640" y="3054096"/>
            <a:ext cx="384048" cy="384048"/>
          </a:xfrm>
          <a:prstGeom prst="ellipse">
            <a:avLst/>
          </a:prstGeom>
          <a:solidFill>
            <a:srgbClr val="5C6E7A"/>
          </a:solidFill>
          <a:ln/>
        </p:spPr>
      </p:sp>
      <p:sp>
        <p:nvSpPr>
          <p:cNvPr id="12" name="Text 10"/>
          <p:cNvSpPr txBox="1"/>
          <p:nvPr/>
        </p:nvSpPr>
        <p:spPr>
          <a:xfrm>
            <a:off x="548640" y="30540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11"/>
          <p:cNvSpPr txBox="1"/>
          <p:nvPr/>
        </p:nvSpPr>
        <p:spPr>
          <a:xfrm>
            <a:off x="1115568" y="3035808"/>
            <a:ext cx="4846320" cy="42062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buzz_control with the FRF update off</a:t>
            </a:r>
            <a:endParaRPr lang="en-US" sz="1500" dirty="0"/>
          </a:p>
        </p:txBody>
      </p:sp>
      <p:sp>
        <p:nvSpPr>
          <p:cNvPr id="14" name="Text 12"/>
          <p:cNvSpPr txBox="1"/>
          <p:nvPr/>
        </p:nvSpPr>
        <p:spPr>
          <a:xfrm>
            <a:off x="6126480" y="3035808"/>
            <a:ext cx="5486400" cy="420624"/>
          </a:xfrm>
          <a:prstGeom prst="rect">
            <a:avLst/>
          </a:prstGeom>
          <a:noFill/>
          <a:ln/>
        </p:spPr>
        <p:txBody>
          <a:bodyPr wrap="square" lIns="0" tIns="0" rIns="0" bIns="0" rtlCol="0" anchor="ctr"/>
          <a:lstStyle/>
          <a:p>
            <a:pPr indent="0" marL="0">
              <a:buNone/>
            </a:pPr>
            <a:r>
              <a:rPr lang="en-US" sz="1250" dirty="0">
                <a:solidFill>
                  <a:srgbClr val="B9C5CC"/>
                </a:solidFill>
                <a:latin typeface="Calibri" pitchFamily="34" charset="0"/>
                <a:ea typeface="Calibri" pitchFamily="34" charset="-122"/>
                <a:cs typeface="Calibri" pitchFamily="34" charset="-120"/>
              </a:rPr>
              <a:t>Makes the law fully static after cycle one. One run measures what plant-model adaptation is worth.</a:t>
            </a:r>
            <a:endParaRPr lang="en-US" sz="1250" dirty="0"/>
          </a:p>
        </p:txBody>
      </p:sp>
      <p:sp>
        <p:nvSpPr>
          <p:cNvPr id="15" name="Shape 13"/>
          <p:cNvSpPr/>
          <p:nvPr/>
        </p:nvSpPr>
        <p:spPr>
          <a:xfrm>
            <a:off x="548640" y="3840480"/>
            <a:ext cx="384048" cy="384048"/>
          </a:xfrm>
          <a:prstGeom prst="ellipse">
            <a:avLst/>
          </a:prstGeom>
          <a:solidFill>
            <a:srgbClr val="5C6E7A"/>
          </a:solidFill>
          <a:ln/>
        </p:spPr>
      </p:sp>
      <p:sp>
        <p:nvSpPr>
          <p:cNvPr id="16" name="Text 14"/>
          <p:cNvSpPr txBox="1"/>
          <p:nvPr/>
        </p:nvSpPr>
        <p:spPr>
          <a:xfrm>
            <a:off x="548640" y="38404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7" name="Text 15"/>
          <p:cNvSpPr txBox="1"/>
          <p:nvPr/>
        </p:nvSpPr>
        <p:spPr>
          <a:xfrm>
            <a:off x="1115568" y="3822192"/>
            <a:ext cx="4846320" cy="42062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Raise max_bins_per_update, repeat 03 / 04</a:t>
            </a:r>
            <a:endParaRPr lang="en-US" sz="1500" dirty="0"/>
          </a:p>
        </p:txBody>
      </p:sp>
      <p:sp>
        <p:nvSpPr>
          <p:cNvPr id="18" name="Text 16"/>
          <p:cNvSpPr txBox="1"/>
          <p:nvPr/>
        </p:nvSpPr>
        <p:spPr>
          <a:xfrm>
            <a:off x="6126480" y="3822192"/>
            <a:ext cx="5486400" cy="420624"/>
          </a:xfrm>
          <a:prstGeom prst="rect">
            <a:avLst/>
          </a:prstGeom>
          <a:noFill/>
          <a:ln/>
        </p:spPr>
        <p:txBody>
          <a:bodyPr wrap="square" lIns="0" tIns="0" rIns="0" bIns="0" rtlCol="0" anchor="ctr"/>
          <a:lstStyle/>
          <a:p>
            <a:pPr indent="0" marL="0">
              <a:buNone/>
            </a:pPr>
            <a:r>
              <a:rPr lang="en-US" sz="1250" dirty="0">
                <a:solidFill>
                  <a:srgbClr val="B9C5CC"/>
                </a:solidFill>
                <a:latin typeface="Calibri" pitchFamily="34" charset="0"/>
                <a:ea typeface="Calibri" pitchFamily="34" charset="-122"/>
                <a:cs typeface="Calibri" pitchFamily="34" charset="-120"/>
              </a:rPr>
              <a:t>Settles whether the optimal-diagonal cap null result is real.</a:t>
            </a:r>
            <a:endParaRPr lang="en-US" sz="1250" dirty="0"/>
          </a:p>
        </p:txBody>
      </p:sp>
      <p:sp>
        <p:nvSpPr>
          <p:cNvPr id="19" name="Shape 17"/>
          <p:cNvSpPr/>
          <p:nvPr/>
        </p:nvSpPr>
        <p:spPr>
          <a:xfrm>
            <a:off x="548640" y="4626864"/>
            <a:ext cx="384048" cy="384048"/>
          </a:xfrm>
          <a:prstGeom prst="ellipse">
            <a:avLst/>
          </a:prstGeom>
          <a:solidFill>
            <a:srgbClr val="5C6E7A"/>
          </a:solidFill>
          <a:ln/>
        </p:spPr>
      </p:sp>
      <p:sp>
        <p:nvSpPr>
          <p:cNvPr id="20" name="Text 18"/>
          <p:cNvSpPr txBox="1"/>
          <p:nvPr/>
        </p:nvSpPr>
        <p:spPr>
          <a:xfrm>
            <a:off x="548640" y="46268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1" name="Text 19"/>
          <p:cNvSpPr txBox="1"/>
          <p:nvPr/>
        </p:nvSpPr>
        <p:spPr>
          <a:xfrm>
            <a:off x="1115568" y="4608576"/>
            <a:ext cx="4846320" cy="42062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Decide whether cross-terms are in scope</a:t>
            </a:r>
            <a:endParaRPr lang="en-US" sz="1500" dirty="0"/>
          </a:p>
        </p:txBody>
      </p:sp>
      <p:sp>
        <p:nvSpPr>
          <p:cNvPr id="22" name="Text 20"/>
          <p:cNvSpPr txBox="1"/>
          <p:nvPr/>
        </p:nvSpPr>
        <p:spPr>
          <a:xfrm>
            <a:off x="6126480" y="4608576"/>
            <a:ext cx="5486400" cy="420624"/>
          </a:xfrm>
          <a:prstGeom prst="rect">
            <a:avLst/>
          </a:prstGeom>
          <a:noFill/>
          <a:ln/>
        </p:spPr>
        <p:txBody>
          <a:bodyPr wrap="square" lIns="0" tIns="0" rIns="0" bIns="0" rtlCol="0" anchor="ctr"/>
          <a:lstStyle/>
          <a:p>
            <a:pPr indent="0" marL="0">
              <a:buNone/>
            </a:pPr>
            <a:r>
              <a:rPr lang="en-US" sz="1250" dirty="0">
                <a:solidFill>
                  <a:srgbClr val="B9C5CC"/>
                </a:solidFill>
                <a:latin typeface="Calibri" pitchFamily="34" charset="0"/>
                <a:ea typeface="Calibri" pitchFamily="34" charset="-122"/>
                <a:cs typeface="Calibri" pitchFamily="34" charset="-120"/>
              </a:rPr>
              <a:t>Currently a diagonal-only comparison by default rather than by decision.</a:t>
            </a:r>
            <a:endParaRPr lang="en-US" sz="1250" dirty="0"/>
          </a:p>
        </p:txBody>
      </p:sp>
      <p:sp>
        <p:nvSpPr>
          <p:cNvPr id="23" name="Shape 21"/>
          <p:cNvSpPr/>
          <p:nvPr/>
        </p:nvSpPr>
        <p:spPr>
          <a:xfrm>
            <a:off x="548640" y="5413248"/>
            <a:ext cx="384048" cy="384048"/>
          </a:xfrm>
          <a:prstGeom prst="ellipse">
            <a:avLst/>
          </a:prstGeom>
          <a:solidFill>
            <a:srgbClr val="5C6E7A"/>
          </a:solidFill>
          <a:ln/>
        </p:spPr>
      </p:sp>
      <p:sp>
        <p:nvSpPr>
          <p:cNvPr id="24" name="Text 22"/>
          <p:cNvSpPr txBox="1"/>
          <p:nvPr/>
        </p:nvSpPr>
        <p:spPr>
          <a:xfrm>
            <a:off x="548640" y="54132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5" name="Text 23"/>
          <p:cNvSpPr txBox="1"/>
          <p:nvPr/>
        </p:nvSpPr>
        <p:spPr>
          <a:xfrm>
            <a:off x="1115568" y="5394960"/>
            <a:ext cx="4846320" cy="42062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Add a startup level cap to the remaining laws</a:t>
            </a:r>
            <a:endParaRPr lang="en-US" sz="1500" dirty="0"/>
          </a:p>
        </p:txBody>
      </p:sp>
      <p:sp>
        <p:nvSpPr>
          <p:cNvPr id="26" name="Text 24"/>
          <p:cNvSpPr txBox="1"/>
          <p:nvPr/>
        </p:nvSpPr>
        <p:spPr>
          <a:xfrm>
            <a:off x="6126480" y="5394960"/>
            <a:ext cx="5486400" cy="420624"/>
          </a:xfrm>
          <a:prstGeom prst="rect">
            <a:avLst/>
          </a:prstGeom>
          <a:noFill/>
          <a:ln/>
        </p:spPr>
        <p:txBody>
          <a:bodyPr wrap="square" lIns="0" tIns="0" rIns="0" bIns="0" rtlCol="0" anchor="ctr"/>
          <a:lstStyle/>
          <a:p>
            <a:pPr indent="0" marL="0">
              <a:buNone/>
            </a:pPr>
            <a:r>
              <a:rPr lang="en-US" sz="1250" dirty="0">
                <a:solidFill>
                  <a:srgbClr val="B9C5CC"/>
                </a:solidFill>
                <a:latin typeface="Calibri" pitchFamily="34" charset="0"/>
                <a:ea typeface="Calibri" pitchFamily="34" charset="-122"/>
                <a:cs typeface="Calibri" pitchFamily="34" charset="-120"/>
              </a:rPr>
              <a:t>Open defect on both optimal-diagonal laws and pseudoinverse_control.</a:t>
            </a:r>
            <a:endParaRPr lang="en-US" sz="1250" dirty="0"/>
          </a:p>
        </p:txBody>
      </p:sp>
      <p:sp>
        <p:nvSpPr>
          <p:cNvPr id="27" name="Text 25"/>
          <p:cNvSpPr txBox="1"/>
          <p:nvPr/>
        </p:nvSpPr>
        <p:spPr>
          <a:xfrm>
            <a:off x="548640" y="6144768"/>
            <a:ext cx="11064240" cy="310896"/>
          </a:xfrm>
          <a:prstGeom prst="rect">
            <a:avLst/>
          </a:prstGeom>
          <a:noFill/>
          <a:ln/>
        </p:spPr>
        <p:txBody>
          <a:bodyPr wrap="square" lIns="0" tIns="0" rIns="0" bIns="0" rtlCol="0" anchor="ctr"/>
          <a:lstStyle/>
          <a:p>
            <a:pPr indent="0" marL="0">
              <a:buNone/>
            </a:pPr>
            <a:r>
              <a:rPr lang="en-US" sz="1100" dirty="0">
                <a:solidFill>
                  <a:srgbClr val="A4B4BE"/>
                </a:solidFill>
                <a:latin typeface="Calibri" pitchFamily="34" charset="0"/>
                <a:ea typeface="Calibri" pitchFamily="34" charset="-122"/>
                <a:cs typeface="Calibri" pitchFamily="34" charset="-120"/>
              </a:rPr>
              <a:t>Report: Claude outputs/law_comparison_report_2026-09-15  ·  data: report_data.json, crossterm_data.json, singular_value_data.json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Control-law comparison on the 6-12-8 system</dc:title>
  <dc:subject>PptxGenJS Presentation</dc:subject>
  <dc:creator>nhunter</dc:creator>
  <cp:lastModifiedBy>nhunter</cp:lastModifiedBy>
  <cp:revision>1</cp:revision>
  <dcterms:created xsi:type="dcterms:W3CDTF">2026-09-15T18:22:42Z</dcterms:created>
  <dcterms:modified xsi:type="dcterms:W3CDTF">2026-09-15T18:22:42Z</dcterms:modified>
</cp:coreProperties>
</file>