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reference document section for section. Six control laws plus the achievable-response predictor that supplies the denominator every comparison is measured against.
Sections 5, 6 and 7 — pseudoinverse_control, buzz_control, and the coherence-cap behaviour — were added on 15 September after runs 09-12. The original document predated those runs and was materially incomplete: buzz in particular produced the most surprising result of the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law is handed the same eleven arguments and returns one thing: the drive CPSD. The only hard requirement is that X be Hermitian positive semidefinite at every frequency line — otherwise the commanded drive is not physically realisable.
Rattlesnake loads laws by file path with importlib, so there is no package context and no relative imports are possible inside a law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document. Each law solves the same problem — choose a drive CPSD whose predicted response matches the specification — and what separates them is how they keep X positive semidefinite while doing it.
Degrees of freedom per line is the useful axis: match_trace has exactly one (a scalar), congruence has N, the optimal-diagonal laws have the full matrix, and the open-loop pair has none because they do not iterate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is safe: a uniform positive real scalar can never turn a valid drive CPSD into an invalid one, and after startup the FRF is never inverted again. Why it is limited: if channel 3 is 5 dB high and channel 5 is 5 dB low, the trace is correct and the law does nothing.
Run 01 may have been saved short of convergence — its optimal single rescale is +3.37 dB, which would improve it to 7.50 dB. It is the weakest number in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of the set on lines-out (11.2 %) and essentially tied with congruence on rms. The cap made no measurable difference — but see the caveat: the cap reaches only SDP-refined bins, capped at 20 per call across 901 lines, so most bins carried the deliberately uncapped buzz baseline in both runs. That null result may mean "barely applied" rather than "does not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close agreement with runs 03 and 04 is NOT evidence that the factored solve matches the SDP. No timing difference was observed at the rig, which is consistent with the fast path never engaging.
To actually test the claim, rerun with update_tf_during_control =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rms in the twelve-run matrix (5.23) and lowest error against the achievable floor (3.48). Also the cheapest run in the set on drive power with the cap on: 0.047 V².
Its weakness is level: it sits +2.8 dB high, which costs it against the specification but not against what was reachable. That is why it leads the floor-relative ranking more clearly than the flat-spec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is expensive: the flat specification is diagonal and hence rank 8, while H X Hᴴ has rank at most 5 on this plant. Inverting a maximally unreachable target with no trace or coherence management burns drive power trying to manufacture response components that do not exist in the column space — 5.38 V², seventy times the optimal-diagonal family, for a worse score.
Worst in the matrix on both criteria with the cap on. The cap costs it 3.47 dB; section 7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Uncapped, buzz finishes 0.68 dB behind the best run in the entire twelve-run matrix and ahead of both match_trace runs — with no error feedback whatsoever.
Second limitation worth knowing: sysid_response_cpsd is assigned only during system ID and is never refreshed during control, so the target shape is frozen for the whole run. Only the FRF adapts.
The generator and class forms are NOT equivalent: neither has the cap, neither takes rcond, neither has the startup guard, and buzz_control_class.control() ignores last_response_cpsd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control law — a predictor. It answers "how well could ANY law have done here", which turns a bare rms number into a meaningful one.
Five channels sit inside half a dB of the specification; three carry the whole floor — 8X+ overshooting and the 13X+/14X+ pair undershooting. Those last two are the directions six shakers cannot independently command.
Caution: the pooled rms (3.9) is much larger than the rms of those per-channel means (1.29) because per-line scatter is worse than the channel averages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to a feedback law the cap is a constraint the loop re-converges around. Applied to an open-loop law it is pure damage, because there is nothing to re-converge with.
The residual is shape error, not level: the best possible single rescale of run 09's entire drive recovers only 0.30 dB. No gain correction rescues it.
match_trace is the one feedback law that loses a full dB to the cap — but removing it costs 50x the drive power, so cap on is still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summary: on this plant, against a flat specification, the four feedback laws and the better of the two open-loop laws all land between 5.2 and 5.9 dB. That cluster is set by reachability and identification quality, not by loop design.
What actually separates them is how sensibly each picks a target inside the reachable set — which is why buzz, with no feedback at all, beats match_trace, which has an integrator.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740"/>
        </a:solidFill>
      </p:bgPr>
    </p:bg>
    <p:spTree>
      <p:nvGrpSpPr>
        <p:cNvPr id="1" name=""/>
        <p:cNvGrpSpPr/>
        <p:nvPr/>
      </p:nvGrpSpPr>
      <p:grpSpPr>
        <a:xfrm>
          <a:off x="0" y="0"/>
          <a:ext cx="0" cy="0"/>
          <a:chOff x="0" y="0"/>
          <a:chExt cx="0" cy="0"/>
        </a:xfrm>
      </p:grpSpPr>
      <p:sp>
        <p:nvSpPr>
          <p:cNvPr id="2" name="Text 0"/>
          <p:cNvSpPr txBox="1"/>
          <p:nvPr/>
        </p:nvSpPr>
        <p:spPr>
          <a:xfrm>
            <a:off x="548640" y="1783080"/>
            <a:ext cx="110642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Control laws in the Rattlesnake</a:t>
            </a:r>
            <a:endParaRPr lang="en-US" sz="4000" dirty="0"/>
          </a:p>
        </p:txBody>
      </p:sp>
      <p:sp>
        <p:nvSpPr>
          <p:cNvPr id="3" name="Text 1"/>
          <p:cNvSpPr txBox="1"/>
          <p:nvPr/>
        </p:nvSpPr>
        <p:spPr>
          <a:xfrm>
            <a:off x="548640" y="2487168"/>
            <a:ext cx="11064240" cy="621792"/>
          </a:xfrm>
          <a:prstGeom prst="rect">
            <a:avLst/>
          </a:prstGeom>
          <a:noFill/>
          <a:ln/>
        </p:spPr>
        <p:txBody>
          <a:bodyPr wrap="square" lIns="0" tIns="0" rIns="0" bIns="0" rtlCol="0" anchor="ctr"/>
          <a:lstStyle/>
          <a:p>
            <a:pPr indent="0" marL="0">
              <a:buNone/>
            </a:pPr>
            <a:r>
              <a:rPr lang="en-US" sz="3200" dirty="0">
                <a:solidFill>
                  <a:srgbClr val="EB6834"/>
                </a:solidFill>
                <a:latin typeface="Cambria" pitchFamily="34" charset="0"/>
                <a:ea typeface="Cambria" pitchFamily="34" charset="-122"/>
                <a:cs typeface="Cambria" pitchFamily="34" charset="-120"/>
              </a:rPr>
              <a:t>MIMO random environment</a:t>
            </a:r>
            <a:endParaRPr lang="en-US" sz="3200" dirty="0"/>
          </a:p>
        </p:txBody>
      </p:sp>
      <p:sp>
        <p:nvSpPr>
          <p:cNvPr id="4" name="Text 2"/>
          <p:cNvSpPr txBox="1"/>
          <p:nvPr/>
        </p:nvSpPr>
        <p:spPr>
          <a:xfrm>
            <a:off x="548640" y="3401568"/>
            <a:ext cx="11064240" cy="365760"/>
          </a:xfrm>
          <a:prstGeom prst="rect">
            <a:avLst/>
          </a:prstGeom>
          <a:noFill/>
          <a:ln/>
        </p:spPr>
        <p:txBody>
          <a:bodyPr wrap="square" lIns="0" tIns="0" rIns="0" bIns="0" rtlCol="0" anchor="ctr"/>
          <a:lstStyle/>
          <a:p>
            <a:pPr indent="0" marL="0">
              <a:buNone/>
            </a:pPr>
            <a:r>
              <a:rPr lang="en-US" sz="1600" dirty="0">
                <a:solidFill>
                  <a:srgbClr val="D6DDE2"/>
                </a:solidFill>
                <a:latin typeface="Calibri" pitchFamily="34" charset="0"/>
                <a:ea typeface="Calibri" pitchFamily="34" charset="-122"/>
                <a:cs typeface="Calibri" pitchFamily="34" charset="-120"/>
              </a:rPr>
              <a:t>Algorithms, equations and flow charts  ·  seven subjects  ·  6-12-8 system</a:t>
            </a:r>
            <a:endParaRPr lang="en-US" sz="1600" dirty="0"/>
          </a:p>
        </p:txBody>
      </p:sp>
      <p:sp>
        <p:nvSpPr>
          <p:cNvPr id="5" name="Text 3"/>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200" dirty="0">
                <a:solidFill>
                  <a:srgbClr val="9FAEB8"/>
                </a:solidFill>
                <a:latin typeface="Courier New" pitchFamily="34" charset="0"/>
                <a:ea typeface="Courier New" pitchFamily="34" charset="-122"/>
                <a:cs typeface="Courier New" pitchFamily="34" charset="-120"/>
              </a:rPr>
              <a:t>control_laws/</a:t>
            </a:r>
            <a:endParaRPr lang="en-US" sz="1200" dirty="0"/>
          </a:p>
          <a:p>
            <a:pPr indent="0" marL="0">
              <a:buNone/>
            </a:pPr>
            <a:r>
              <a:rPr lang="en-US" sz="1200" dirty="0">
                <a:solidFill>
                  <a:srgbClr val="9FAEB8"/>
                </a:solidFill>
                <a:latin typeface="Calibri" pitchFamily="34" charset="0"/>
                <a:ea typeface="Calibri" pitchFamily="34" charset="-122"/>
                <a:cs typeface="Calibri" pitchFamily="34" charset="-120"/>
              </a:rPr>
              <a:t>15 September 2026  ·  sections 5–7 added after runs 09–12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What every law receives</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the control() contract</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2</a:t>
            </a:r>
            <a:endParaRPr lang="en-US" sz="1300" dirty="0"/>
          </a:p>
        </p:txBody>
      </p:sp>
      <p:sp>
        <p:nvSpPr>
          <p:cNvPr id="7" name="Shape 5"/>
          <p:cNvSpPr/>
          <p:nvPr/>
        </p:nvSpPr>
        <p:spPr>
          <a:xfrm>
            <a:off x="548640" y="1417320"/>
            <a:ext cx="5943600" cy="3657600"/>
          </a:xfrm>
          <a:prstGeom prst="roundRect">
            <a:avLst>
              <a:gd name="adj" fmla="val 1250"/>
            </a:avLst>
          </a:prstGeom>
          <a:solidFill>
            <a:srgbClr val="F2F2F2"/>
          </a:solidFill>
          <a:ln/>
        </p:spPr>
      </p:sp>
      <p:sp>
        <p:nvSpPr>
          <p:cNvPr id="8" name="Text 6"/>
          <p:cNvSpPr txBox="1"/>
          <p:nvPr/>
        </p:nvSpPr>
        <p:spPr>
          <a:xfrm>
            <a:off x="694944" y="1527048"/>
            <a:ext cx="5650992" cy="3438144"/>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inputs, every cycle</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specification        G_xx   (F,M,M)</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warning / abort      levels</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transfer_function    H      (F,M,N)</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noise_response_cpsd         (F,M,M)</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sysid_response_cpsd         (F,M,M)</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multiple_coherence          (F,M)</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frames, total_frames</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extra_parameters     str</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last_response_cpsd   G_yy   (F,M,M)</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last_output_cpsd     X_prev (F,N,N)</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output</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drive CPSD           X      (F,N,N)</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the one hard requirement</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X(f) must be Hermitian positive</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semidefinite at every line f.</a:t>
            </a:r>
            <a:endParaRPr lang="en-US" sz="1000" dirty="0"/>
          </a:p>
        </p:txBody>
      </p:sp>
      <p:sp>
        <p:nvSpPr>
          <p:cNvPr id="9" name="Text 7"/>
          <p:cNvSpPr txBox="1"/>
          <p:nvPr/>
        </p:nvSpPr>
        <p:spPr>
          <a:xfrm>
            <a:off x="6858000" y="1481328"/>
            <a:ext cx="1874520" cy="256032"/>
          </a:xfrm>
          <a:prstGeom prst="rect">
            <a:avLst/>
          </a:prstGeom>
          <a:noFill/>
          <a:ln/>
        </p:spPr>
        <p:txBody>
          <a:bodyPr wrap="square" lIns="0" tIns="0" rIns="0" bIns="0" rtlCol="0" anchor="ctr"/>
          <a:lstStyle/>
          <a:p>
            <a:pPr indent="0" marL="0">
              <a:buNone/>
            </a:pPr>
            <a:r>
              <a:rPr lang="en-US" sz="1150" b="1" dirty="0">
                <a:solidFill>
                  <a:srgbClr val="36454F"/>
                </a:solidFill>
                <a:latin typeface="Calibri" pitchFamily="34" charset="0"/>
                <a:ea typeface="Calibri" pitchFamily="34" charset="-122"/>
                <a:cs typeface="Calibri" pitchFamily="34" charset="-120"/>
              </a:rPr>
              <a:t>M, N</a:t>
            </a:r>
            <a:endParaRPr lang="en-US" sz="1150" dirty="0"/>
          </a:p>
        </p:txBody>
      </p:sp>
      <p:sp>
        <p:nvSpPr>
          <p:cNvPr id="10" name="Text 8"/>
          <p:cNvSpPr txBox="1"/>
          <p:nvPr/>
        </p:nvSpPr>
        <p:spPr>
          <a:xfrm>
            <a:off x="8778240" y="1481328"/>
            <a:ext cx="2834640" cy="256032"/>
          </a:xfrm>
          <a:prstGeom prst="rect">
            <a:avLst/>
          </a:prstGeom>
          <a:noFill/>
          <a:ln/>
        </p:spPr>
        <p:txBody>
          <a:bodyPr wrap="square" lIns="0" tIns="0" rIns="0" bIns="0" rtlCol="0" anchor="ctr"/>
          <a:lstStyle/>
          <a:p>
            <a:pPr indent="0" marL="0">
              <a:buNone/>
            </a:pPr>
            <a:r>
              <a:rPr lang="en-US" sz="1150" dirty="0">
                <a:solidFill>
                  <a:srgbClr val="5E6B73"/>
                </a:solidFill>
                <a:latin typeface="Calibri" pitchFamily="34" charset="0"/>
                <a:ea typeface="Calibri" pitchFamily="34" charset="-122"/>
                <a:cs typeface="Calibri" pitchFamily="34" charset="-120"/>
              </a:rPr>
              <a:t>8 control channels, 6 drives</a:t>
            </a:r>
            <a:endParaRPr lang="en-US" sz="1150" dirty="0"/>
          </a:p>
        </p:txBody>
      </p:sp>
      <p:sp>
        <p:nvSpPr>
          <p:cNvPr id="11" name="Text 9"/>
          <p:cNvSpPr txBox="1"/>
          <p:nvPr/>
        </p:nvSpPr>
        <p:spPr>
          <a:xfrm>
            <a:off x="6858000" y="1755648"/>
            <a:ext cx="1874520" cy="256032"/>
          </a:xfrm>
          <a:prstGeom prst="rect">
            <a:avLst/>
          </a:prstGeom>
          <a:noFill/>
          <a:ln/>
        </p:spPr>
        <p:txBody>
          <a:bodyPr wrap="square" lIns="0" tIns="0" rIns="0" bIns="0" rtlCol="0" anchor="ctr"/>
          <a:lstStyle/>
          <a:p>
            <a:pPr indent="0" marL="0">
              <a:buNone/>
            </a:pPr>
            <a:r>
              <a:rPr lang="en-US" sz="1150" b="1" dirty="0">
                <a:solidFill>
                  <a:srgbClr val="36454F"/>
                </a:solidFill>
                <a:latin typeface="Calibri" pitchFamily="34" charset="0"/>
                <a:ea typeface="Calibri" pitchFamily="34" charset="-122"/>
                <a:cs typeface="Calibri" pitchFamily="34" charset="-120"/>
              </a:rPr>
              <a:t>F</a:t>
            </a:r>
            <a:endParaRPr lang="en-US" sz="1150" dirty="0"/>
          </a:p>
        </p:txBody>
      </p:sp>
      <p:sp>
        <p:nvSpPr>
          <p:cNvPr id="12" name="Text 10"/>
          <p:cNvSpPr txBox="1"/>
          <p:nvPr/>
        </p:nvSpPr>
        <p:spPr>
          <a:xfrm>
            <a:off x="8778240" y="1755648"/>
            <a:ext cx="2834640" cy="256032"/>
          </a:xfrm>
          <a:prstGeom prst="rect">
            <a:avLst/>
          </a:prstGeom>
          <a:noFill/>
          <a:ln/>
        </p:spPr>
        <p:txBody>
          <a:bodyPr wrap="square" lIns="0" tIns="0" rIns="0" bIns="0" rtlCol="0" anchor="ctr"/>
          <a:lstStyle/>
          <a:p>
            <a:pPr indent="0" marL="0">
              <a:buNone/>
            </a:pPr>
            <a:r>
              <a:rPr lang="en-US" sz="1150" dirty="0">
                <a:solidFill>
                  <a:srgbClr val="5E6B73"/>
                </a:solidFill>
                <a:latin typeface="Calibri" pitchFamily="34" charset="0"/>
                <a:ea typeface="Calibri" pitchFamily="34" charset="-122"/>
                <a:cs typeface="Calibri" pitchFamily="34" charset="-120"/>
              </a:rPr>
              <a:t>901 in-band lines, 100–1000 Hz</a:t>
            </a:r>
            <a:endParaRPr lang="en-US" sz="1150" dirty="0"/>
          </a:p>
        </p:txBody>
      </p:sp>
      <p:sp>
        <p:nvSpPr>
          <p:cNvPr id="13" name="Text 11"/>
          <p:cNvSpPr txBox="1"/>
          <p:nvPr/>
        </p:nvSpPr>
        <p:spPr>
          <a:xfrm>
            <a:off x="6858000" y="2029968"/>
            <a:ext cx="1874520" cy="256032"/>
          </a:xfrm>
          <a:prstGeom prst="rect">
            <a:avLst/>
          </a:prstGeom>
          <a:noFill/>
          <a:ln/>
        </p:spPr>
        <p:txBody>
          <a:bodyPr wrap="square" lIns="0" tIns="0" rIns="0" bIns="0" rtlCol="0" anchor="ctr"/>
          <a:lstStyle/>
          <a:p>
            <a:pPr indent="0" marL="0">
              <a:buNone/>
            </a:pPr>
            <a:r>
              <a:rPr lang="en-US" sz="1150" b="1" dirty="0">
                <a:solidFill>
                  <a:srgbClr val="36454F"/>
                </a:solidFill>
                <a:latin typeface="Calibri" pitchFamily="34" charset="0"/>
                <a:ea typeface="Calibri" pitchFamily="34" charset="-122"/>
                <a:cs typeface="Calibri" pitchFamily="34" charset="-120"/>
              </a:rPr>
              <a:t>loaded by</a:t>
            </a:r>
            <a:endParaRPr lang="en-US" sz="1150" dirty="0"/>
          </a:p>
        </p:txBody>
      </p:sp>
      <p:sp>
        <p:nvSpPr>
          <p:cNvPr id="14" name="Text 12"/>
          <p:cNvSpPr txBox="1"/>
          <p:nvPr/>
        </p:nvSpPr>
        <p:spPr>
          <a:xfrm>
            <a:off x="8778240" y="2029968"/>
            <a:ext cx="2834640" cy="256032"/>
          </a:xfrm>
          <a:prstGeom prst="rect">
            <a:avLst/>
          </a:prstGeom>
          <a:noFill/>
          <a:ln/>
        </p:spPr>
        <p:txBody>
          <a:bodyPr wrap="square" lIns="0" tIns="0" rIns="0" bIns="0" rtlCol="0" anchor="ctr"/>
          <a:lstStyle/>
          <a:p>
            <a:pPr indent="0" marL="0">
              <a:buNone/>
            </a:pPr>
            <a:r>
              <a:rPr lang="en-US" sz="1150" dirty="0">
                <a:solidFill>
                  <a:srgbClr val="5E6B73"/>
                </a:solidFill>
                <a:latin typeface="Calibri" pitchFamily="34" charset="0"/>
                <a:ea typeface="Calibri" pitchFamily="34" charset="-122"/>
                <a:cs typeface="Calibri" pitchFamily="34" charset="-120"/>
              </a:rPr>
              <a:t>importlib.util.spec_from_file_location</a:t>
            </a:r>
            <a:endParaRPr lang="en-US" sz="1150" dirty="0"/>
          </a:p>
        </p:txBody>
      </p:sp>
      <p:sp>
        <p:nvSpPr>
          <p:cNvPr id="15" name="Text 13"/>
          <p:cNvSpPr txBox="1"/>
          <p:nvPr/>
        </p:nvSpPr>
        <p:spPr>
          <a:xfrm>
            <a:off x="6858000" y="2304288"/>
            <a:ext cx="1874520" cy="256032"/>
          </a:xfrm>
          <a:prstGeom prst="rect">
            <a:avLst/>
          </a:prstGeom>
          <a:noFill/>
          <a:ln/>
        </p:spPr>
        <p:txBody>
          <a:bodyPr wrap="square" lIns="0" tIns="0" rIns="0" bIns="0" rtlCol="0" anchor="ctr"/>
          <a:lstStyle/>
          <a:p>
            <a:pPr indent="0" marL="0">
              <a:buNone/>
            </a:pPr>
            <a:r>
              <a:rPr lang="en-US" sz="1150" b="1" dirty="0">
                <a:solidFill>
                  <a:srgbClr val="36454F"/>
                </a:solidFill>
                <a:latin typeface="Calibri" pitchFamily="34" charset="0"/>
                <a:ea typeface="Calibri" pitchFamily="34" charset="-122"/>
                <a:cs typeface="Calibri" pitchFamily="34" charset="-120"/>
              </a:rPr>
              <a:t>law types</a:t>
            </a:r>
            <a:endParaRPr lang="en-US" sz="1150" dirty="0"/>
          </a:p>
        </p:txBody>
      </p:sp>
      <p:sp>
        <p:nvSpPr>
          <p:cNvPr id="16" name="Text 14"/>
          <p:cNvSpPr txBox="1"/>
          <p:nvPr/>
        </p:nvSpPr>
        <p:spPr>
          <a:xfrm>
            <a:off x="8778240" y="2304288"/>
            <a:ext cx="2834640" cy="256032"/>
          </a:xfrm>
          <a:prstGeom prst="rect">
            <a:avLst/>
          </a:prstGeom>
          <a:noFill/>
          <a:ln/>
        </p:spPr>
        <p:txBody>
          <a:bodyPr wrap="square" lIns="0" tIns="0" rIns="0" bIns="0" rtlCol="0" anchor="ctr"/>
          <a:lstStyle/>
          <a:p>
            <a:pPr indent="0" marL="0">
              <a:buNone/>
            </a:pPr>
            <a:r>
              <a:rPr lang="en-US" sz="1150" dirty="0">
                <a:solidFill>
                  <a:srgbClr val="5E6B73"/>
                </a:solidFill>
                <a:latin typeface="Calibri" pitchFamily="34" charset="0"/>
                <a:ea typeface="Calibri" pitchFamily="34" charset="-122"/>
                <a:cs typeface="Calibri" pitchFamily="34" charset="-120"/>
              </a:rPr>
              <a:t>1 = generator, 2 = class, else function</a:t>
            </a:r>
            <a:endParaRPr lang="en-US" sz="1150" dirty="0"/>
          </a:p>
        </p:txBody>
      </p:sp>
      <p:sp>
        <p:nvSpPr>
          <p:cNvPr id="17" name="Shape 15"/>
          <p:cNvSpPr/>
          <p:nvPr/>
        </p:nvSpPr>
        <p:spPr>
          <a:xfrm>
            <a:off x="6858000" y="2880360"/>
            <a:ext cx="4754880" cy="1234440"/>
          </a:xfrm>
          <a:prstGeom prst="roundRect">
            <a:avLst>
              <a:gd name="adj" fmla="val 3704"/>
            </a:avLst>
          </a:prstGeom>
          <a:solidFill>
            <a:srgbClr val="F2F2F2"/>
          </a:solidFill>
          <a:ln/>
        </p:spPr>
      </p:sp>
      <p:sp>
        <p:nvSpPr>
          <p:cNvPr id="18" name="Text 16"/>
          <p:cNvSpPr txBox="1"/>
          <p:nvPr/>
        </p:nvSpPr>
        <p:spPr>
          <a:xfrm>
            <a:off x="7004304" y="2990088"/>
            <a:ext cx="4462272" cy="1014984"/>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X ⪰ 0 is what makes the laws differ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A drive CPSD that is not positive semidefinite is not physically realisable. How each law guarantees it — by scalar, by cone constraint, by factoring, by congruence — is the single design choice that determines both its power and its limits.</a:t>
            </a:r>
            <a:endParaRPr lang="en-US" sz="1250" dirty="0"/>
          </a:p>
        </p:txBody>
      </p:sp>
      <p:sp>
        <p:nvSpPr>
          <p:cNvPr id="19" name="Shape 17"/>
          <p:cNvSpPr/>
          <p:nvPr/>
        </p:nvSpPr>
        <p:spPr>
          <a:xfrm>
            <a:off x="6858000" y="4279392"/>
            <a:ext cx="4754880" cy="1417320"/>
          </a:xfrm>
          <a:prstGeom prst="roundRect">
            <a:avLst>
              <a:gd name="adj" fmla="val 3226"/>
            </a:avLst>
          </a:prstGeom>
          <a:solidFill>
            <a:srgbClr val="F2F2F2"/>
          </a:solidFill>
          <a:ln/>
        </p:spPr>
      </p:sp>
      <p:sp>
        <p:nvSpPr>
          <p:cNvPr id="20" name="Text 18"/>
          <p:cNvSpPr txBox="1"/>
          <p:nvPr/>
        </p:nvSpPr>
        <p:spPr>
          <a:xfrm>
            <a:off x="7004304" y="4389120"/>
            <a:ext cx="4462272" cy="1197864"/>
          </a:xfrm>
          <a:prstGeom prst="rect">
            <a:avLst/>
          </a:prstGeom>
          <a:noFill/>
          <a:ln/>
        </p:spPr>
        <p:txBody>
          <a:bodyPr wrap="square" lIns="0" tIns="0" rIns="0" bIns="0" rtlCol="0" anchor="t"/>
          <a:lstStyle/>
          <a:p>
            <a:pPr indent="0" marL="0">
              <a:buNone/>
            </a:pPr>
            <a:r>
              <a:rPr lang="en-US" sz="1250" b="1" dirty="0">
                <a:solidFill>
                  <a:srgbClr val="4A3AA7"/>
                </a:solidFill>
                <a:latin typeface="Calibri" pitchFamily="34" charset="0"/>
                <a:ea typeface="Calibri" pitchFamily="34" charset="-122"/>
                <a:cs typeface="Calibri" pitchFamily="34" charset="-120"/>
              </a:rPr>
              <a:t>Two laws never read last_response_cpsd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pseudoinverse_control and buzz_control accept it and ignore it. They have no error term of any kind — they recompute an open-loop solve every cycle and adapt only through the FRF. Sections 5 and 6.</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Six laws, one problem, six different guarantees</a:t>
            </a:r>
            <a:endParaRPr lang="en-US" sz="2700" dirty="0"/>
          </a:p>
        </p:txBody>
      </p:sp>
      <p:sp>
        <p:nvSpPr>
          <p:cNvPr id="3" name="Shape 1"/>
          <p:cNvSpPr/>
          <p:nvPr/>
        </p:nvSpPr>
        <p:spPr>
          <a:xfrm>
            <a:off x="11192256" y="329184"/>
            <a:ext cx="420624" cy="420624"/>
          </a:xfrm>
          <a:prstGeom prst="ellipse">
            <a:avLst/>
          </a:prstGeom>
          <a:solidFill>
            <a:srgbClr val="F2F2F2"/>
          </a:solidFill>
          <a:ln/>
        </p:spPr>
      </p:sp>
      <p:sp>
        <p:nvSpPr>
          <p:cNvPr id="4" name="Text 2"/>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3</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00400"/>
                <a:gridCol w="3291840"/>
                <a:gridCol w="1737360"/>
                <a:gridCol w="1097280"/>
                <a:gridCol w="1737360"/>
              </a:tblGrid>
              <a:tr h="329184">
                <a:tc>
                  <a:txBody>
                    <a:bodyPr/>
                    <a:lstStyle/>
                    <a:p>
                      <a:pPr indent="0" marL="0">
                        <a:buNone/>
                      </a:pPr>
                      <a:r>
                        <a:rPr lang="en-US" sz="1150" b="1" dirty="0">
                          <a:solidFill>
                            <a:srgbClr val="36454F"/>
                          </a:solidFill>
                          <a:latin typeface="Calibri" pitchFamily="34" charset="0"/>
                          <a:ea typeface="Calibri" pitchFamily="34" charset="-122"/>
                          <a:cs typeface="Calibri" pitchFamily="34" charset="-120"/>
                        </a:rPr>
                        <a:t>Law</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150" b="1" dirty="0">
                          <a:solidFill>
                            <a:srgbClr val="36454F"/>
                          </a:solidFill>
                          <a:latin typeface="Calibri" pitchFamily="34" charset="0"/>
                          <a:ea typeface="Calibri" pitchFamily="34" charset="-122"/>
                          <a:cs typeface="Calibri" pitchFamily="34" charset="-120"/>
                        </a:rPr>
                        <a:t>How X ⪰ 0 is guaranteed</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150" b="1" dirty="0">
                          <a:solidFill>
                            <a:srgbClr val="36454F"/>
                          </a:solidFill>
                          <a:latin typeface="Calibri" pitchFamily="34" charset="0"/>
                          <a:ea typeface="Calibri" pitchFamily="34" charset="-122"/>
                          <a:cs typeface="Calibri" pitchFamily="34" charset="-120"/>
                        </a:rPr>
                        <a:t>DOF per line</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150" b="1" dirty="0">
                          <a:solidFill>
                            <a:srgbClr val="36454F"/>
                          </a:solidFill>
                          <a:latin typeface="Calibri" pitchFamily="34" charset="0"/>
                          <a:ea typeface="Calibri" pitchFamily="34" charset="-122"/>
                          <a:cs typeface="Calibri" pitchFamily="34" charset="-120"/>
                        </a:rPr>
                        <a:t>Loop</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rms dB, cap on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match_trace_pseudoinverse</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uniform positive scalar</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8.22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optimal_diagonal_control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explicit SDP cone constraint</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N² (full X)</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optimal_diagonal_control_fast</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structural, X = L Lᴴ</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2Nr</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5.64</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match_diagonal_congruence</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structural, D X D</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5.31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pseudoinverse_control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automatic — congruence of G_xx</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0 (open loop)</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open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10.47</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29184">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buzz_control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automatic — congruence of S′</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0 (open loop)</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open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7.90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6" name="Shape 3"/>
          <p:cNvSpPr/>
          <p:nvPr/>
        </p:nvSpPr>
        <p:spPr>
          <a:xfrm>
            <a:off x="548640" y="4206240"/>
            <a:ext cx="5349240" cy="1737360"/>
          </a:xfrm>
          <a:prstGeom prst="roundRect">
            <a:avLst>
              <a:gd name="adj" fmla="val 2632"/>
            </a:avLst>
          </a:prstGeom>
          <a:solidFill>
            <a:srgbClr val="F2F2F2"/>
          </a:solidFill>
          <a:ln/>
        </p:spPr>
      </p:sp>
      <p:sp>
        <p:nvSpPr>
          <p:cNvPr id="7" name="Text 4"/>
          <p:cNvSpPr txBox="1"/>
          <p:nvPr/>
        </p:nvSpPr>
        <p:spPr>
          <a:xfrm>
            <a:off x="694944" y="4315968"/>
            <a:ext cx="5056632" cy="1517904"/>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The guarantees buy shaping, not validity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The two open-loop laws need no machinery at all: X = H⁺ S (H⁺)ᴴ is a congruence transform of a PSD matrix, so validity is automatic. Everything the other four add buys the ability to shape the drive — and on this plant that shaping is worth between 0 and 1.1 dB against a well-chosen target.</a:t>
            </a:r>
            <a:endParaRPr lang="en-US" sz="1250" dirty="0"/>
          </a:p>
        </p:txBody>
      </p:sp>
      <p:sp>
        <p:nvSpPr>
          <p:cNvPr id="8" name="Shape 5"/>
          <p:cNvSpPr/>
          <p:nvPr/>
        </p:nvSpPr>
        <p:spPr>
          <a:xfrm>
            <a:off x="6263640" y="4206240"/>
            <a:ext cx="5349240" cy="1737360"/>
          </a:xfrm>
          <a:prstGeom prst="roundRect">
            <a:avLst>
              <a:gd name="adj" fmla="val 2632"/>
            </a:avLst>
          </a:prstGeom>
          <a:solidFill>
            <a:srgbClr val="F2F2F2"/>
          </a:solidFill>
          <a:ln/>
        </p:spPr>
      </p:sp>
      <p:sp>
        <p:nvSpPr>
          <p:cNvPr id="9" name="Text 6"/>
          <p:cNvSpPr txBox="1"/>
          <p:nvPr/>
        </p:nvSpPr>
        <p:spPr>
          <a:xfrm>
            <a:off x="6409944" y="4315968"/>
            <a:ext cx="5056632" cy="1517904"/>
          </a:xfrm>
          <a:prstGeom prst="rect">
            <a:avLst/>
          </a:prstGeom>
          <a:noFill/>
          <a:ln/>
        </p:spPr>
        <p:txBody>
          <a:bodyPr wrap="square" lIns="0" tIns="0" rIns="0" bIns="0" rtlCol="0" anchor="t"/>
          <a:lstStyle/>
          <a:p>
            <a:pPr indent="0" marL="0">
              <a:buNone/>
            </a:pPr>
            <a:r>
              <a:rPr lang="en-US" sz="1250" b="1" dirty="0">
                <a:solidFill>
                  <a:srgbClr val="4A3AA7"/>
                </a:solidFill>
                <a:latin typeface="Calibri" pitchFamily="34" charset="0"/>
                <a:ea typeface="Calibri" pitchFamily="34" charset="-122"/>
                <a:cs typeface="Calibri" pitchFamily="34" charset="-120"/>
              </a:rPr>
              <a:t>Cap-on understates the open-loop pair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The rms column is the cap-on run for every law, which is the right setting for the four feedback laws and the wrong one for the other two. Uncapped, pseudoinverse measures 7.01 dB and buzz 5.91 — see section 7.</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match_trace_pseudoinverse</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function · control_laws.py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4</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The baseline, and the only law with a long validation history. One open-loop solve at startup, then a single real scalar per line.</a:t>
            </a:r>
            <a:endParaRPr lang="en-US" sz="1300" dirty="0"/>
          </a:p>
        </p:txBody>
      </p:sp>
      <p:pic>
        <p:nvPicPr>
          <p:cNvPr id="8" name="Image 0" descr="lr/01_match_trace.png">    </p:cNvPr>
          <p:cNvPicPr>
            <a:picLocks noChangeAspect="1"/>
          </p:cNvPicPr>
          <p:nvPr/>
        </p:nvPicPr>
        <p:blipFill>
          <a:blip r:embed="rId1"/>
          <a:stretch>
            <a:fillRect/>
          </a:stretch>
        </p:blipFill>
        <p:spPr>
          <a:xfrm>
            <a:off x="548640" y="1928638"/>
            <a:ext cx="11064240" cy="2004028"/>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first call — open loop</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H⁺ = pinv(H, rcond)</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H⁺ G_xx (H⁺)ᴴ</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  = min(1, 10^(cap/10)·tr(G_xx)/tr(HXHᴴ))</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s·X</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every call after — closed loop on total power</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c(f) = tr(G_xx(f)) / tr(G_yy(f))</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X(f) ← c(f) · X_prev(f)</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max_drive_coherence, startup_test_level_cap_db</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defaults 1e-15, 1.0, −9.0</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01</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8.22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27.5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7.16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0.120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02</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21.1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5.78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6.019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A pure integrator, gain 1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log X(k) = log X(k−1) + e(k−1), fed a lagged error. Simulation: ~53 cycles to settle, ~103 % peak overshoot.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optimal_diagonal_control</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class · optimal_diagonal_control.py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5</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Solves a semidefinite program per frequency bin for the full drive matrix, with the PSD cone as an explicit constraint.</a:t>
            </a:r>
            <a:endParaRPr lang="en-US" sz="1300" dirty="0"/>
          </a:p>
        </p:txBody>
      </p:sp>
      <p:pic>
        <p:nvPicPr>
          <p:cNvPr id="8" name="Image 0" descr="lr/02_optimal_diagonal.png">    </p:cNvPr>
          <p:cNvPicPr>
            <a:picLocks noChangeAspect="1"/>
          </p:cNvPicPr>
          <p:nvPr/>
        </p:nvPicPr>
        <p:blipFill>
          <a:blip r:embed="rId1"/>
          <a:stretch>
            <a:fillRect/>
          </a:stretch>
        </p:blipFill>
        <p:spPr>
          <a:xfrm>
            <a:off x="548640" y="2359093"/>
            <a:ext cx="11064240" cy="1143118"/>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per bin, subject to X ⪰ 0</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min  Σ_m ( 10·log10( [H X Hᴴ]_mm / y_m ) )²</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plus an explicit coherence constraint</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|X_ij| ≤ c · sqrt(X_ii · X_jj)</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scheduled: only max_bins_per_update bins</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are SDP-refined per call; the rest carry</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the buzz baseline forward</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ridge, max_bins_per_update, gain, max_drive_coherence</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used here 1e-6, 0.05, 20, 1.0, 0.95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03</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5.62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0.0747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04</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0.0790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Open defect: no startup level cap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Neither optimal-diagonal law takes startup_test_level_cap_db — it commands the full specification immediately.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optimal_diagonal_control_fast</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subclass · optimal_diagonal_control_fast.py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Same objective, but X = L Lᴴ makes positive semidefiniteness structural instead of constrained — no cone projection needed.</a:t>
            </a:r>
            <a:endParaRPr lang="en-US" sz="1300" dirty="0"/>
          </a:p>
        </p:txBody>
      </p:sp>
      <p:pic>
        <p:nvPicPr>
          <p:cNvPr id="8" name="Image 0" descr="lr/03_optimal_diagonal_fast.png">    </p:cNvPr>
          <p:cNvPicPr>
            <a:picLocks noChangeAspect="1"/>
          </p:cNvPicPr>
          <p:nvPr/>
        </p:nvPicPr>
        <p:blipFill>
          <a:blip r:embed="rId1"/>
          <a:stretch>
            <a:fillRect/>
          </a:stretch>
        </p:blipFill>
        <p:spPr>
          <a:xfrm>
            <a:off x="2124426" y="1810512"/>
            <a:ext cx="7912669" cy="2240280"/>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Burer-Monteiro factoring</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L Lᴴ,  L ∈ ℂ^(N×r)</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X ⪰ 0 for ANY L — the constraint</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disappears from the problem entirely</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spurious-minimum threshold</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r ≳ sqrt(2M) = 4  for M = 8</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bm_rank was set to 6</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ridge, max_bins_per_update, gain, max_drive_coherence, bm_rank</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used here 1e-6, 0.05, 20, 1.0, 0.95, 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05</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5.64</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0.0760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06</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5.66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10.7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0.0756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These runs did not test what they were meant to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The fast path disables itself when the FRF changes between calls, so runs 05 and 06 are repeats of 03 and 04.</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match_diagonal_congruence</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class · diagonal_congruence_control.py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7</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One real gain per drive per line, applied as a congruence. Keeps validity structural like the fast law, but with N degrees of freedom instead of 2Nr.</a:t>
            </a:r>
            <a:endParaRPr lang="en-US" sz="1300" dirty="0"/>
          </a:p>
        </p:txBody>
      </p:sp>
      <p:pic>
        <p:nvPicPr>
          <p:cNvPr id="8" name="Image 0" descr="lr/04_congruence.png">    </p:cNvPr>
          <p:cNvPicPr>
            <a:picLocks noChangeAspect="1"/>
          </p:cNvPicPr>
          <p:nvPr/>
        </p:nvPicPr>
        <p:blipFill>
          <a:blip r:embed="rId1"/>
          <a:stretch>
            <a:fillRect/>
          </a:stretch>
        </p:blipFill>
        <p:spPr>
          <a:xfrm>
            <a:off x="1858952" y="1810512"/>
            <a:ext cx="8443615" cy="2240280"/>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measured log error</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ε_m = log(target_m / achieved_m)</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sensitivity — every row sums to exactly 2</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S_mi = ∂log(y_m)/∂u_i</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     = 2·Re(H_mi (XHᴴ)_im) / y_m</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regularised Gauss-Newton, then congruence</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u = argmin ‖S u − ε‖² + λ‖u‖²</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D = diag(exp u);   X ← D X D</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max_drive_coherence, startup_cap_db, ridge, iters, gain, max_step_db, ceiling</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used here 1e-3, 0.95, −9, 0.5, 3, 0.1, 0.5, 12</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07</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5.31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3.51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0.0469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08</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5.23</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18.7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3.48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0.2107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1BAF7A"/>
                </a:solidFill>
                <a:latin typeface="Calibri" pitchFamily="34" charset="0"/>
                <a:ea typeface="Calibri" pitchFamily="34" charset="-122"/>
                <a:cs typeface="Calibri" pitchFamily="34" charset="-120"/>
              </a:rPr>
              <a:t>Validity is structural for ANY real D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X ⪰ 0 ⟹ D X D ⪰ 0 for any real D. u_i = ε/2 for all i recovers match_trace exactly.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pseudoinverse_control</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function · control_laws.py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8</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The simplest and oldest law: one open-loop solve against the raw specification, recomputed identically every cycle. No feedback, no trace management, no startup guard.</a:t>
            </a:r>
            <a:endParaRPr lang="en-US" sz="1300" dirty="0"/>
          </a:p>
        </p:txBody>
      </p:sp>
      <p:pic>
        <p:nvPicPr>
          <p:cNvPr id="8" name="Image 0" descr="lr/06_pseudoinverse.png">    </p:cNvPr>
          <p:cNvPicPr>
            <a:picLocks noChangeAspect="1"/>
          </p:cNvPicPr>
          <p:nvPr/>
        </p:nvPicPr>
        <p:blipFill>
          <a:blip r:embed="rId1"/>
          <a:stretch>
            <a:fillRect/>
          </a:stretch>
        </p:blipFill>
        <p:spPr>
          <a:xfrm>
            <a:off x="1622603" y="1810512"/>
            <a:ext cx="8916314" cy="2240280"/>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every call, identically</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H⁺ = pinv(H, rcond)</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H⁺ G_xx (H⁺)ᴴ</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cap(X, max_drive_coherence)</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that is the entire law</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last_response_cpsd is accepted</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and never read</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max_drive_coherence</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defaults 1e-15, 1.0   — no third parameter</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09</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10.47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42.1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9.55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5.449</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10</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7.01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17.8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5.48</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5.377</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Open defect: no startup guard at all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The only law without the first-cycle clamp. On frame one the command can be decades high.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buzz_control</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function · control_laws.py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9</a:t>
            </a:r>
            <a:endParaRPr lang="en-US" sz="1300" dirty="0"/>
          </a:p>
        </p:txBody>
      </p:sp>
      <p:sp>
        <p:nvSpPr>
          <p:cNvPr id="7" name="Text 5"/>
          <p:cNvSpPr txBox="1"/>
          <p:nvPr/>
        </p:nvSpPr>
        <p:spPr>
          <a:xfrm>
            <a:off x="548640" y="1316736"/>
            <a:ext cx="11064240" cy="384048"/>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pseudoinverse_control with one substitution — and that substitution is worth more than every feedback mechanism in the rest of this deck.</a:t>
            </a:r>
            <a:endParaRPr lang="en-US" sz="1300" dirty="0"/>
          </a:p>
        </p:txBody>
      </p:sp>
      <p:pic>
        <p:nvPicPr>
          <p:cNvPr id="8" name="Image 0" descr="lr/07_buzz.png">    </p:cNvPr>
          <p:cNvPicPr>
            <a:picLocks noChangeAspect="1"/>
          </p:cNvPicPr>
          <p:nvPr/>
        </p:nvPicPr>
        <p:blipFill>
          <a:blip r:embed="rId1"/>
          <a:stretch>
            <a:fillRect/>
          </a:stretch>
        </p:blipFill>
        <p:spPr>
          <a:xfrm>
            <a:off x="548640" y="1921693"/>
            <a:ext cx="11064240" cy="2017917"/>
          </a:xfrm>
          <a:prstGeom prst="rect">
            <a:avLst/>
          </a:prstGeom>
        </p:spPr>
      </p:pic>
      <p:sp>
        <p:nvSpPr>
          <p:cNvPr id="9" name="Shape 6"/>
          <p:cNvSpPr/>
          <p:nvPr/>
        </p:nvSpPr>
        <p:spPr>
          <a:xfrm>
            <a:off x="548640" y="4187952"/>
            <a:ext cx="5806440" cy="2029968"/>
          </a:xfrm>
          <a:prstGeom prst="roundRect">
            <a:avLst>
              <a:gd name="adj" fmla="val 2252"/>
            </a:avLst>
          </a:prstGeom>
          <a:solidFill>
            <a:srgbClr val="F2F2F2"/>
          </a:solidFill>
          <a:ln/>
        </p:spPr>
      </p:sp>
      <p:sp>
        <p:nvSpPr>
          <p:cNvPr id="10" name="Text 7"/>
          <p:cNvSpPr txBox="1"/>
          <p:nvPr/>
        </p:nvSpPr>
        <p:spPr>
          <a:xfrm>
            <a:off x="694944" y="4297680"/>
            <a:ext cx="5513832" cy="1810512"/>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replace the spec coherence and phase</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with the MEASURED ones from the buzz test</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γ²_mn = |G_buzz,mn|² /(G_buzz,mm G_buzz,nn)</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φ_mn  = ∠G_buzz,mn</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a_m   = G_xx,mm          # spec autospectra</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S'_mn = e^(iφ_mn)·sqrt(γ²_mn · a_m · a_n)</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then the same open-loop solve</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X = H⁺ S' (H⁺)ᴴ</a:t>
            </a:r>
            <a:endParaRPr lang="en-US" sz="1000" dirty="0"/>
          </a:p>
        </p:txBody>
      </p:sp>
      <p:sp>
        <p:nvSpPr>
          <p:cNvPr id="11" name="Text 8"/>
          <p:cNvSpPr txBox="1"/>
          <p:nvPr/>
        </p:nvSpPr>
        <p:spPr>
          <a:xfrm>
            <a:off x="6720840" y="4187952"/>
            <a:ext cx="4892040" cy="219456"/>
          </a:xfrm>
          <a:prstGeom prst="rect">
            <a:avLst/>
          </a:prstGeom>
          <a:noFill/>
          <a:ln/>
        </p:spPr>
        <p:txBody>
          <a:bodyPr wrap="square" lIns="0" tIns="0" rIns="0" bIns="0"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Parameter string</a:t>
            </a:r>
            <a:endParaRPr lang="en-US" sz="1200" dirty="0"/>
          </a:p>
        </p:txBody>
      </p:sp>
      <p:sp>
        <p:nvSpPr>
          <p:cNvPr id="12" name="Text 9"/>
          <p:cNvSpPr txBox="1"/>
          <p:nvPr/>
        </p:nvSpPr>
        <p:spPr>
          <a:xfrm>
            <a:off x="6720840" y="4407408"/>
            <a:ext cx="4892040" cy="457200"/>
          </a:xfrm>
          <a:prstGeom prst="rect">
            <a:avLst/>
          </a:prstGeom>
          <a:noFill/>
          <a:ln/>
        </p:spPr>
        <p:txBody>
          <a:bodyPr wrap="square" lIns="0" tIns="0" rIns="0" bIns="0" rtlCol="0" anchor="ctr"/>
          <a:lstStyle/>
          <a:p>
            <a:pPr indent="0" marL="0">
              <a:buNone/>
            </a:pPr>
            <a:r>
              <a:rPr lang="en-US" sz="1000" dirty="0">
                <a:solidFill>
                  <a:srgbClr val="5E6B73"/>
                </a:solidFill>
                <a:latin typeface="Courier New" pitchFamily="34" charset="0"/>
                <a:ea typeface="Courier New" pitchFamily="34" charset="-122"/>
                <a:cs typeface="Courier New" pitchFamily="34" charset="-120"/>
              </a:rPr>
              <a:t>rcond, max_drive_coherence, startup_test_level_cap_db</a:t>
            </a:r>
            <a:endParaRPr lang="en-US" sz="1000" dirty="0"/>
          </a:p>
          <a:p>
            <a:pPr indent="0" marL="0">
              <a:buNone/>
            </a:pPr>
            <a:r>
              <a:rPr lang="en-US" sz="1000" dirty="0">
                <a:solidFill>
                  <a:srgbClr val="5E6B73"/>
                </a:solidFill>
                <a:latin typeface="Courier New" pitchFamily="34" charset="0"/>
                <a:ea typeface="Courier New" pitchFamily="34" charset="-122"/>
                <a:cs typeface="Courier New" pitchFamily="34" charset="-120"/>
              </a:rPr>
              <a:t>defaults 1e-15, 1.0, −9.0  (shares match_trace’s parser)</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4773168"/>
          <a:ext cx="4892040" cy="914400"/>
        </p:xfrm>
        <a:graphic>
          <a:graphicData uri="http://schemas.openxmlformats.org/drawingml/2006/table">
            <a:tbl>
              <a:tblPr/>
              <a:tblGrid>
                <a:gridCol w="538124"/>
                <a:gridCol w="587045"/>
                <a:gridCol w="929488"/>
                <a:gridCol w="831647"/>
                <a:gridCol w="978408"/>
                <a:gridCol w="1027328"/>
              </a:tblGrid>
              <a:tr h="246888">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indent="0" marL="0">
                        <a:buNone/>
                      </a:pPr>
                      <a:r>
                        <a:rPr lang="en-US" sz="1050" b="1" dirty="0">
                          <a:solidFill>
                            <a:srgbClr val="36454F"/>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rms dB</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 out</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vs floor</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050" b="1" dirty="0">
                          <a:solidFill>
                            <a:srgbClr val="36454F"/>
                          </a:solidFill>
                          <a:latin typeface="Calibri" pitchFamily="34" charset="0"/>
                          <a:ea typeface="Calibri" pitchFamily="34" charset="-122"/>
                          <a:cs typeface="Calibri" pitchFamily="34" charset="-120"/>
                        </a:rPr>
                        <a:t>drive V²</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11</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0.95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7.90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30.2</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6.75</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0.981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246888">
                <a:tc>
                  <a:txBody>
                    <a:bodyPr/>
                    <a:lstStyle/>
                    <a:p>
                      <a:pPr indent="0" marL="0">
                        <a:buNone/>
                      </a:pPr>
                      <a:r>
                        <a:rPr lang="en-US" sz="1000" dirty="0">
                          <a:solidFill>
                            <a:srgbClr val="36454F"/>
                          </a:solidFill>
                          <a:latin typeface="Courier New" pitchFamily="34" charset="0"/>
                          <a:ea typeface="Courier New" pitchFamily="34" charset="-122"/>
                          <a:cs typeface="Courier New" pitchFamily="34" charset="-120"/>
                        </a:rPr>
                        <a:t>12</a:t>
                      </a:r>
                      <a:endParaRPr lang="en-US" sz="100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off</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b="1" dirty="0">
                          <a:solidFill>
                            <a:srgbClr val="EB6834"/>
                          </a:solidFill>
                          <a:latin typeface="Calibri" pitchFamily="34" charset="0"/>
                          <a:ea typeface="Calibri" pitchFamily="34" charset="-122"/>
                          <a:cs typeface="Calibri" pitchFamily="34" charset="-120"/>
                        </a:rPr>
                        <a:t>5.91</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13.6</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4.20</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050" dirty="0">
                          <a:solidFill>
                            <a:srgbClr val="36454F"/>
                          </a:solidFill>
                          <a:latin typeface="Calibri" pitchFamily="34" charset="0"/>
                          <a:ea typeface="Calibri" pitchFamily="34" charset="-122"/>
                          <a:cs typeface="Calibri" pitchFamily="34" charset="-120"/>
                        </a:rPr>
                        <a:t>1.473</a:t>
                      </a:r>
                      <a:endParaRPr lang="en-US" sz="10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14" name="Shape 10"/>
          <p:cNvSpPr/>
          <p:nvPr/>
        </p:nvSpPr>
        <p:spPr>
          <a:xfrm>
            <a:off x="6720840" y="5614416"/>
            <a:ext cx="4892040" cy="658368"/>
          </a:xfrm>
          <a:prstGeom prst="roundRect">
            <a:avLst>
              <a:gd name="adj" fmla="val 6944"/>
            </a:avLst>
          </a:prstGeom>
          <a:solidFill>
            <a:srgbClr val="F2F2F2"/>
          </a:solidFill>
          <a:ln/>
        </p:spPr>
      </p:sp>
      <p:sp>
        <p:nvSpPr>
          <p:cNvPr id="15" name="Text 11"/>
          <p:cNvSpPr txBox="1"/>
          <p:nvPr/>
        </p:nvSpPr>
        <p:spPr>
          <a:xfrm>
            <a:off x="6867144" y="5724144"/>
            <a:ext cx="4599432" cy="438912"/>
          </a:xfrm>
          <a:prstGeom prst="rect">
            <a:avLst/>
          </a:prstGeom>
          <a:noFill/>
          <a:ln/>
        </p:spPr>
        <p:txBody>
          <a:bodyPr wrap="square" lIns="0" tIns="0" rIns="0" bIns="0" rtlCol="0" anchor="t"/>
          <a:lstStyle/>
          <a:p>
            <a:pPr indent="0" marL="0">
              <a:buNone/>
            </a:pPr>
            <a:r>
              <a:rPr lang="en-US" sz="1250" b="1" dirty="0">
                <a:solidFill>
                  <a:srgbClr val="1BAF7A"/>
                </a:solidFill>
                <a:latin typeface="Calibri" pitchFamily="34" charset="0"/>
                <a:ea typeface="Calibri" pitchFamily="34" charset="-122"/>
                <a:cs typeface="Calibri" pitchFamily="34" charset="-120"/>
              </a:rPr>
              <a:t>It inverts a target the plant can actually produce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The spec asks for zero coherence, which a rank-5 plant cannot give. Same solver, reachable target: 1.1 dB better.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achievable_response</a:t>
            </a:r>
            <a:endParaRPr lang="en-US" sz="2700" dirty="0"/>
          </a:p>
        </p:txBody>
      </p:sp>
      <p:sp>
        <p:nvSpPr>
          <p:cNvPr id="3" name="Shape 1"/>
          <p:cNvSpPr/>
          <p:nvPr/>
        </p:nvSpPr>
        <p:spPr>
          <a:xfrm>
            <a:off x="548640" y="914400"/>
            <a:ext cx="3749040" cy="301752"/>
          </a:xfrm>
          <a:prstGeom prst="roundRect">
            <a:avLst>
              <a:gd name="adj" fmla="val 15152"/>
            </a:avLst>
          </a:prstGeom>
          <a:solidFill>
            <a:srgbClr val="F2F2F2"/>
          </a:solidFill>
          <a:ln/>
        </p:spPr>
      </p:sp>
      <p:sp>
        <p:nvSpPr>
          <p:cNvPr id="4" name="Text 2"/>
          <p:cNvSpPr txBox="1"/>
          <p:nvPr/>
        </p:nvSpPr>
        <p:spPr>
          <a:xfrm>
            <a:off x="658368" y="914400"/>
            <a:ext cx="3529584" cy="301752"/>
          </a:xfrm>
          <a:prstGeom prst="rect">
            <a:avLst/>
          </a:prstGeom>
          <a:noFill/>
          <a:ln/>
        </p:spPr>
        <p:txBody>
          <a:bodyPr wrap="square" lIns="0" tIns="0" rIns="0" bIns="0" rtlCol="0" anchor="ctr"/>
          <a:lstStyle/>
          <a:p>
            <a:pPr indent="0" marL="0">
              <a:buNone/>
            </a:pPr>
            <a:r>
              <a:rPr lang="en-US" sz="1050" dirty="0">
                <a:solidFill>
                  <a:srgbClr val="5E6B73"/>
                </a:solidFill>
                <a:latin typeface="Courier New" pitchFamily="34" charset="0"/>
                <a:ea typeface="Courier New" pitchFamily="34" charset="-122"/>
                <a:cs typeface="Courier New" pitchFamily="34" charset="-120"/>
              </a:rPr>
              <a:t>not a control law · achievable_response.py</a:t>
            </a:r>
            <a:endParaRPr lang="en-US" sz="1050" dirty="0"/>
          </a:p>
        </p:txBody>
      </p:sp>
      <p:sp>
        <p:nvSpPr>
          <p:cNvPr id="5" name="Shape 3"/>
          <p:cNvSpPr/>
          <p:nvPr/>
        </p:nvSpPr>
        <p:spPr>
          <a:xfrm>
            <a:off x="11192256" y="329184"/>
            <a:ext cx="420624" cy="420624"/>
          </a:xfrm>
          <a:prstGeom prst="ellipse">
            <a:avLst/>
          </a:prstGeom>
          <a:solidFill>
            <a:srgbClr val="F2F2F2"/>
          </a:solidFill>
          <a:ln/>
        </p:spPr>
      </p:sp>
      <p:sp>
        <p:nvSpPr>
          <p:cNvPr id="6" name="Text 4"/>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10</a:t>
            </a:r>
            <a:endParaRPr lang="en-US" sz="1300" dirty="0"/>
          </a:p>
        </p:txBody>
      </p:sp>
      <p:sp>
        <p:nvSpPr>
          <p:cNvPr id="7" name="Text 5"/>
          <p:cNvSpPr txBox="1"/>
          <p:nvPr/>
        </p:nvSpPr>
        <p:spPr>
          <a:xfrm>
            <a:off x="548640" y="2889504"/>
            <a:ext cx="11064240" cy="365760"/>
          </a:xfrm>
          <a:prstGeom prst="rect">
            <a:avLst/>
          </a:prstGeom>
          <a:noFill/>
          <a:ln/>
        </p:spPr>
        <p:txBody>
          <a:bodyPr wrap="square" lIns="0" tIns="0" rIns="0" bIns="0" rtlCol="0" anchor="ctr"/>
          <a:lstStyle/>
          <a:p>
            <a:pPr indent="0" marL="0">
              <a:buNone/>
            </a:pPr>
            <a:r>
              <a:rPr lang="en-US" sz="1300" dirty="0">
                <a:solidFill>
                  <a:srgbClr val="5E6B73"/>
                </a:solidFill>
                <a:latin typeface="Calibri" pitchFamily="34" charset="0"/>
                <a:ea typeface="Calibri" pitchFamily="34" charset="-122"/>
                <a:cs typeface="Calibri" pitchFamily="34" charset="-120"/>
              </a:rPr>
              <a:t>The denominator every comparison is measured against: for each line, the best response any physically valid drive could produce.</a:t>
            </a:r>
            <a:endParaRPr lang="en-US" sz="1300" dirty="0"/>
          </a:p>
        </p:txBody>
      </p:sp>
      <p:sp>
        <p:nvSpPr>
          <p:cNvPr id="8" name="Shape 6"/>
          <p:cNvSpPr/>
          <p:nvPr/>
        </p:nvSpPr>
        <p:spPr>
          <a:xfrm>
            <a:off x="548640" y="3328416"/>
            <a:ext cx="5806440" cy="2194560"/>
          </a:xfrm>
          <a:prstGeom prst="roundRect">
            <a:avLst>
              <a:gd name="adj" fmla="val 2083"/>
            </a:avLst>
          </a:prstGeom>
          <a:solidFill>
            <a:srgbClr val="F2F2F2"/>
          </a:solidFill>
          <a:ln/>
        </p:spPr>
      </p:sp>
      <p:sp>
        <p:nvSpPr>
          <p:cNvPr id="9" name="Text 7"/>
          <p:cNvSpPr txBox="1"/>
          <p:nvPr/>
        </p:nvSpPr>
        <p:spPr>
          <a:xfrm>
            <a:off x="694944" y="3438144"/>
            <a:ext cx="5513832" cy="1975104"/>
          </a:xfrm>
          <a:prstGeom prst="rect">
            <a:avLst/>
          </a:prstGeom>
          <a:noFill/>
          <a:ln/>
        </p:spPr>
        <p:txBody>
          <a:bodyPr wrap="square" lIns="0" tIns="0" rIns="0" bIns="0" rtlCol="0" anchor="t"/>
          <a:lstStyle/>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per line, over every valid drive</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min over X ⪰ 0 of</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  sqrt( mean_m [10·log10(a_m / y_m)]² )</a:t>
            </a:r>
            <a:endParaRPr lang="en-US" sz="1000" dirty="0"/>
          </a:p>
          <a:p>
            <a:pP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where a = diag(H X Hᴴ)</a:t>
            </a:r>
            <a:endParaRPr lang="en-US" sz="1000" dirty="0"/>
          </a:p>
          <a:p>
            <a:pPr indent="0" marL="0">
              <a:lnSpc>
                <a:spcPct val="112000"/>
              </a:lnSpc>
              <a:buNone/>
            </a:pP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X = L Lᴴ makes X ⪰ 0 structural;</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Levenberg-Marquardt, multi-restart</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restrict_rcond limits L to the drive</a:t>
            </a:r>
            <a:endParaRPr lang="en-US" sz="1000" dirty="0"/>
          </a:p>
          <a:p>
            <a:pPr indent="0" marL="0">
              <a:lnSpc>
                <a:spcPct val="112000"/>
              </a:lnSpc>
              <a:buNone/>
            </a:pPr>
            <a:r>
              <a:rPr lang="en-US" sz="1000" i="1" dirty="0">
                <a:solidFill>
                  <a:srgbClr val="8A959B"/>
                </a:solidFill>
                <a:latin typeface="Courier New" pitchFamily="34" charset="0"/>
                <a:ea typeface="Courier New" pitchFamily="34" charset="-122"/>
                <a:cs typeface="Courier New" pitchFamily="34" charset="-120"/>
              </a:rPr>
              <a:t>directions surviving that cutoff</a:t>
            </a:r>
            <a:endParaRPr lang="en-US" sz="1000" dirty="0"/>
          </a:p>
        </p:txBody>
      </p:sp>
      <p:sp>
        <p:nvSpPr>
          <p:cNvPr id="10" name="Shape 8"/>
          <p:cNvSpPr/>
          <p:nvPr/>
        </p:nvSpPr>
        <p:spPr>
          <a:xfrm>
            <a:off x="6720840" y="3328416"/>
            <a:ext cx="4892040" cy="1481328"/>
          </a:xfrm>
          <a:prstGeom prst="roundRect">
            <a:avLst>
              <a:gd name="adj" fmla="val 3086"/>
            </a:avLst>
          </a:prstGeom>
          <a:solidFill>
            <a:srgbClr val="F2F2F2"/>
          </a:solidFill>
          <a:ln/>
        </p:spPr>
      </p:sp>
      <p:sp>
        <p:nvSpPr>
          <p:cNvPr id="11" name="Text 9"/>
          <p:cNvSpPr txBox="1"/>
          <p:nvPr/>
        </p:nvSpPr>
        <p:spPr>
          <a:xfrm>
            <a:off x="6867144" y="3438144"/>
            <a:ext cx="4599432" cy="1261872"/>
          </a:xfrm>
          <a:prstGeom prst="rect">
            <a:avLst/>
          </a:prstGeom>
          <a:noFill/>
          <a:ln/>
        </p:spPr>
        <p:txBody>
          <a:bodyPr wrap="square" lIns="0" tIns="0" rIns="0" bIns="0" rtlCol="0" anchor="t"/>
          <a:lstStyle/>
          <a:p>
            <a:pPr indent="0" marL="0">
              <a:buNone/>
            </a:pPr>
            <a:r>
              <a:rPr lang="en-US" sz="1250" b="1" dirty="0">
                <a:solidFill>
                  <a:srgbClr val="1BAF7A"/>
                </a:solidFill>
                <a:latin typeface="Calibri" pitchFamily="34" charset="0"/>
                <a:ea typeface="Calibri" pitchFamily="34" charset="-122"/>
                <a:cs typeface="Calibri" pitchFamily="34" charset="-120"/>
              </a:rPr>
              <a:t>Two floors, and they agree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At rcond 1e-3 — what the laws actually invert with — the floor is 3.57–3.92 dB rms. Unrestricted but over the plant's real rank-5 subspace it is 3.56–3.90. rcond is not costing headroom; it is rejecting a direction that does not exist.</a:t>
            </a:r>
            <a:endParaRPr lang="en-US" sz="1250" dirty="0"/>
          </a:p>
        </p:txBody>
      </p:sp>
      <p:sp>
        <p:nvSpPr>
          <p:cNvPr id="12" name="Shape 10"/>
          <p:cNvSpPr/>
          <p:nvPr/>
        </p:nvSpPr>
        <p:spPr>
          <a:xfrm>
            <a:off x="6720840" y="4956048"/>
            <a:ext cx="4892040" cy="969264"/>
          </a:xfrm>
          <a:prstGeom prst="roundRect">
            <a:avLst>
              <a:gd name="adj" fmla="val 4717"/>
            </a:avLst>
          </a:prstGeom>
          <a:solidFill>
            <a:srgbClr val="F2F2F2"/>
          </a:solidFill>
          <a:ln/>
        </p:spPr>
      </p:sp>
      <p:sp>
        <p:nvSpPr>
          <p:cNvPr id="13" name="Text 11"/>
          <p:cNvSpPr txBox="1"/>
          <p:nvPr/>
        </p:nvSpPr>
        <p:spPr>
          <a:xfrm>
            <a:off x="6867144" y="5065776"/>
            <a:ext cx="4599432" cy="749808"/>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These are two independent scorings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A run's error against the floor and its error against the specification do NOT subtract. Both appear in the comparison report for that reason.</a:t>
            </a:r>
            <a:endParaRPr lang="en-US" sz="1250" dirty="0"/>
          </a:p>
        </p:txBody>
      </p:sp>
      <p:pic>
        <p:nvPicPr>
          <p:cNvPr id="14" name="Image 0" descr="lr/05_achievable.png">    </p:cNvPr>
          <p:cNvPicPr>
            <a:picLocks noChangeAspect="1"/>
          </p:cNvPicPr>
          <p:nvPr/>
        </p:nvPicPr>
        <p:blipFill>
          <a:blip r:embed="rId1"/>
          <a:stretch>
            <a:fillRect/>
          </a:stretch>
        </p:blipFill>
        <p:spPr>
          <a:xfrm>
            <a:off x="2404140" y="1335024"/>
            <a:ext cx="7353239" cy="1463040"/>
          </a:xfrm>
          <a:prstGeom prst="rect">
            <a:avLst/>
          </a:prstGeom>
        </p:spPr>
      </p:pic>
      <p:sp>
        <p:nvSpPr>
          <p:cNvPr id="15" name="Text 12"/>
          <p:cNvSpPr txBox="1"/>
          <p:nvPr/>
        </p:nvSpPr>
        <p:spPr>
          <a:xfrm>
            <a:off x="6720840" y="5797296"/>
            <a:ext cx="4892040" cy="219456"/>
          </a:xfrm>
          <a:prstGeom prst="rect">
            <a:avLst/>
          </a:prstGeom>
          <a:noFill/>
          <a:ln/>
        </p:spPr>
        <p:txBody>
          <a:bodyPr wrap="square" lIns="0" tIns="0" rIns="0" bIns="0" rtlCol="0" anchor="ctr"/>
          <a:lstStyle/>
          <a:p>
            <a:pPr indent="0" marL="0">
              <a:buNone/>
            </a:pPr>
            <a:r>
              <a:rPr lang="en-US" sz="1150" b="1" dirty="0">
                <a:solidFill>
                  <a:srgbClr val="36454F"/>
                </a:solidFill>
                <a:latin typeface="Calibri" pitchFamily="34" charset="0"/>
                <a:ea typeface="Calibri" pitchFamily="34" charset="-122"/>
                <a:cs typeface="Calibri" pitchFamily="34" charset="-120"/>
              </a:rPr>
              <a:t>per-channel floor, dB</a:t>
            </a:r>
            <a:endParaRPr lang="en-US" sz="1150" dirty="0"/>
          </a:p>
        </p:txBody>
      </p:sp>
      <p:sp>
        <p:nvSpPr>
          <p:cNvPr id="16" name="Text 13"/>
          <p:cNvSpPr txBox="1"/>
          <p:nvPr/>
        </p:nvSpPr>
        <p:spPr>
          <a:xfrm>
            <a:off x="6720840" y="6016752"/>
            <a:ext cx="4892040" cy="384048"/>
          </a:xfrm>
          <a:prstGeom prst="rect">
            <a:avLst/>
          </a:prstGeom>
          <a:noFill/>
          <a:ln/>
        </p:spPr>
        <p:txBody>
          <a:bodyPr wrap="square" lIns="0" tIns="0" rIns="0" bIns="0" rtlCol="0" anchor="ctr"/>
          <a:lstStyle/>
          <a:p>
            <a:pPr indent="0" marL="0">
              <a:buNone/>
            </a:pPr>
            <a:r>
              <a:rPr lang="en-US" sz="950" dirty="0">
                <a:solidFill>
                  <a:srgbClr val="5E6B73"/>
                </a:solidFill>
                <a:latin typeface="Courier New" pitchFamily="34" charset="0"/>
                <a:ea typeface="Courier New" pitchFamily="34" charset="-122"/>
                <a:cs typeface="Courier New" pitchFamily="34" charset="-120"/>
              </a:rPr>
              <a:t>7X+ +0.22   8X+ +2.14   9X+ +0.39   10X+ +0.37</a:t>
            </a:r>
            <a:endParaRPr lang="en-US" sz="950" dirty="0"/>
          </a:p>
          <a:p>
            <a:pPr indent="0" marL="0">
              <a:buNone/>
            </a:pPr>
            <a:r>
              <a:rPr lang="en-US" sz="950" dirty="0">
                <a:solidFill>
                  <a:srgbClr val="5E6B73"/>
                </a:solidFill>
                <a:latin typeface="Courier New" pitchFamily="34" charset="0"/>
                <a:ea typeface="Courier New" pitchFamily="34" charset="-122"/>
                <a:cs typeface="Courier New" pitchFamily="34" charset="-120"/>
              </a:rPr>
              <a:t>11X+ +0.24  12X+ +0.39  13X+ −1.79  14X+ −2.20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595360" cy="566928"/>
          </a:xfrm>
          <a:prstGeom prst="rect">
            <a:avLst/>
          </a:prstGeom>
          <a:noFill/>
          <a:ln/>
        </p:spPr>
        <p:txBody>
          <a:bodyPr wrap="square" lIns="0" tIns="0" rIns="0" bIns="0" rtlCol="0" anchor="ctr"/>
          <a:lstStyle/>
          <a:p>
            <a:pPr indent="0" marL="0">
              <a:buNone/>
            </a:pPr>
            <a:r>
              <a:rPr lang="en-US" sz="2700" b="1" dirty="0">
                <a:solidFill>
                  <a:srgbClr val="36454F"/>
                </a:solidFill>
                <a:latin typeface="Cambria" pitchFamily="34" charset="0"/>
                <a:ea typeface="Cambria" pitchFamily="34" charset="-122"/>
                <a:cs typeface="Cambria" pitchFamily="34" charset="-120"/>
              </a:rPr>
              <a:t>The cap inverts by family</a:t>
            </a:r>
            <a:endParaRPr lang="en-US" sz="2700" dirty="0"/>
          </a:p>
        </p:txBody>
      </p:sp>
      <p:sp>
        <p:nvSpPr>
          <p:cNvPr id="3" name="Shape 1"/>
          <p:cNvSpPr/>
          <p:nvPr/>
        </p:nvSpPr>
        <p:spPr>
          <a:xfrm>
            <a:off x="11192256" y="329184"/>
            <a:ext cx="420624" cy="420624"/>
          </a:xfrm>
          <a:prstGeom prst="ellipse">
            <a:avLst/>
          </a:prstGeom>
          <a:solidFill>
            <a:srgbClr val="F2F2F2"/>
          </a:solidFill>
          <a:ln/>
        </p:spPr>
      </p:sp>
      <p:sp>
        <p:nvSpPr>
          <p:cNvPr id="4" name="Text 2"/>
          <p:cNvSpPr txBox="1"/>
          <p:nvPr/>
        </p:nvSpPr>
        <p:spPr>
          <a:xfrm>
            <a:off x="11192256" y="329184"/>
            <a:ext cx="420624" cy="420624"/>
          </a:xfrm>
          <a:prstGeom prst="rect">
            <a:avLst/>
          </a:prstGeom>
          <a:noFill/>
          <a:ln/>
        </p:spPr>
        <p:txBody>
          <a:bodyPr wrap="square" lIns="0" tIns="0" rIns="0" bIns="0" rtlCol="0" anchor="ctr"/>
          <a:lstStyle/>
          <a:p>
            <a:pPr algn="ctr" indent="0" marL="0">
              <a:buNone/>
            </a:pPr>
            <a:r>
              <a:rPr lang="en-US" sz="1300" b="1" dirty="0">
                <a:solidFill>
                  <a:srgbClr val="5E6B73"/>
                </a:solidFill>
                <a:latin typeface="Calibri" pitchFamily="34" charset="0"/>
                <a:ea typeface="Calibri" pitchFamily="34" charset="-122"/>
                <a:cs typeface="Calibri" pitchFamily="34" charset="-120"/>
              </a:rPr>
              <a:t>11</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1005840"/>
                <a:gridCol w="1371600"/>
                <a:gridCol w="1371600"/>
                <a:gridCol w="1005840"/>
                <a:gridCol w="1325880"/>
                <a:gridCol w="1691640"/>
              </a:tblGrid>
              <a:tr h="310896">
                <a:tc>
                  <a:txBody>
                    <a:bodyPr/>
                    <a:lstStyle/>
                    <a:p>
                      <a:pPr algn="l" indent="0" marL="0">
                        <a:buNone/>
                      </a:pPr>
                      <a:r>
                        <a:rPr lang="en-US" sz="1150" b="1" dirty="0">
                          <a:solidFill>
                            <a:srgbClr val="36454F"/>
                          </a:solidFill>
                          <a:latin typeface="Calibri" pitchFamily="34" charset="0"/>
                          <a:ea typeface="Calibri" pitchFamily="34" charset="-122"/>
                          <a:cs typeface="Calibri" pitchFamily="34" charset="-120"/>
                        </a:rPr>
                        <a:t>Law</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l" indent="0" marL="0">
                        <a:buNone/>
                      </a:pPr>
                      <a:r>
                        <a:rPr lang="en-US" sz="1150" b="1" dirty="0">
                          <a:solidFill>
                            <a:srgbClr val="36454F"/>
                          </a:solidFill>
                          <a:latin typeface="Calibri" pitchFamily="34" charset="0"/>
                          <a:ea typeface="Calibri" pitchFamily="34" charset="-122"/>
                          <a:cs typeface="Calibri" pitchFamily="34" charset="-120"/>
                        </a:rPr>
                        <a:t>Loop</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rms cap on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rms cap off</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level on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c>
                  <a:txBody>
                    <a:bodyPr/>
                    <a:lstStyle/>
                    <a:p>
                      <a:pPr algn="r" indent="0" marL="0">
                        <a:buNone/>
                      </a:pPr>
                      <a:r>
                        <a:rPr lang="en-US" sz="1150" b="1" dirty="0">
                          <a:solidFill>
                            <a:srgbClr val="36454F"/>
                          </a:solidFill>
                          <a:latin typeface="Calibri" pitchFamily="34" charset="0"/>
                          <a:ea typeface="Calibri" pitchFamily="34" charset="-122"/>
                          <a:cs typeface="Calibri" pitchFamily="34" charset="-120"/>
                        </a:rPr>
                        <a:t>level off</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solidFill>
                      <a:srgbClr val="F2F2F2"/>
                    </a:solidFill>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match_diagonal_congruence</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5.31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5.23</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+2.85</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+2.78</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optimal_diagonal_control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+0.41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optimal_diagonal_control_fast</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5.64</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5.66</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+0.26</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+0.06</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match_trace_pseudoinverse</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2A78D6"/>
                          </a:solidFill>
                          <a:latin typeface="Calibri" pitchFamily="34" charset="0"/>
                          <a:ea typeface="Calibri" pitchFamily="34" charset="-122"/>
                          <a:cs typeface="Calibri" pitchFamily="34" charset="-120"/>
                        </a:rPr>
                        <a:t>feedback</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8.22</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7.21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+0.09</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+0.05</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buzz_control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open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7.90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5.91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−1.99</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+9.38</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r h="310896">
                <a:tc>
                  <a:txBody>
                    <a:bodyPr/>
                    <a:lstStyle/>
                    <a:p>
                      <a:pPr indent="0" marL="0">
                        <a:buNone/>
                      </a:pPr>
                      <a:r>
                        <a:rPr lang="en-US" sz="1050" dirty="0">
                          <a:solidFill>
                            <a:srgbClr val="36454F"/>
                          </a:solidFill>
                          <a:latin typeface="Courier New" pitchFamily="34" charset="0"/>
                          <a:ea typeface="Courier New" pitchFamily="34" charset="-122"/>
                          <a:cs typeface="Courier New" pitchFamily="34" charset="-120"/>
                        </a:rPr>
                        <a:t>pseudoinverse_control</a:t>
                      </a:r>
                      <a:endParaRPr lang="en-US" sz="1050" dirty="0">
                        <a:latin typeface="Courier New" charset="0"/>
                        <a:ea typeface="Courier New" charset="0"/>
                        <a:cs typeface="Courier New"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indent="0" marL="0">
                        <a:buNone/>
                      </a:pPr>
                      <a:r>
                        <a:rPr lang="en-US" sz="1150" b="1" dirty="0">
                          <a:solidFill>
                            <a:srgbClr val="EB6834"/>
                          </a:solidFill>
                          <a:latin typeface="Calibri" pitchFamily="34" charset="0"/>
                          <a:ea typeface="Calibri" pitchFamily="34" charset="-122"/>
                          <a:cs typeface="Calibri" pitchFamily="34" charset="-120"/>
                        </a:rPr>
                        <a:t>open</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10.47</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7.01</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−3.47</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+13.55</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c>
                  <a:txBody>
                    <a:bodyPr/>
                    <a:lstStyle/>
                    <a:p>
                      <a:pPr algn="r" indent="0" marL="0">
                        <a:buNone/>
                      </a:pPr>
                      <a:r>
                        <a:rPr lang="en-US" sz="1150" dirty="0">
                          <a:solidFill>
                            <a:srgbClr val="36454F"/>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91440" marR="91440" marT="45720" marB="45720">
                    <a:lnL w="6350" cap="flat" cmpd="sng" algn="ctr">
                      <a:solidFill>
                        <a:srgbClr val="DDE1E3"/>
                      </a:solidFill>
                      <a:prstDash val="solid"/>
                      <a:round/>
                      <a:headEnd type="none" w="med" len="med"/>
                      <a:tailEnd type="none" w="med" len="med"/>
                    </a:lnL>
                    <a:lnR w="6350" cap="flat" cmpd="sng" algn="ctr">
                      <a:solidFill>
                        <a:srgbClr val="DDE1E3"/>
                      </a:solidFill>
                      <a:prstDash val="solid"/>
                      <a:round/>
                      <a:headEnd type="none" w="med" len="med"/>
                      <a:tailEnd type="none" w="med" len="med"/>
                    </a:lnR>
                    <a:lnT w="6350" cap="flat" cmpd="sng" algn="ctr">
                      <a:solidFill>
                        <a:srgbClr val="DDE1E3"/>
                      </a:solidFill>
                      <a:prstDash val="solid"/>
                      <a:round/>
                      <a:headEnd type="none" w="med" len="med"/>
                      <a:tailEnd type="none" w="med" len="med"/>
                    </a:lnT>
                    <a:lnB w="6350" cap="flat" cmpd="sng" algn="ctr">
                      <a:solidFill>
                        <a:srgbClr val="DDE1E3"/>
                      </a:solidFill>
                      <a:prstDash val="solid"/>
                      <a:round/>
                      <a:headEnd type="none" w="med" len="med"/>
                      <a:tailEnd type="none" w="med" len="med"/>
                    </a:lnB>
                  </a:tcPr>
                </a:tc>
              </a:tr>
            </a:tbl>
          </a:graphicData>
        </a:graphic>
      </p:graphicFrame>
      <p:sp>
        <p:nvSpPr>
          <p:cNvPr id="6" name="Shape 3"/>
          <p:cNvSpPr/>
          <p:nvPr/>
        </p:nvSpPr>
        <p:spPr>
          <a:xfrm>
            <a:off x="548640" y="3831336"/>
            <a:ext cx="365760" cy="365760"/>
          </a:xfrm>
          <a:prstGeom prst="ellipse">
            <a:avLst/>
          </a:prstGeom>
          <a:solidFill>
            <a:srgbClr val="EB6834"/>
          </a:solidFill>
          <a:ln/>
        </p:spPr>
      </p:sp>
      <p:sp>
        <p:nvSpPr>
          <p:cNvPr id="7" name="Text 4"/>
          <p:cNvSpPr txBox="1"/>
          <p:nvPr/>
        </p:nvSpPr>
        <p:spPr>
          <a:xfrm>
            <a:off x="548640" y="38313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078992" y="3803904"/>
            <a:ext cx="10533888"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Both open-loop solves are nearly rank one</a:t>
            </a:r>
            <a:endParaRPr lang="en-US" sz="1400" dirty="0"/>
          </a:p>
        </p:txBody>
      </p:sp>
      <p:sp>
        <p:nvSpPr>
          <p:cNvPr id="9" name="Text 6"/>
          <p:cNvSpPr txBox="1"/>
          <p:nvPr/>
        </p:nvSpPr>
        <p:spPr>
          <a:xfrm>
            <a:off x="1078992" y="4078224"/>
            <a:ext cx="10533888" cy="292608"/>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Eigenvalue participation ratio 1.0–1.1 of 6 — the six shakers act as one source.</a:t>
            </a:r>
            <a:endParaRPr lang="en-US" sz="1200" dirty="0"/>
          </a:p>
        </p:txBody>
      </p:sp>
      <p:sp>
        <p:nvSpPr>
          <p:cNvPr id="10" name="Shape 7"/>
          <p:cNvSpPr/>
          <p:nvPr/>
        </p:nvSpPr>
        <p:spPr>
          <a:xfrm>
            <a:off x="548640" y="4489704"/>
            <a:ext cx="365760" cy="365760"/>
          </a:xfrm>
          <a:prstGeom prst="ellipse">
            <a:avLst/>
          </a:prstGeom>
          <a:solidFill>
            <a:srgbClr val="EB6834"/>
          </a:solidFill>
          <a:ln/>
        </p:spPr>
      </p:sp>
      <p:sp>
        <p:nvSpPr>
          <p:cNvPr id="11" name="Text 8"/>
          <p:cNvSpPr txBox="1"/>
          <p:nvPr/>
        </p:nvSpPr>
        <p:spPr>
          <a:xfrm>
            <a:off x="548640" y="4489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1078992" y="4462272"/>
            <a:ext cx="10533888"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The responses cancel by precise inter-drive phasing</a:t>
            </a:r>
            <a:endParaRPr lang="en-US" sz="1400" dirty="0"/>
          </a:p>
        </p:txBody>
      </p:sp>
      <p:sp>
        <p:nvSpPr>
          <p:cNvPr id="13" name="Text 10"/>
          <p:cNvSpPr txBox="1"/>
          <p:nvPr/>
        </p:nvSpPr>
        <p:spPr>
          <a:xfrm>
            <a:off x="1078992" y="4736592"/>
            <a:ext cx="10533888" cy="292608"/>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That phasing lives entirely in the off-diagonal terms of the drive CPSD.</a:t>
            </a:r>
            <a:endParaRPr lang="en-US" sz="1200" dirty="0"/>
          </a:p>
        </p:txBody>
      </p:sp>
      <p:sp>
        <p:nvSpPr>
          <p:cNvPr id="14" name="Shape 11"/>
          <p:cNvSpPr/>
          <p:nvPr/>
        </p:nvSpPr>
        <p:spPr>
          <a:xfrm>
            <a:off x="548640" y="5148072"/>
            <a:ext cx="365760" cy="365760"/>
          </a:xfrm>
          <a:prstGeom prst="ellipse">
            <a:avLst/>
          </a:prstGeom>
          <a:solidFill>
            <a:srgbClr val="EB6834"/>
          </a:solidFill>
          <a:ln/>
        </p:spPr>
      </p:sp>
      <p:sp>
        <p:nvSpPr>
          <p:cNvPr id="15" name="Text 12"/>
          <p:cNvSpPr txBox="1"/>
          <p:nvPr/>
        </p:nvSpPr>
        <p:spPr>
          <a:xfrm>
            <a:off x="548640" y="5148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078992" y="5120640"/>
            <a:ext cx="10533888"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_cap_drive_coherence shrinks exactly those terms</a:t>
            </a:r>
            <a:endParaRPr lang="en-US" sz="1400" dirty="0"/>
          </a:p>
        </p:txBody>
      </p:sp>
      <p:sp>
        <p:nvSpPr>
          <p:cNvPr id="17" name="Text 14"/>
          <p:cNvSpPr txBox="1"/>
          <p:nvPr/>
        </p:nvSpPr>
        <p:spPr>
          <a:xfrm>
            <a:off x="1078992" y="5394960"/>
            <a:ext cx="10533888" cy="292608"/>
          </a:xfrm>
          <a:prstGeom prst="rect">
            <a:avLst/>
          </a:prstGeom>
          <a:noFill/>
          <a:ln/>
        </p:spPr>
        <p:txBody>
          <a:bodyPr wrap="square" lIns="0" tIns="0" rIns="0" bIns="0" rtlCol="0" anchor="ctr"/>
          <a:lstStyle/>
          <a:p>
            <a:pPr indent="0" marL="0">
              <a:buNone/>
            </a:pPr>
            <a:r>
              <a:rPr lang="en-US" sz="1200" dirty="0">
                <a:solidFill>
                  <a:srgbClr val="5E6B73"/>
                </a:solidFill>
                <a:latin typeface="Calibri" pitchFamily="34" charset="0"/>
                <a:ea typeface="Calibri" pitchFamily="34" charset="-122"/>
                <a:cs typeface="Calibri" pitchFamily="34" charset="-120"/>
              </a:rPr>
              <a:t>Diagonal preserved, so drive power barely moves — but the cancellation is destroyed and the level jumps ~20 dB.</a:t>
            </a:r>
            <a:endParaRPr lang="en-US" sz="1200" dirty="0"/>
          </a:p>
        </p:txBody>
      </p:sp>
      <p:sp>
        <p:nvSpPr>
          <p:cNvPr id="18" name="Shape 15"/>
          <p:cNvSpPr/>
          <p:nvPr/>
        </p:nvSpPr>
        <p:spPr>
          <a:xfrm>
            <a:off x="548640" y="5632704"/>
            <a:ext cx="11064240" cy="713232"/>
          </a:xfrm>
          <a:prstGeom prst="roundRect">
            <a:avLst>
              <a:gd name="adj" fmla="val 6410"/>
            </a:avLst>
          </a:prstGeom>
          <a:solidFill>
            <a:srgbClr val="F2F2F2"/>
          </a:solidFill>
          <a:ln/>
        </p:spPr>
      </p:sp>
      <p:sp>
        <p:nvSpPr>
          <p:cNvPr id="19" name="Text 16"/>
          <p:cNvSpPr txBox="1"/>
          <p:nvPr/>
        </p:nvSpPr>
        <p:spPr>
          <a:xfrm>
            <a:off x="694944" y="5742432"/>
            <a:ext cx="10771632" cy="493776"/>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For pseudoinverse_control and buzz_control, cap off (1.0) is the CORRECT setting
</a:t>
            </a:r>
            <a:endParaRPr lang="en-US" sz="1250" dirty="0"/>
          </a:p>
          <a:p>
            <a:pPr indent="0" marL="0">
              <a:buNone/>
            </a:pPr>
            <a:r>
              <a:rPr lang="en-US" sz="1100" dirty="0">
                <a:solidFill>
                  <a:srgbClr val="5E6B73"/>
                </a:solidFill>
                <a:latin typeface="Calibri" pitchFamily="34" charset="0"/>
                <a:ea typeface="Calibri" pitchFamily="34" charset="-122"/>
                <a:cs typeface="Calibri" pitchFamily="34" charset="-120"/>
              </a:rPr>
              <a:t>Nothing in the parameter name or the docstrings warns of it. The best achievable drive breaches 0.95 on 49 % of its pairs.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3740"/>
        </a:solidFill>
      </p:bgPr>
    </p:bg>
    <p:spTree>
      <p:nvGrpSpPr>
        <p:cNvPr id="1" name=""/>
        <p:cNvGrpSpPr/>
        <p:nvPr/>
      </p:nvGrpSpPr>
      <p:grpSpPr>
        <a:xfrm>
          <a:off x="0" y="0"/>
          <a:ext cx="0" cy="0"/>
          <a:chOff x="0" y="0"/>
          <a:chExt cx="0" cy="0"/>
        </a:xfrm>
      </p:grpSpPr>
      <p:sp>
        <p:nvSpPr>
          <p:cNvPr id="2" name="Text 0"/>
          <p:cNvSpPr txBox="1"/>
          <p:nvPr/>
        </p:nvSpPr>
        <p:spPr>
          <a:xfrm>
            <a:off x="548640" y="548640"/>
            <a:ext cx="11064240"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Choosing a law</a:t>
            </a:r>
            <a:endParaRPr lang="en-US" sz="3200" dirty="0"/>
          </a:p>
        </p:txBody>
      </p:sp>
      <p:sp>
        <p:nvSpPr>
          <p:cNvPr id="3" name="Text 1"/>
          <p:cNvSpPr txBox="1"/>
          <p:nvPr/>
        </p:nvSpPr>
        <p:spPr>
          <a:xfrm>
            <a:off x="548640" y="1499616"/>
            <a:ext cx="4206240" cy="384048"/>
          </a:xfrm>
          <a:prstGeom prst="rect">
            <a:avLst/>
          </a:prstGeom>
          <a:noFill/>
          <a:ln/>
        </p:spPr>
        <p:txBody>
          <a:bodyPr wrap="square" lIns="0" tIns="0" rIns="0" bIns="0" rtlCol="0" anchor="ctr"/>
          <a:lstStyle/>
          <a:p>
            <a:pPr indent="0" marL="0">
              <a:buNone/>
            </a:pPr>
            <a:r>
              <a:rPr lang="en-US" sz="1400" dirty="0">
                <a:solidFill>
                  <a:srgbClr val="B9C5CC"/>
                </a:solidFill>
                <a:latin typeface="Calibri" pitchFamily="34" charset="0"/>
                <a:ea typeface="Calibri" pitchFamily="34" charset="-122"/>
                <a:cs typeface="Calibri" pitchFamily="34" charset="-120"/>
              </a:rPr>
              <a:t>Lowest error against the specification</a:t>
            </a:r>
            <a:endParaRPr lang="en-US" sz="1400" dirty="0"/>
          </a:p>
        </p:txBody>
      </p:sp>
      <p:sp>
        <p:nvSpPr>
          <p:cNvPr id="4" name="Text 2"/>
          <p:cNvSpPr txBox="1"/>
          <p:nvPr/>
        </p:nvSpPr>
        <p:spPr>
          <a:xfrm>
            <a:off x="4937760" y="1499616"/>
            <a:ext cx="429768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match_diagonal_congruence, cap on or off</a:t>
            </a:r>
            <a:endParaRPr lang="en-US" sz="1250" dirty="0"/>
          </a:p>
        </p:txBody>
      </p:sp>
      <p:sp>
        <p:nvSpPr>
          <p:cNvPr id="5" name="Text 3"/>
          <p:cNvSpPr txBox="1"/>
          <p:nvPr/>
        </p:nvSpPr>
        <p:spPr>
          <a:xfrm>
            <a:off x="9418320" y="1499616"/>
            <a:ext cx="2194560" cy="384048"/>
          </a:xfrm>
          <a:prstGeom prst="rect">
            <a:avLst/>
          </a:prstGeom>
          <a:noFill/>
          <a:ln/>
        </p:spPr>
        <p:txBody>
          <a:bodyPr wrap="square" lIns="0" tIns="0" rIns="0" bIns="0" rtlCol="0" anchor="ctr"/>
          <a:lstStyle/>
          <a:p>
            <a:pPr algn="r" indent="0" marL="0">
              <a:buNone/>
            </a:pPr>
            <a:r>
              <a:rPr lang="en-US" sz="1300" b="1" dirty="0">
                <a:solidFill>
                  <a:srgbClr val="1BAF7A"/>
                </a:solidFill>
                <a:latin typeface="Calibri" pitchFamily="34" charset="0"/>
                <a:ea typeface="Calibri" pitchFamily="34" charset="-122"/>
                <a:cs typeface="Calibri" pitchFamily="34" charset="-120"/>
              </a:rPr>
              <a:t>5.23 dB</a:t>
            </a:r>
            <a:endParaRPr lang="en-US" sz="1300" dirty="0"/>
          </a:p>
        </p:txBody>
      </p:sp>
      <p:sp>
        <p:nvSpPr>
          <p:cNvPr id="6" name="Text 4"/>
          <p:cNvSpPr txBox="1"/>
          <p:nvPr/>
        </p:nvSpPr>
        <p:spPr>
          <a:xfrm>
            <a:off x="548640" y="2066544"/>
            <a:ext cx="4206240" cy="384048"/>
          </a:xfrm>
          <a:prstGeom prst="rect">
            <a:avLst/>
          </a:prstGeom>
          <a:noFill/>
          <a:ln/>
        </p:spPr>
        <p:txBody>
          <a:bodyPr wrap="square" lIns="0" tIns="0" rIns="0" bIns="0" rtlCol="0" anchor="ctr"/>
          <a:lstStyle/>
          <a:p>
            <a:pPr indent="0" marL="0">
              <a:buNone/>
            </a:pPr>
            <a:r>
              <a:rPr lang="en-US" sz="1400" dirty="0">
                <a:solidFill>
                  <a:srgbClr val="B9C5CC"/>
                </a:solidFill>
                <a:latin typeface="Calibri" pitchFamily="34" charset="0"/>
                <a:ea typeface="Calibri" pitchFamily="34" charset="-122"/>
                <a:cs typeface="Calibri" pitchFamily="34" charset="-120"/>
              </a:rPr>
              <a:t>Fewest lines outside ±6 dB</a:t>
            </a:r>
            <a:endParaRPr lang="en-US" sz="1400" dirty="0"/>
          </a:p>
        </p:txBody>
      </p:sp>
      <p:sp>
        <p:nvSpPr>
          <p:cNvPr id="7" name="Text 5"/>
          <p:cNvSpPr txBox="1"/>
          <p:nvPr/>
        </p:nvSpPr>
        <p:spPr>
          <a:xfrm>
            <a:off x="4937760" y="2066544"/>
            <a:ext cx="429768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optimal_diagonal_control_fast</a:t>
            </a:r>
            <a:endParaRPr lang="en-US" sz="1250" dirty="0"/>
          </a:p>
        </p:txBody>
      </p:sp>
      <p:sp>
        <p:nvSpPr>
          <p:cNvPr id="8" name="Text 6"/>
          <p:cNvSpPr txBox="1"/>
          <p:nvPr/>
        </p:nvSpPr>
        <p:spPr>
          <a:xfrm>
            <a:off x="9418320" y="2066544"/>
            <a:ext cx="2194560" cy="384048"/>
          </a:xfrm>
          <a:prstGeom prst="rect">
            <a:avLst/>
          </a:prstGeom>
          <a:noFill/>
          <a:ln/>
        </p:spPr>
        <p:txBody>
          <a:bodyPr wrap="square" lIns="0" tIns="0" rIns="0" bIns="0" rtlCol="0" anchor="ctr"/>
          <a:lstStyle/>
          <a:p>
            <a:pPr algn="r" indent="0" marL="0">
              <a:buNone/>
            </a:pPr>
            <a:r>
              <a:rPr lang="en-US" sz="1300" b="1" dirty="0">
                <a:solidFill>
                  <a:srgbClr val="1BAF7A"/>
                </a:solidFill>
                <a:latin typeface="Calibri" pitchFamily="34" charset="0"/>
                <a:ea typeface="Calibri" pitchFamily="34" charset="-122"/>
                <a:cs typeface="Calibri" pitchFamily="34" charset="-120"/>
              </a:rPr>
              <a:t>10.7 %</a:t>
            </a:r>
            <a:endParaRPr lang="en-US" sz="1300" dirty="0"/>
          </a:p>
        </p:txBody>
      </p:sp>
      <p:sp>
        <p:nvSpPr>
          <p:cNvPr id="9" name="Text 7"/>
          <p:cNvSpPr txBox="1"/>
          <p:nvPr/>
        </p:nvSpPr>
        <p:spPr>
          <a:xfrm>
            <a:off x="548640" y="2633472"/>
            <a:ext cx="4206240" cy="384048"/>
          </a:xfrm>
          <a:prstGeom prst="rect">
            <a:avLst/>
          </a:prstGeom>
          <a:noFill/>
          <a:ln/>
        </p:spPr>
        <p:txBody>
          <a:bodyPr wrap="square" lIns="0" tIns="0" rIns="0" bIns="0" rtlCol="0" anchor="ctr"/>
          <a:lstStyle/>
          <a:p>
            <a:pPr indent="0" marL="0">
              <a:buNone/>
            </a:pPr>
            <a:r>
              <a:rPr lang="en-US" sz="1400" dirty="0">
                <a:solidFill>
                  <a:srgbClr val="B9C5CC"/>
                </a:solidFill>
                <a:latin typeface="Calibri" pitchFamily="34" charset="0"/>
                <a:ea typeface="Calibri" pitchFamily="34" charset="-122"/>
                <a:cs typeface="Calibri" pitchFamily="34" charset="-120"/>
              </a:rPr>
              <a:t>Least drive power</a:t>
            </a:r>
            <a:endParaRPr lang="en-US" sz="1400" dirty="0"/>
          </a:p>
        </p:txBody>
      </p:sp>
      <p:sp>
        <p:nvSpPr>
          <p:cNvPr id="10" name="Text 8"/>
          <p:cNvSpPr txBox="1"/>
          <p:nvPr/>
        </p:nvSpPr>
        <p:spPr>
          <a:xfrm>
            <a:off x="4937760" y="2633472"/>
            <a:ext cx="429768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match_diagonal_congruence, cap on</a:t>
            </a:r>
            <a:endParaRPr lang="en-US" sz="1250" dirty="0"/>
          </a:p>
        </p:txBody>
      </p:sp>
      <p:sp>
        <p:nvSpPr>
          <p:cNvPr id="11" name="Text 9"/>
          <p:cNvSpPr txBox="1"/>
          <p:nvPr/>
        </p:nvSpPr>
        <p:spPr>
          <a:xfrm>
            <a:off x="9418320" y="2633472"/>
            <a:ext cx="2194560" cy="384048"/>
          </a:xfrm>
          <a:prstGeom prst="rect">
            <a:avLst/>
          </a:prstGeom>
          <a:noFill/>
          <a:ln/>
        </p:spPr>
        <p:txBody>
          <a:bodyPr wrap="square" lIns="0" tIns="0" rIns="0" bIns="0" rtlCol="0" anchor="ctr"/>
          <a:lstStyle/>
          <a:p>
            <a:pPr algn="r" indent="0" marL="0">
              <a:buNone/>
            </a:pPr>
            <a:r>
              <a:rPr lang="en-US" sz="1300" b="1" dirty="0">
                <a:solidFill>
                  <a:srgbClr val="1BAF7A"/>
                </a:solidFill>
                <a:latin typeface="Calibri" pitchFamily="34" charset="0"/>
                <a:ea typeface="Calibri" pitchFamily="34" charset="-122"/>
                <a:cs typeface="Calibri" pitchFamily="34" charset="-120"/>
              </a:rPr>
              <a:t>0.047 V²</a:t>
            </a:r>
            <a:endParaRPr lang="en-US" sz="1300" dirty="0"/>
          </a:p>
        </p:txBody>
      </p:sp>
      <p:sp>
        <p:nvSpPr>
          <p:cNvPr id="12" name="Text 10"/>
          <p:cNvSpPr txBox="1"/>
          <p:nvPr/>
        </p:nvSpPr>
        <p:spPr>
          <a:xfrm>
            <a:off x="548640" y="3200400"/>
            <a:ext cx="4206240" cy="384048"/>
          </a:xfrm>
          <a:prstGeom prst="rect">
            <a:avLst/>
          </a:prstGeom>
          <a:noFill/>
          <a:ln/>
        </p:spPr>
        <p:txBody>
          <a:bodyPr wrap="square" lIns="0" tIns="0" rIns="0" bIns="0" rtlCol="0" anchor="ctr"/>
          <a:lstStyle/>
          <a:p>
            <a:pPr indent="0" marL="0">
              <a:buNone/>
            </a:pPr>
            <a:r>
              <a:rPr lang="en-US" sz="1400" dirty="0">
                <a:solidFill>
                  <a:srgbClr val="B9C5CC"/>
                </a:solidFill>
                <a:latin typeface="Calibri" pitchFamily="34" charset="0"/>
                <a:ea typeface="Calibri" pitchFamily="34" charset="-122"/>
                <a:cs typeface="Calibri" pitchFamily="34" charset="-120"/>
              </a:rPr>
              <a:t>Simplest thing that works</a:t>
            </a:r>
            <a:endParaRPr lang="en-US" sz="1400" dirty="0"/>
          </a:p>
        </p:txBody>
      </p:sp>
      <p:sp>
        <p:nvSpPr>
          <p:cNvPr id="13" name="Text 11"/>
          <p:cNvSpPr txBox="1"/>
          <p:nvPr/>
        </p:nvSpPr>
        <p:spPr>
          <a:xfrm>
            <a:off x="4937760" y="3200400"/>
            <a:ext cx="429768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buzz_control, cap OFF</a:t>
            </a:r>
            <a:endParaRPr lang="en-US" sz="1250" dirty="0"/>
          </a:p>
        </p:txBody>
      </p:sp>
      <p:sp>
        <p:nvSpPr>
          <p:cNvPr id="14" name="Text 12"/>
          <p:cNvSpPr txBox="1"/>
          <p:nvPr/>
        </p:nvSpPr>
        <p:spPr>
          <a:xfrm>
            <a:off x="9418320" y="3200400"/>
            <a:ext cx="2194560" cy="384048"/>
          </a:xfrm>
          <a:prstGeom prst="rect">
            <a:avLst/>
          </a:prstGeom>
          <a:noFill/>
          <a:ln/>
        </p:spPr>
        <p:txBody>
          <a:bodyPr wrap="square" lIns="0" tIns="0" rIns="0" bIns="0" rtlCol="0" anchor="ctr"/>
          <a:lstStyle/>
          <a:p>
            <a:pPr algn="r" indent="0" marL="0">
              <a:buNone/>
            </a:pPr>
            <a:r>
              <a:rPr lang="en-US" sz="1300" b="1" dirty="0">
                <a:solidFill>
                  <a:srgbClr val="EB6834"/>
                </a:solidFill>
                <a:latin typeface="Calibri" pitchFamily="34" charset="0"/>
                <a:ea typeface="Calibri" pitchFamily="34" charset="-122"/>
                <a:cs typeface="Calibri" pitchFamily="34" charset="-120"/>
              </a:rPr>
              <a:t>5.91 dB, no feedback</a:t>
            </a:r>
            <a:endParaRPr lang="en-US" sz="1300" dirty="0"/>
          </a:p>
        </p:txBody>
      </p:sp>
      <p:sp>
        <p:nvSpPr>
          <p:cNvPr id="15" name="Text 13"/>
          <p:cNvSpPr txBox="1"/>
          <p:nvPr/>
        </p:nvSpPr>
        <p:spPr>
          <a:xfrm>
            <a:off x="548640" y="3767328"/>
            <a:ext cx="4206240" cy="384048"/>
          </a:xfrm>
          <a:prstGeom prst="rect">
            <a:avLst/>
          </a:prstGeom>
          <a:noFill/>
          <a:ln/>
        </p:spPr>
        <p:txBody>
          <a:bodyPr wrap="square" lIns="0" tIns="0" rIns="0" bIns="0" rtlCol="0" anchor="ctr"/>
          <a:lstStyle/>
          <a:p>
            <a:pPr indent="0" marL="0">
              <a:buNone/>
            </a:pPr>
            <a:r>
              <a:rPr lang="en-US" sz="1400" dirty="0">
                <a:solidFill>
                  <a:srgbClr val="B9C5CC"/>
                </a:solidFill>
                <a:latin typeface="Calibri" pitchFamily="34" charset="0"/>
                <a:ea typeface="Calibri" pitchFamily="34" charset="-122"/>
                <a:cs typeface="Calibri" pitchFamily="34" charset="-120"/>
              </a:rPr>
              <a:t>Do not use as-is</a:t>
            </a:r>
            <a:endParaRPr lang="en-US" sz="1400" dirty="0"/>
          </a:p>
        </p:txBody>
      </p:sp>
      <p:sp>
        <p:nvSpPr>
          <p:cNvPr id="16" name="Text 14"/>
          <p:cNvSpPr txBox="1"/>
          <p:nvPr/>
        </p:nvSpPr>
        <p:spPr>
          <a:xfrm>
            <a:off x="4937760" y="3767328"/>
            <a:ext cx="429768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pseudoinverse_control with the cap on</a:t>
            </a:r>
            <a:endParaRPr lang="en-US" sz="1250" dirty="0"/>
          </a:p>
        </p:txBody>
      </p:sp>
      <p:sp>
        <p:nvSpPr>
          <p:cNvPr id="17" name="Text 15"/>
          <p:cNvSpPr txBox="1"/>
          <p:nvPr/>
        </p:nvSpPr>
        <p:spPr>
          <a:xfrm>
            <a:off x="9418320" y="3767328"/>
            <a:ext cx="2194560" cy="384048"/>
          </a:xfrm>
          <a:prstGeom prst="rect">
            <a:avLst/>
          </a:prstGeom>
          <a:noFill/>
          <a:ln/>
        </p:spPr>
        <p:txBody>
          <a:bodyPr wrap="square" lIns="0" tIns="0" rIns="0" bIns="0" rtlCol="0" anchor="ctr"/>
          <a:lstStyle/>
          <a:p>
            <a:pPr algn="r" indent="0" marL="0">
              <a:buNone/>
            </a:pPr>
            <a:r>
              <a:rPr lang="en-US" sz="1300" b="1" dirty="0">
                <a:solidFill>
                  <a:srgbClr val="E05B5B"/>
                </a:solidFill>
                <a:latin typeface="Calibri" pitchFamily="34" charset="0"/>
                <a:ea typeface="Calibri" pitchFamily="34" charset="-122"/>
                <a:cs typeface="Calibri" pitchFamily="34" charset="-120"/>
              </a:rPr>
              <a:t>10.47 dB, +13.6 dB high</a:t>
            </a:r>
            <a:endParaRPr lang="en-US" sz="1300" dirty="0"/>
          </a:p>
        </p:txBody>
      </p:sp>
      <p:sp>
        <p:nvSpPr>
          <p:cNvPr id="18" name="Text 16"/>
          <p:cNvSpPr txBox="1"/>
          <p:nvPr/>
        </p:nvSpPr>
        <p:spPr>
          <a:xfrm>
            <a:off x="548640" y="4517136"/>
            <a:ext cx="11064240" cy="365760"/>
          </a:xfrm>
          <a:prstGeom prst="rect">
            <a:avLst/>
          </a:prstGeom>
          <a:noFill/>
          <a:ln/>
        </p:spPr>
        <p:txBody>
          <a:bodyPr wrap="square" lIns="0" tIns="0" rIns="0" bIns="0" rtlCol="0" anchor="ctr"/>
          <a:lstStyle/>
          <a:p>
            <a:pPr indent="0" marL="0">
              <a:buNone/>
            </a:pPr>
            <a:r>
              <a:rPr lang="en-US" sz="1900" b="1" dirty="0">
                <a:solidFill>
                  <a:srgbClr val="EB6834"/>
                </a:solidFill>
                <a:latin typeface="Cambria" pitchFamily="34" charset="0"/>
                <a:ea typeface="Cambria" pitchFamily="34" charset="-122"/>
                <a:cs typeface="Cambria" pitchFamily="34" charset="-120"/>
              </a:rPr>
              <a:t>Open defects</a:t>
            </a:r>
            <a:endParaRPr lang="en-US" sz="1900" dirty="0"/>
          </a:p>
        </p:txBody>
      </p:sp>
      <p:sp>
        <p:nvSpPr>
          <p:cNvPr id="19" name="Text 17"/>
          <p:cNvSpPr txBox="1"/>
          <p:nvPr/>
        </p:nvSpPr>
        <p:spPr>
          <a:xfrm>
            <a:off x="548640" y="4919472"/>
            <a:ext cx="11064240" cy="146304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B9C5CC"/>
                </a:solidFill>
                <a:latin typeface="Calibri" pitchFamily="34" charset="0"/>
                <a:ea typeface="Calibri" pitchFamily="34" charset="-122"/>
                <a:cs typeface="Calibri" pitchFamily="34" charset="-120"/>
              </a:rPr>
              <a:t>No startup level cap on either optimal-diagonal law, or on pseudoinverse_control.</a:t>
            </a:r>
            <a:endParaRPr lang="en-US" sz="1250" dirty="0"/>
          </a:p>
          <a:p>
            <a:pPr marL="342900" indent="-342900">
              <a:spcAft>
                <a:spcPts val="500"/>
              </a:spcAft>
              <a:buSzPct val="100000"/>
              <a:buChar char="•"/>
            </a:pPr>
            <a:r>
              <a:rPr lang="en-US" sz="1250" dirty="0">
                <a:solidFill>
                  <a:srgbClr val="B9C5CC"/>
                </a:solidFill>
                <a:latin typeface="Calibri" pitchFamily="34" charset="0"/>
                <a:ea typeface="Calibri" pitchFamily="34" charset="-122"/>
                <a:cs typeface="Calibri" pitchFamily="34" charset="-120"/>
              </a:rPr>
              <a:t>The fast law's Burer-Monteiro path never engages with FRF update on — its central claim is untested.</a:t>
            </a:r>
            <a:endParaRPr lang="en-US" sz="1250" dirty="0"/>
          </a:p>
          <a:p>
            <a:pPr marL="342900" indent="-342900">
              <a:spcAft>
                <a:spcPts val="500"/>
              </a:spcAft>
              <a:buSzPct val="100000"/>
              <a:buChar char="•"/>
            </a:pPr>
            <a:r>
              <a:rPr lang="en-US" sz="1250" dirty="0">
                <a:solidFill>
                  <a:srgbClr val="B9C5CC"/>
                </a:solidFill>
                <a:latin typeface="Calibri" pitchFamily="34" charset="0"/>
                <a:ea typeface="Calibri" pitchFamily="34" charset="-122"/>
                <a:cs typeface="Calibri" pitchFamily="34" charset="-120"/>
              </a:rPr>
              <a:t>The optimal-diagonal coherence cap reaches only 20 of 901 bins per call.</a:t>
            </a:r>
            <a:endParaRPr lang="en-US" sz="1250" dirty="0"/>
          </a:p>
          <a:p>
            <a:pPr marL="342900" indent="-342900">
              <a:spcAft>
                <a:spcPts val="500"/>
              </a:spcAft>
              <a:buSzPct val="100000"/>
              <a:buChar char="•"/>
            </a:pPr>
            <a:r>
              <a:rPr lang="en-US" sz="1250" dirty="0">
                <a:solidFill>
                  <a:srgbClr val="B9C5CC"/>
                </a:solidFill>
                <a:latin typeface="Calibri" pitchFamily="34" charset="0"/>
                <a:ea typeface="Calibri" pitchFamily="34" charset="-122"/>
                <a:cs typeface="Calibri" pitchFamily="34" charset="-120"/>
              </a:rPr>
              <a:t>buzz_control_generator and buzz_control_class have neither the cap nor the startup guard; the class ignores last_response_cpsd entirely.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laws in the Rattlesnake MIMO random environment</dc:title>
  <dc:subject>PptxGenJS Presentation</dc:subject>
  <dc:creator>nhunter</dc:creator>
  <cp:lastModifiedBy>nhunter</cp:lastModifiedBy>
  <cp:revision>1</cp:revision>
  <dcterms:created xsi:type="dcterms:W3CDTF">2026-09-15T18:42:08Z</dcterms:created>
  <dcterms:modified xsi:type="dcterms:W3CDTF">2026-09-15T18:42:08Z</dcterms:modified>
</cp:coreProperties>
</file>